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Source Sans 3" panose="020B0604020202020204" charset="0"/>
      <p:regular r:id="rId13"/>
    </p:embeddedFont>
    <p:embeddedFont>
      <p:font typeface="Source Sans 3 Italics" panose="020B0604020202020204" charset="0"/>
      <p:regular r:id="rId14"/>
    </p:embeddedFont>
    <p:embeddedFont>
      <p:font typeface="Source Serif Pro" panose="02040603050405020204" pitchFamily="18" charset="0"/>
      <p:regular r:id="rId15"/>
      <p:bold r:id="rId16"/>
    </p:embeddedFont>
    <p:embeddedFont>
      <p:font typeface="Source Serif Pro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1.png"/><Relationship Id="rId7" Type="http://schemas.openxmlformats.org/officeDocument/2006/relationships/image" Target="../media/image11.svg"/><Relationship Id="rId12"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5" Type="http://schemas.openxmlformats.org/officeDocument/2006/relationships/image" Target="../media/image1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a:ln w="12700">
              <a:solidFill>
                <a:srgbClr val="000000"/>
              </a:solidFill>
            </a:ln>
          </p:spPr>
        </p:sp>
      </p:grpSp>
      <p:sp>
        <p:nvSpPr>
          <p:cNvPr id="5" name="Freeform 5" descr="preencoded.png">
            <a:hlinkClick r:id="rId4" tooltip="https://gamma.app/?utm_source=made-with-gamma"/>
          </p:cNvPr>
          <p:cNvSpPr/>
          <p:nvPr/>
        </p:nvSpPr>
        <p:spPr>
          <a:xfrm>
            <a:off x="16049015" y="9686925"/>
            <a:ext cx="2153260" cy="514350"/>
          </a:xfrm>
          <a:custGeom>
            <a:avLst/>
            <a:gdLst/>
            <a:ahLst/>
            <a:cxnLst/>
            <a:rect l="l" t="t" r="r" b="b"/>
            <a:pathLst>
              <a:path w="2153260" h="514350">
                <a:moveTo>
                  <a:pt x="0" y="0"/>
                </a:moveTo>
                <a:lnTo>
                  <a:pt x="2153260" y="0"/>
                </a:lnTo>
                <a:lnTo>
                  <a:pt x="2153260" y="514350"/>
                </a:lnTo>
                <a:lnTo>
                  <a:pt x="0" y="514350"/>
                </a:lnTo>
                <a:lnTo>
                  <a:pt x="0" y="0"/>
                </a:lnTo>
                <a:close/>
              </a:path>
            </a:pathLst>
          </a:custGeom>
          <a:blipFill>
            <a:blip r:embed="rId5"/>
            <a:stretch>
              <a:fillRect/>
            </a:stretch>
          </a:blipFill>
        </p:spPr>
      </p:sp>
      <p:sp>
        <p:nvSpPr>
          <p:cNvPr id="6" name="Freeform 6"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6"/>
            <a:stretch>
              <a:fillRect/>
            </a:stretch>
          </a:blipFill>
        </p:spPr>
      </p:sp>
      <p:sp>
        <p:nvSpPr>
          <p:cNvPr id="7" name="TextBox 7"/>
          <p:cNvSpPr txBox="1"/>
          <p:nvPr/>
        </p:nvSpPr>
        <p:spPr>
          <a:xfrm>
            <a:off x="1133180" y="1178566"/>
            <a:ext cx="9163641" cy="1638300"/>
          </a:xfrm>
          <a:prstGeom prst="rect">
            <a:avLst/>
          </a:prstGeom>
        </p:spPr>
        <p:txBody>
          <a:bodyPr lIns="0" tIns="0" rIns="0" bIns="0" rtlCol="0" anchor="t">
            <a:spAutoFit/>
          </a:bodyPr>
          <a:lstStyle/>
          <a:p>
            <a:pPr algn="l">
              <a:lnSpc>
                <a:spcPts val="6374"/>
              </a:lnSpc>
            </a:pPr>
            <a:r>
              <a:rPr lang="en-US" sz="5125" b="1">
                <a:solidFill>
                  <a:srgbClr val="000000"/>
                </a:solidFill>
                <a:latin typeface="Source Serif Pro Bold"/>
                <a:ea typeface="Source Serif Pro Bold"/>
                <a:cs typeface="Source Serif Pro Bold"/>
                <a:sym typeface="Source Serif Pro Bold"/>
              </a:rPr>
              <a:t>Fraud Pulse: AI-Driven Fraud Intelligence Platform</a:t>
            </a:r>
          </a:p>
        </p:txBody>
      </p:sp>
      <p:sp>
        <p:nvSpPr>
          <p:cNvPr id="8" name="TextBox 8"/>
          <p:cNvSpPr txBox="1"/>
          <p:nvPr/>
        </p:nvSpPr>
        <p:spPr>
          <a:xfrm>
            <a:off x="1133180" y="3156052"/>
            <a:ext cx="9163641" cy="539058"/>
          </a:xfrm>
          <a:prstGeom prst="rect">
            <a:avLst/>
          </a:prstGeom>
        </p:spPr>
        <p:txBody>
          <a:bodyPr lIns="0" tIns="0" rIns="0" bIns="0" rtlCol="0" anchor="t">
            <a:spAutoFit/>
          </a:bodyPr>
          <a:lstStyle/>
          <a:p>
            <a:pPr algn="l">
              <a:lnSpc>
                <a:spcPts val="3562"/>
              </a:lnSpc>
            </a:pPr>
            <a:r>
              <a:rPr lang="en-US" sz="2187" i="1">
                <a:solidFill>
                  <a:srgbClr val="272525"/>
                </a:solidFill>
                <a:latin typeface="Source Sans 3 Italics"/>
                <a:ea typeface="Source Sans 3 Italics"/>
                <a:cs typeface="Source Sans 3 Italics"/>
                <a:sym typeface="Source Sans 3 Italics"/>
              </a:rPr>
              <a:t>Real-Time Financial Fraud Detection Using Machine Learning</a:t>
            </a:r>
          </a:p>
        </p:txBody>
      </p:sp>
      <p:sp>
        <p:nvSpPr>
          <p:cNvPr id="9" name="TextBox 9"/>
          <p:cNvSpPr txBox="1"/>
          <p:nvPr/>
        </p:nvSpPr>
        <p:spPr>
          <a:xfrm>
            <a:off x="1133180" y="3928024"/>
            <a:ext cx="9163641" cy="539058"/>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Master of Computer Applications – Academic Year 2025–26</a:t>
            </a:r>
          </a:p>
        </p:txBody>
      </p:sp>
      <p:sp>
        <p:nvSpPr>
          <p:cNvPr id="10" name="TextBox 10"/>
          <p:cNvSpPr txBox="1"/>
          <p:nvPr/>
        </p:nvSpPr>
        <p:spPr>
          <a:xfrm>
            <a:off x="1133180" y="4699997"/>
            <a:ext cx="9163641" cy="539058"/>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Suryadatta Institute of Business Management and Technology (SIBMT)</a:t>
            </a:r>
          </a:p>
        </p:txBody>
      </p:sp>
      <p:sp>
        <p:nvSpPr>
          <p:cNvPr id="11" name="TextBox 11"/>
          <p:cNvSpPr txBox="1"/>
          <p:nvPr/>
        </p:nvSpPr>
        <p:spPr>
          <a:xfrm>
            <a:off x="1133180" y="5471960"/>
            <a:ext cx="9163641" cy="539058"/>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Project By:</a:t>
            </a:r>
          </a:p>
        </p:txBody>
      </p:sp>
      <p:sp>
        <p:nvSpPr>
          <p:cNvPr id="12" name="TextBox 12"/>
          <p:cNvSpPr txBox="1"/>
          <p:nvPr/>
        </p:nvSpPr>
        <p:spPr>
          <a:xfrm>
            <a:off x="1133180" y="6243933"/>
            <a:ext cx="9163641" cy="539058"/>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Miss. Sanika Sandeep Tike(20250202103)    </a:t>
            </a:r>
          </a:p>
        </p:txBody>
      </p:sp>
      <p:sp>
        <p:nvSpPr>
          <p:cNvPr id="13" name="TextBox 13"/>
          <p:cNvSpPr txBox="1"/>
          <p:nvPr/>
        </p:nvSpPr>
        <p:spPr>
          <a:xfrm>
            <a:off x="1133180" y="7015905"/>
            <a:ext cx="9163641" cy="539058"/>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Mr. Jagdish Dilip Chavan(20250202022)</a:t>
            </a:r>
          </a:p>
        </p:txBody>
      </p:sp>
      <p:sp>
        <p:nvSpPr>
          <p:cNvPr id="14" name="TextBox 14"/>
          <p:cNvSpPr txBox="1"/>
          <p:nvPr/>
        </p:nvSpPr>
        <p:spPr>
          <a:xfrm>
            <a:off x="1133180" y="7787878"/>
            <a:ext cx="9163641" cy="539058"/>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Guide:</a:t>
            </a:r>
          </a:p>
        </p:txBody>
      </p:sp>
      <p:sp>
        <p:nvSpPr>
          <p:cNvPr id="15" name="TextBox 15"/>
          <p:cNvSpPr txBox="1"/>
          <p:nvPr/>
        </p:nvSpPr>
        <p:spPr>
          <a:xfrm>
            <a:off x="1133180" y="8559851"/>
            <a:ext cx="9163641" cy="539058"/>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Prof. Aishwarya Pawar                    Prof. Megha Mane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a:ln w="12700">
              <a:solidFill>
                <a:srgbClr val="000000"/>
              </a:solidFill>
            </a:ln>
          </p:spPr>
        </p:sp>
      </p:grpSp>
      <p:sp>
        <p:nvSpPr>
          <p:cNvPr id="5" name="TextBox 5"/>
          <p:cNvSpPr txBox="1"/>
          <p:nvPr/>
        </p:nvSpPr>
        <p:spPr>
          <a:xfrm>
            <a:off x="1136152" y="771525"/>
            <a:ext cx="12188276" cy="826141"/>
          </a:xfrm>
          <a:prstGeom prst="rect">
            <a:avLst/>
          </a:prstGeom>
        </p:spPr>
        <p:txBody>
          <a:bodyPr lIns="0" tIns="0" rIns="0" bIns="0" rtlCol="0" anchor="t">
            <a:spAutoFit/>
          </a:bodyPr>
          <a:lstStyle/>
          <a:p>
            <a:pPr algn="l">
              <a:lnSpc>
                <a:spcPts val="6374"/>
              </a:lnSpc>
            </a:pPr>
            <a:r>
              <a:rPr lang="en-US" sz="5125" b="1">
                <a:solidFill>
                  <a:srgbClr val="000000"/>
                </a:solidFill>
                <a:latin typeface="Source Serif Pro Bold"/>
                <a:ea typeface="Source Serif Pro Bold"/>
                <a:cs typeface="Source Serif Pro Bold"/>
                <a:sym typeface="Source Serif Pro Bold"/>
              </a:rPr>
              <a:t>Problem Statement &amp; Industry Context</a:t>
            </a:r>
          </a:p>
        </p:txBody>
      </p:sp>
      <p:sp>
        <p:nvSpPr>
          <p:cNvPr id="6" name="TextBox 6"/>
          <p:cNvSpPr txBox="1"/>
          <p:nvPr/>
        </p:nvSpPr>
        <p:spPr>
          <a:xfrm>
            <a:off x="1136152" y="2080022"/>
            <a:ext cx="16015697" cy="1449286"/>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The financial services industry is experiencing unprecedented transformation. Digital banking channels and real-time payment systems have fundamentally altered how consumers interact with financial institutions. However, this digital acceleration has simultaneously created new vulnerabilities and attack vectors for sophisticated fraud schemes.</a:t>
            </a:r>
          </a:p>
        </p:txBody>
      </p:sp>
      <p:grpSp>
        <p:nvGrpSpPr>
          <p:cNvPr id="7" name="Group 7"/>
          <p:cNvGrpSpPr/>
          <p:nvPr/>
        </p:nvGrpSpPr>
        <p:grpSpPr>
          <a:xfrm>
            <a:off x="1131389" y="3844080"/>
            <a:ext cx="7875384" cy="2084184"/>
            <a:chOff x="0" y="0"/>
            <a:chExt cx="10500512" cy="2778912"/>
          </a:xfrm>
        </p:grpSpPr>
        <p:sp>
          <p:nvSpPr>
            <p:cNvPr id="8" name="Freeform 8"/>
            <p:cNvSpPr/>
            <p:nvPr/>
          </p:nvSpPr>
          <p:spPr>
            <a:xfrm>
              <a:off x="6350" y="6350"/>
              <a:ext cx="10487914" cy="2766187"/>
            </a:xfrm>
            <a:custGeom>
              <a:avLst/>
              <a:gdLst/>
              <a:ahLst/>
              <a:cxnLst/>
              <a:rect l="l" t="t" r="r" b="b"/>
              <a:pathLst>
                <a:path w="10487914" h="2766187">
                  <a:moveTo>
                    <a:pt x="0" y="159004"/>
                  </a:moveTo>
                  <a:cubicBezTo>
                    <a:pt x="0" y="71247"/>
                    <a:pt x="71501" y="0"/>
                    <a:pt x="159639" y="0"/>
                  </a:cubicBezTo>
                  <a:lnTo>
                    <a:pt x="10328275" y="0"/>
                  </a:lnTo>
                  <a:cubicBezTo>
                    <a:pt x="10416413" y="0"/>
                    <a:pt x="10487914" y="71247"/>
                    <a:pt x="10487914" y="159004"/>
                  </a:cubicBezTo>
                  <a:lnTo>
                    <a:pt x="10487914" y="2607183"/>
                  </a:lnTo>
                  <a:cubicBezTo>
                    <a:pt x="10487914" y="2695067"/>
                    <a:pt x="10416413" y="2766187"/>
                    <a:pt x="10328275" y="2766187"/>
                  </a:cubicBezTo>
                  <a:lnTo>
                    <a:pt x="159639" y="2766187"/>
                  </a:lnTo>
                  <a:cubicBezTo>
                    <a:pt x="71501" y="2766187"/>
                    <a:pt x="0" y="2695067"/>
                    <a:pt x="0" y="2607183"/>
                  </a:cubicBezTo>
                  <a:close/>
                </a:path>
              </a:pathLst>
            </a:custGeom>
            <a:solidFill>
              <a:srgbClr val="F0D4F7"/>
            </a:solidFill>
            <a:ln w="12700">
              <a:solidFill>
                <a:srgbClr val="000000"/>
              </a:solidFill>
            </a:ln>
          </p:spPr>
        </p:sp>
        <p:sp>
          <p:nvSpPr>
            <p:cNvPr id="9" name="Freeform 9"/>
            <p:cNvSpPr/>
            <p:nvPr/>
          </p:nvSpPr>
          <p:spPr>
            <a:xfrm>
              <a:off x="0" y="0"/>
              <a:ext cx="10500614" cy="2778887"/>
            </a:xfrm>
            <a:custGeom>
              <a:avLst/>
              <a:gdLst/>
              <a:ahLst/>
              <a:cxnLst/>
              <a:rect l="l" t="t" r="r" b="b"/>
              <a:pathLst>
                <a:path w="10500614" h="2778887">
                  <a:moveTo>
                    <a:pt x="0" y="165354"/>
                  </a:moveTo>
                  <a:cubicBezTo>
                    <a:pt x="0" y="74041"/>
                    <a:pt x="74295" y="0"/>
                    <a:pt x="165989" y="0"/>
                  </a:cubicBezTo>
                  <a:lnTo>
                    <a:pt x="10334625" y="0"/>
                  </a:lnTo>
                  <a:lnTo>
                    <a:pt x="10334625" y="6350"/>
                  </a:lnTo>
                  <a:lnTo>
                    <a:pt x="10334625" y="0"/>
                  </a:lnTo>
                  <a:cubicBezTo>
                    <a:pt x="10426192" y="0"/>
                    <a:pt x="10500614" y="74041"/>
                    <a:pt x="10500614" y="165354"/>
                  </a:cubicBezTo>
                  <a:lnTo>
                    <a:pt x="10494264" y="165354"/>
                  </a:lnTo>
                  <a:lnTo>
                    <a:pt x="10500614" y="165354"/>
                  </a:lnTo>
                  <a:lnTo>
                    <a:pt x="10500614" y="2613533"/>
                  </a:lnTo>
                  <a:lnTo>
                    <a:pt x="10494264" y="2613533"/>
                  </a:lnTo>
                  <a:lnTo>
                    <a:pt x="10500614" y="2613533"/>
                  </a:lnTo>
                  <a:cubicBezTo>
                    <a:pt x="10500614" y="2704846"/>
                    <a:pt x="10426319" y="2778887"/>
                    <a:pt x="10334625" y="2778887"/>
                  </a:cubicBezTo>
                  <a:lnTo>
                    <a:pt x="10334625" y="2772537"/>
                  </a:lnTo>
                  <a:lnTo>
                    <a:pt x="10334625" y="2778887"/>
                  </a:lnTo>
                  <a:lnTo>
                    <a:pt x="165989" y="2778887"/>
                  </a:lnTo>
                  <a:lnTo>
                    <a:pt x="165989" y="2772537"/>
                  </a:lnTo>
                  <a:lnTo>
                    <a:pt x="165989" y="2778887"/>
                  </a:lnTo>
                  <a:cubicBezTo>
                    <a:pt x="74295" y="2778887"/>
                    <a:pt x="0" y="2704846"/>
                    <a:pt x="0" y="2613533"/>
                  </a:cubicBezTo>
                  <a:lnTo>
                    <a:pt x="0" y="165354"/>
                  </a:lnTo>
                  <a:lnTo>
                    <a:pt x="6350" y="165354"/>
                  </a:lnTo>
                  <a:lnTo>
                    <a:pt x="0" y="165354"/>
                  </a:lnTo>
                  <a:moveTo>
                    <a:pt x="12700" y="165354"/>
                  </a:moveTo>
                  <a:lnTo>
                    <a:pt x="12700" y="2613533"/>
                  </a:lnTo>
                  <a:lnTo>
                    <a:pt x="6350" y="2613533"/>
                  </a:lnTo>
                  <a:lnTo>
                    <a:pt x="12700" y="2613533"/>
                  </a:lnTo>
                  <a:cubicBezTo>
                    <a:pt x="12700" y="2697861"/>
                    <a:pt x="81280" y="2766187"/>
                    <a:pt x="165989" y="2766187"/>
                  </a:cubicBezTo>
                  <a:lnTo>
                    <a:pt x="10334625" y="2766187"/>
                  </a:lnTo>
                  <a:cubicBezTo>
                    <a:pt x="10419334" y="2766187"/>
                    <a:pt x="10487914" y="2697734"/>
                    <a:pt x="10487914" y="2613533"/>
                  </a:cubicBezTo>
                  <a:lnTo>
                    <a:pt x="10487914" y="165354"/>
                  </a:lnTo>
                  <a:cubicBezTo>
                    <a:pt x="10487914" y="81026"/>
                    <a:pt x="10419334" y="12700"/>
                    <a:pt x="10334625" y="12700"/>
                  </a:cubicBezTo>
                  <a:lnTo>
                    <a:pt x="165989" y="12700"/>
                  </a:lnTo>
                  <a:lnTo>
                    <a:pt x="165989" y="6350"/>
                  </a:lnTo>
                  <a:lnTo>
                    <a:pt x="165989" y="12700"/>
                  </a:lnTo>
                  <a:cubicBezTo>
                    <a:pt x="81280" y="12700"/>
                    <a:pt x="12700" y="81153"/>
                    <a:pt x="12700" y="165354"/>
                  </a:cubicBezTo>
                  <a:close/>
                </a:path>
              </a:pathLst>
            </a:custGeom>
            <a:solidFill>
              <a:srgbClr val="D6BADD"/>
            </a:solidFill>
            <a:ln w="12700">
              <a:solidFill>
                <a:srgbClr val="000000"/>
              </a:solidFill>
            </a:ln>
          </p:spPr>
        </p:sp>
      </p:grpSp>
      <p:sp>
        <p:nvSpPr>
          <p:cNvPr id="10" name="TextBox 10"/>
          <p:cNvSpPr txBox="1"/>
          <p:nvPr/>
        </p:nvSpPr>
        <p:spPr>
          <a:xfrm>
            <a:off x="1429645" y="4132812"/>
            <a:ext cx="3722789" cy="417757"/>
          </a:xfrm>
          <a:prstGeom prst="rect">
            <a:avLst/>
          </a:prstGeom>
        </p:spPr>
        <p:txBody>
          <a:bodyPr lIns="0" tIns="0" rIns="0" bIns="0" rtlCol="0" anchor="t">
            <a:spAutoFit/>
          </a:bodyPr>
          <a:lstStyle/>
          <a:p>
            <a:pPr algn="l">
              <a:lnSpc>
                <a:spcPts val="3187"/>
              </a:lnSpc>
            </a:pPr>
            <a:r>
              <a:rPr lang="en-US" sz="2562" b="1">
                <a:solidFill>
                  <a:srgbClr val="272525"/>
                </a:solidFill>
                <a:latin typeface="Source Serif Pro Bold"/>
                <a:ea typeface="Source Serif Pro Bold"/>
                <a:cs typeface="Source Serif Pro Bold"/>
                <a:sym typeface="Source Serif Pro Bold"/>
              </a:rPr>
              <a:t>Digital Banking Growth</a:t>
            </a:r>
          </a:p>
        </p:txBody>
      </p:sp>
      <p:sp>
        <p:nvSpPr>
          <p:cNvPr id="11" name="TextBox 11"/>
          <p:cNvSpPr txBox="1"/>
          <p:nvPr/>
        </p:nvSpPr>
        <p:spPr>
          <a:xfrm>
            <a:off x="1429645" y="4635256"/>
            <a:ext cx="7278891" cy="994772"/>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Exponential increase in online transactions and mobile payment adoption across global markets</a:t>
            </a:r>
          </a:p>
        </p:txBody>
      </p:sp>
      <p:grpSp>
        <p:nvGrpSpPr>
          <p:cNvPr id="12" name="Group 12"/>
          <p:cNvGrpSpPr/>
          <p:nvPr/>
        </p:nvGrpSpPr>
        <p:grpSpPr>
          <a:xfrm>
            <a:off x="9281217" y="3844080"/>
            <a:ext cx="7875384" cy="2084184"/>
            <a:chOff x="0" y="0"/>
            <a:chExt cx="10500512" cy="2778912"/>
          </a:xfrm>
        </p:grpSpPr>
        <p:sp>
          <p:nvSpPr>
            <p:cNvPr id="13" name="Freeform 13"/>
            <p:cNvSpPr/>
            <p:nvPr/>
          </p:nvSpPr>
          <p:spPr>
            <a:xfrm>
              <a:off x="6350" y="6350"/>
              <a:ext cx="10487914" cy="2766187"/>
            </a:xfrm>
            <a:custGeom>
              <a:avLst/>
              <a:gdLst/>
              <a:ahLst/>
              <a:cxnLst/>
              <a:rect l="l" t="t" r="r" b="b"/>
              <a:pathLst>
                <a:path w="10487914" h="2766187">
                  <a:moveTo>
                    <a:pt x="0" y="159004"/>
                  </a:moveTo>
                  <a:cubicBezTo>
                    <a:pt x="0" y="71247"/>
                    <a:pt x="71501" y="0"/>
                    <a:pt x="159639" y="0"/>
                  </a:cubicBezTo>
                  <a:lnTo>
                    <a:pt x="10328275" y="0"/>
                  </a:lnTo>
                  <a:cubicBezTo>
                    <a:pt x="10416413" y="0"/>
                    <a:pt x="10487914" y="71247"/>
                    <a:pt x="10487914" y="159004"/>
                  </a:cubicBezTo>
                  <a:lnTo>
                    <a:pt x="10487914" y="2607183"/>
                  </a:lnTo>
                  <a:cubicBezTo>
                    <a:pt x="10487914" y="2695067"/>
                    <a:pt x="10416413" y="2766187"/>
                    <a:pt x="10328275" y="2766187"/>
                  </a:cubicBezTo>
                  <a:lnTo>
                    <a:pt x="159639" y="2766187"/>
                  </a:lnTo>
                  <a:cubicBezTo>
                    <a:pt x="71501" y="2766187"/>
                    <a:pt x="0" y="2695067"/>
                    <a:pt x="0" y="2607183"/>
                  </a:cubicBezTo>
                  <a:close/>
                </a:path>
              </a:pathLst>
            </a:custGeom>
            <a:solidFill>
              <a:srgbClr val="F0D4F7"/>
            </a:solidFill>
            <a:ln w="12700">
              <a:solidFill>
                <a:srgbClr val="000000"/>
              </a:solidFill>
            </a:ln>
          </p:spPr>
        </p:sp>
        <p:sp>
          <p:nvSpPr>
            <p:cNvPr id="14" name="Freeform 14"/>
            <p:cNvSpPr/>
            <p:nvPr/>
          </p:nvSpPr>
          <p:spPr>
            <a:xfrm>
              <a:off x="0" y="0"/>
              <a:ext cx="10500614" cy="2778887"/>
            </a:xfrm>
            <a:custGeom>
              <a:avLst/>
              <a:gdLst/>
              <a:ahLst/>
              <a:cxnLst/>
              <a:rect l="l" t="t" r="r" b="b"/>
              <a:pathLst>
                <a:path w="10500614" h="2778887">
                  <a:moveTo>
                    <a:pt x="0" y="165354"/>
                  </a:moveTo>
                  <a:cubicBezTo>
                    <a:pt x="0" y="74041"/>
                    <a:pt x="74295" y="0"/>
                    <a:pt x="165989" y="0"/>
                  </a:cubicBezTo>
                  <a:lnTo>
                    <a:pt x="10334625" y="0"/>
                  </a:lnTo>
                  <a:lnTo>
                    <a:pt x="10334625" y="6350"/>
                  </a:lnTo>
                  <a:lnTo>
                    <a:pt x="10334625" y="0"/>
                  </a:lnTo>
                  <a:cubicBezTo>
                    <a:pt x="10426192" y="0"/>
                    <a:pt x="10500614" y="74041"/>
                    <a:pt x="10500614" y="165354"/>
                  </a:cubicBezTo>
                  <a:lnTo>
                    <a:pt x="10494264" y="165354"/>
                  </a:lnTo>
                  <a:lnTo>
                    <a:pt x="10500614" y="165354"/>
                  </a:lnTo>
                  <a:lnTo>
                    <a:pt x="10500614" y="2613533"/>
                  </a:lnTo>
                  <a:lnTo>
                    <a:pt x="10494264" y="2613533"/>
                  </a:lnTo>
                  <a:lnTo>
                    <a:pt x="10500614" y="2613533"/>
                  </a:lnTo>
                  <a:cubicBezTo>
                    <a:pt x="10500614" y="2704846"/>
                    <a:pt x="10426319" y="2778887"/>
                    <a:pt x="10334625" y="2778887"/>
                  </a:cubicBezTo>
                  <a:lnTo>
                    <a:pt x="10334625" y="2772537"/>
                  </a:lnTo>
                  <a:lnTo>
                    <a:pt x="10334625" y="2778887"/>
                  </a:lnTo>
                  <a:lnTo>
                    <a:pt x="165989" y="2778887"/>
                  </a:lnTo>
                  <a:lnTo>
                    <a:pt x="165989" y="2772537"/>
                  </a:lnTo>
                  <a:lnTo>
                    <a:pt x="165989" y="2778887"/>
                  </a:lnTo>
                  <a:cubicBezTo>
                    <a:pt x="74295" y="2778887"/>
                    <a:pt x="0" y="2704846"/>
                    <a:pt x="0" y="2613533"/>
                  </a:cubicBezTo>
                  <a:lnTo>
                    <a:pt x="0" y="165354"/>
                  </a:lnTo>
                  <a:lnTo>
                    <a:pt x="6350" y="165354"/>
                  </a:lnTo>
                  <a:lnTo>
                    <a:pt x="0" y="165354"/>
                  </a:lnTo>
                  <a:moveTo>
                    <a:pt x="12700" y="165354"/>
                  </a:moveTo>
                  <a:lnTo>
                    <a:pt x="12700" y="2613533"/>
                  </a:lnTo>
                  <a:lnTo>
                    <a:pt x="6350" y="2613533"/>
                  </a:lnTo>
                  <a:lnTo>
                    <a:pt x="12700" y="2613533"/>
                  </a:lnTo>
                  <a:cubicBezTo>
                    <a:pt x="12700" y="2697861"/>
                    <a:pt x="81280" y="2766187"/>
                    <a:pt x="165989" y="2766187"/>
                  </a:cubicBezTo>
                  <a:lnTo>
                    <a:pt x="10334625" y="2766187"/>
                  </a:lnTo>
                  <a:cubicBezTo>
                    <a:pt x="10419334" y="2766187"/>
                    <a:pt x="10487914" y="2697734"/>
                    <a:pt x="10487914" y="2613533"/>
                  </a:cubicBezTo>
                  <a:lnTo>
                    <a:pt x="10487914" y="165354"/>
                  </a:lnTo>
                  <a:cubicBezTo>
                    <a:pt x="10487914" y="81026"/>
                    <a:pt x="10419334" y="12700"/>
                    <a:pt x="10334625" y="12700"/>
                  </a:cubicBezTo>
                  <a:lnTo>
                    <a:pt x="165989" y="12700"/>
                  </a:lnTo>
                  <a:lnTo>
                    <a:pt x="165989" y="6350"/>
                  </a:lnTo>
                  <a:lnTo>
                    <a:pt x="165989" y="12700"/>
                  </a:lnTo>
                  <a:cubicBezTo>
                    <a:pt x="81280" y="12700"/>
                    <a:pt x="12700" y="81153"/>
                    <a:pt x="12700" y="165354"/>
                  </a:cubicBezTo>
                  <a:close/>
                </a:path>
              </a:pathLst>
            </a:custGeom>
            <a:solidFill>
              <a:srgbClr val="D6BADD"/>
            </a:solidFill>
            <a:ln w="12700">
              <a:solidFill>
                <a:srgbClr val="000000"/>
              </a:solidFill>
            </a:ln>
          </p:spPr>
        </p:sp>
      </p:grpSp>
      <p:sp>
        <p:nvSpPr>
          <p:cNvPr id="15" name="TextBox 15"/>
          <p:cNvSpPr txBox="1"/>
          <p:nvPr/>
        </p:nvSpPr>
        <p:spPr>
          <a:xfrm>
            <a:off x="9579473" y="4132812"/>
            <a:ext cx="3280019" cy="417757"/>
          </a:xfrm>
          <a:prstGeom prst="rect">
            <a:avLst/>
          </a:prstGeom>
        </p:spPr>
        <p:txBody>
          <a:bodyPr lIns="0" tIns="0" rIns="0" bIns="0" rtlCol="0" anchor="t">
            <a:spAutoFit/>
          </a:bodyPr>
          <a:lstStyle/>
          <a:p>
            <a:pPr algn="l">
              <a:lnSpc>
                <a:spcPts val="3187"/>
              </a:lnSpc>
            </a:pPr>
            <a:r>
              <a:rPr lang="en-US" sz="2562" b="1">
                <a:solidFill>
                  <a:srgbClr val="272525"/>
                </a:solidFill>
                <a:latin typeface="Source Serif Pro Bold"/>
                <a:ea typeface="Source Serif Pro Bold"/>
                <a:cs typeface="Source Serif Pro Bold"/>
                <a:sym typeface="Source Serif Pro Bold"/>
              </a:rPr>
              <a:t>Fraud Sophistication</a:t>
            </a:r>
          </a:p>
        </p:txBody>
      </p:sp>
      <p:sp>
        <p:nvSpPr>
          <p:cNvPr id="16" name="TextBox 16"/>
          <p:cNvSpPr txBox="1"/>
          <p:nvPr/>
        </p:nvSpPr>
        <p:spPr>
          <a:xfrm>
            <a:off x="9579473" y="4635256"/>
            <a:ext cx="7278891" cy="994772"/>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Advanced social engineering, synthetic identities, and AI-powered fraud tactics evolving rapidly</a:t>
            </a:r>
          </a:p>
        </p:txBody>
      </p:sp>
      <p:grpSp>
        <p:nvGrpSpPr>
          <p:cNvPr id="17" name="Group 17"/>
          <p:cNvGrpSpPr/>
          <p:nvPr/>
        </p:nvGrpSpPr>
        <p:grpSpPr>
          <a:xfrm>
            <a:off x="1131389" y="6202709"/>
            <a:ext cx="7875384" cy="2084184"/>
            <a:chOff x="0" y="0"/>
            <a:chExt cx="10500512" cy="2778912"/>
          </a:xfrm>
        </p:grpSpPr>
        <p:sp>
          <p:nvSpPr>
            <p:cNvPr id="18" name="Freeform 18"/>
            <p:cNvSpPr/>
            <p:nvPr/>
          </p:nvSpPr>
          <p:spPr>
            <a:xfrm>
              <a:off x="6350" y="6350"/>
              <a:ext cx="10487914" cy="2766187"/>
            </a:xfrm>
            <a:custGeom>
              <a:avLst/>
              <a:gdLst/>
              <a:ahLst/>
              <a:cxnLst/>
              <a:rect l="l" t="t" r="r" b="b"/>
              <a:pathLst>
                <a:path w="10487914" h="2766187">
                  <a:moveTo>
                    <a:pt x="0" y="159004"/>
                  </a:moveTo>
                  <a:cubicBezTo>
                    <a:pt x="0" y="71247"/>
                    <a:pt x="71501" y="0"/>
                    <a:pt x="159639" y="0"/>
                  </a:cubicBezTo>
                  <a:lnTo>
                    <a:pt x="10328275" y="0"/>
                  </a:lnTo>
                  <a:cubicBezTo>
                    <a:pt x="10416413" y="0"/>
                    <a:pt x="10487914" y="71247"/>
                    <a:pt x="10487914" y="159004"/>
                  </a:cubicBezTo>
                  <a:lnTo>
                    <a:pt x="10487914" y="2607183"/>
                  </a:lnTo>
                  <a:cubicBezTo>
                    <a:pt x="10487914" y="2695067"/>
                    <a:pt x="10416413" y="2766187"/>
                    <a:pt x="10328275" y="2766187"/>
                  </a:cubicBezTo>
                  <a:lnTo>
                    <a:pt x="159639" y="2766187"/>
                  </a:lnTo>
                  <a:cubicBezTo>
                    <a:pt x="71501" y="2766187"/>
                    <a:pt x="0" y="2695067"/>
                    <a:pt x="0" y="2607183"/>
                  </a:cubicBezTo>
                  <a:close/>
                </a:path>
              </a:pathLst>
            </a:custGeom>
            <a:solidFill>
              <a:srgbClr val="F0D4F7"/>
            </a:solidFill>
            <a:ln w="12700">
              <a:solidFill>
                <a:srgbClr val="000000"/>
              </a:solidFill>
            </a:ln>
          </p:spPr>
        </p:sp>
        <p:sp>
          <p:nvSpPr>
            <p:cNvPr id="19" name="Freeform 19"/>
            <p:cNvSpPr/>
            <p:nvPr/>
          </p:nvSpPr>
          <p:spPr>
            <a:xfrm>
              <a:off x="0" y="0"/>
              <a:ext cx="10500614" cy="2778887"/>
            </a:xfrm>
            <a:custGeom>
              <a:avLst/>
              <a:gdLst/>
              <a:ahLst/>
              <a:cxnLst/>
              <a:rect l="l" t="t" r="r" b="b"/>
              <a:pathLst>
                <a:path w="10500614" h="2778887">
                  <a:moveTo>
                    <a:pt x="0" y="165354"/>
                  </a:moveTo>
                  <a:cubicBezTo>
                    <a:pt x="0" y="74041"/>
                    <a:pt x="74295" y="0"/>
                    <a:pt x="165989" y="0"/>
                  </a:cubicBezTo>
                  <a:lnTo>
                    <a:pt x="10334625" y="0"/>
                  </a:lnTo>
                  <a:lnTo>
                    <a:pt x="10334625" y="6350"/>
                  </a:lnTo>
                  <a:lnTo>
                    <a:pt x="10334625" y="0"/>
                  </a:lnTo>
                  <a:cubicBezTo>
                    <a:pt x="10426192" y="0"/>
                    <a:pt x="10500614" y="74041"/>
                    <a:pt x="10500614" y="165354"/>
                  </a:cubicBezTo>
                  <a:lnTo>
                    <a:pt x="10494264" y="165354"/>
                  </a:lnTo>
                  <a:lnTo>
                    <a:pt x="10500614" y="165354"/>
                  </a:lnTo>
                  <a:lnTo>
                    <a:pt x="10500614" y="2613533"/>
                  </a:lnTo>
                  <a:lnTo>
                    <a:pt x="10494264" y="2613533"/>
                  </a:lnTo>
                  <a:lnTo>
                    <a:pt x="10500614" y="2613533"/>
                  </a:lnTo>
                  <a:cubicBezTo>
                    <a:pt x="10500614" y="2704846"/>
                    <a:pt x="10426319" y="2778887"/>
                    <a:pt x="10334625" y="2778887"/>
                  </a:cubicBezTo>
                  <a:lnTo>
                    <a:pt x="10334625" y="2772537"/>
                  </a:lnTo>
                  <a:lnTo>
                    <a:pt x="10334625" y="2778887"/>
                  </a:lnTo>
                  <a:lnTo>
                    <a:pt x="165989" y="2778887"/>
                  </a:lnTo>
                  <a:lnTo>
                    <a:pt x="165989" y="2772537"/>
                  </a:lnTo>
                  <a:lnTo>
                    <a:pt x="165989" y="2778887"/>
                  </a:lnTo>
                  <a:cubicBezTo>
                    <a:pt x="74295" y="2778887"/>
                    <a:pt x="0" y="2704846"/>
                    <a:pt x="0" y="2613533"/>
                  </a:cubicBezTo>
                  <a:lnTo>
                    <a:pt x="0" y="165354"/>
                  </a:lnTo>
                  <a:lnTo>
                    <a:pt x="6350" y="165354"/>
                  </a:lnTo>
                  <a:lnTo>
                    <a:pt x="0" y="165354"/>
                  </a:lnTo>
                  <a:moveTo>
                    <a:pt x="12700" y="165354"/>
                  </a:moveTo>
                  <a:lnTo>
                    <a:pt x="12700" y="2613533"/>
                  </a:lnTo>
                  <a:lnTo>
                    <a:pt x="6350" y="2613533"/>
                  </a:lnTo>
                  <a:lnTo>
                    <a:pt x="12700" y="2613533"/>
                  </a:lnTo>
                  <a:cubicBezTo>
                    <a:pt x="12700" y="2697861"/>
                    <a:pt x="81280" y="2766187"/>
                    <a:pt x="165989" y="2766187"/>
                  </a:cubicBezTo>
                  <a:lnTo>
                    <a:pt x="10334625" y="2766187"/>
                  </a:lnTo>
                  <a:cubicBezTo>
                    <a:pt x="10419334" y="2766187"/>
                    <a:pt x="10487914" y="2697734"/>
                    <a:pt x="10487914" y="2613533"/>
                  </a:cubicBezTo>
                  <a:lnTo>
                    <a:pt x="10487914" y="165354"/>
                  </a:lnTo>
                  <a:cubicBezTo>
                    <a:pt x="10487914" y="81026"/>
                    <a:pt x="10419334" y="12700"/>
                    <a:pt x="10334625" y="12700"/>
                  </a:cubicBezTo>
                  <a:lnTo>
                    <a:pt x="165989" y="12700"/>
                  </a:lnTo>
                  <a:lnTo>
                    <a:pt x="165989" y="6350"/>
                  </a:lnTo>
                  <a:lnTo>
                    <a:pt x="165989" y="12700"/>
                  </a:lnTo>
                  <a:cubicBezTo>
                    <a:pt x="81280" y="12700"/>
                    <a:pt x="12700" y="81153"/>
                    <a:pt x="12700" y="165354"/>
                  </a:cubicBezTo>
                  <a:close/>
                </a:path>
              </a:pathLst>
            </a:custGeom>
            <a:solidFill>
              <a:srgbClr val="D6BADD"/>
            </a:solidFill>
            <a:ln w="12700">
              <a:solidFill>
                <a:srgbClr val="000000"/>
              </a:solidFill>
            </a:ln>
          </p:spPr>
        </p:sp>
      </p:grpSp>
      <p:sp>
        <p:nvSpPr>
          <p:cNvPr id="20" name="TextBox 20"/>
          <p:cNvSpPr txBox="1"/>
          <p:nvPr/>
        </p:nvSpPr>
        <p:spPr>
          <a:xfrm>
            <a:off x="1429645" y="6491440"/>
            <a:ext cx="3266332" cy="417757"/>
          </a:xfrm>
          <a:prstGeom prst="rect">
            <a:avLst/>
          </a:prstGeom>
        </p:spPr>
        <p:txBody>
          <a:bodyPr lIns="0" tIns="0" rIns="0" bIns="0" rtlCol="0" anchor="t">
            <a:spAutoFit/>
          </a:bodyPr>
          <a:lstStyle/>
          <a:p>
            <a:pPr algn="l">
              <a:lnSpc>
                <a:spcPts val="3187"/>
              </a:lnSpc>
            </a:pPr>
            <a:r>
              <a:rPr lang="en-US" sz="2562" b="1">
                <a:solidFill>
                  <a:srgbClr val="272525"/>
                </a:solidFill>
                <a:latin typeface="Source Serif Pro Bold"/>
                <a:ea typeface="Source Serif Pro Bold"/>
                <a:cs typeface="Source Serif Pro Bold"/>
                <a:sym typeface="Source Serif Pro Bold"/>
              </a:rPr>
              <a:t>System Limitations</a:t>
            </a:r>
          </a:p>
        </p:txBody>
      </p:sp>
      <p:sp>
        <p:nvSpPr>
          <p:cNvPr id="21" name="TextBox 21"/>
          <p:cNvSpPr txBox="1"/>
          <p:nvPr/>
        </p:nvSpPr>
        <p:spPr>
          <a:xfrm>
            <a:off x="1429645" y="6993884"/>
            <a:ext cx="7278891" cy="994772"/>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Legacy rule-based systems generate excessive false positives and miss complex fraud patterns</a:t>
            </a:r>
          </a:p>
        </p:txBody>
      </p:sp>
      <p:grpSp>
        <p:nvGrpSpPr>
          <p:cNvPr id="22" name="Group 22"/>
          <p:cNvGrpSpPr/>
          <p:nvPr/>
        </p:nvGrpSpPr>
        <p:grpSpPr>
          <a:xfrm>
            <a:off x="9281217" y="6202709"/>
            <a:ext cx="7875384" cy="2084184"/>
            <a:chOff x="0" y="0"/>
            <a:chExt cx="10500512" cy="2778912"/>
          </a:xfrm>
        </p:grpSpPr>
        <p:sp>
          <p:nvSpPr>
            <p:cNvPr id="23" name="Freeform 23"/>
            <p:cNvSpPr/>
            <p:nvPr/>
          </p:nvSpPr>
          <p:spPr>
            <a:xfrm>
              <a:off x="6350" y="6350"/>
              <a:ext cx="10487914" cy="2766187"/>
            </a:xfrm>
            <a:custGeom>
              <a:avLst/>
              <a:gdLst/>
              <a:ahLst/>
              <a:cxnLst/>
              <a:rect l="l" t="t" r="r" b="b"/>
              <a:pathLst>
                <a:path w="10487914" h="2766187">
                  <a:moveTo>
                    <a:pt x="0" y="159004"/>
                  </a:moveTo>
                  <a:cubicBezTo>
                    <a:pt x="0" y="71247"/>
                    <a:pt x="71501" y="0"/>
                    <a:pt x="159639" y="0"/>
                  </a:cubicBezTo>
                  <a:lnTo>
                    <a:pt x="10328275" y="0"/>
                  </a:lnTo>
                  <a:cubicBezTo>
                    <a:pt x="10416413" y="0"/>
                    <a:pt x="10487914" y="71247"/>
                    <a:pt x="10487914" y="159004"/>
                  </a:cubicBezTo>
                  <a:lnTo>
                    <a:pt x="10487914" y="2607183"/>
                  </a:lnTo>
                  <a:cubicBezTo>
                    <a:pt x="10487914" y="2695067"/>
                    <a:pt x="10416413" y="2766187"/>
                    <a:pt x="10328275" y="2766187"/>
                  </a:cubicBezTo>
                  <a:lnTo>
                    <a:pt x="159639" y="2766187"/>
                  </a:lnTo>
                  <a:cubicBezTo>
                    <a:pt x="71501" y="2766187"/>
                    <a:pt x="0" y="2695067"/>
                    <a:pt x="0" y="2607183"/>
                  </a:cubicBezTo>
                  <a:close/>
                </a:path>
              </a:pathLst>
            </a:custGeom>
            <a:solidFill>
              <a:srgbClr val="F0D4F7"/>
            </a:solidFill>
            <a:ln w="12700">
              <a:solidFill>
                <a:srgbClr val="000000"/>
              </a:solidFill>
            </a:ln>
          </p:spPr>
        </p:sp>
        <p:sp>
          <p:nvSpPr>
            <p:cNvPr id="24" name="Freeform 24"/>
            <p:cNvSpPr/>
            <p:nvPr/>
          </p:nvSpPr>
          <p:spPr>
            <a:xfrm>
              <a:off x="0" y="0"/>
              <a:ext cx="10500614" cy="2778887"/>
            </a:xfrm>
            <a:custGeom>
              <a:avLst/>
              <a:gdLst/>
              <a:ahLst/>
              <a:cxnLst/>
              <a:rect l="l" t="t" r="r" b="b"/>
              <a:pathLst>
                <a:path w="10500614" h="2778887">
                  <a:moveTo>
                    <a:pt x="0" y="165354"/>
                  </a:moveTo>
                  <a:cubicBezTo>
                    <a:pt x="0" y="74041"/>
                    <a:pt x="74295" y="0"/>
                    <a:pt x="165989" y="0"/>
                  </a:cubicBezTo>
                  <a:lnTo>
                    <a:pt x="10334625" y="0"/>
                  </a:lnTo>
                  <a:lnTo>
                    <a:pt x="10334625" y="6350"/>
                  </a:lnTo>
                  <a:lnTo>
                    <a:pt x="10334625" y="0"/>
                  </a:lnTo>
                  <a:cubicBezTo>
                    <a:pt x="10426192" y="0"/>
                    <a:pt x="10500614" y="74041"/>
                    <a:pt x="10500614" y="165354"/>
                  </a:cubicBezTo>
                  <a:lnTo>
                    <a:pt x="10494264" y="165354"/>
                  </a:lnTo>
                  <a:lnTo>
                    <a:pt x="10500614" y="165354"/>
                  </a:lnTo>
                  <a:lnTo>
                    <a:pt x="10500614" y="2613533"/>
                  </a:lnTo>
                  <a:lnTo>
                    <a:pt x="10494264" y="2613533"/>
                  </a:lnTo>
                  <a:lnTo>
                    <a:pt x="10500614" y="2613533"/>
                  </a:lnTo>
                  <a:cubicBezTo>
                    <a:pt x="10500614" y="2704846"/>
                    <a:pt x="10426319" y="2778887"/>
                    <a:pt x="10334625" y="2778887"/>
                  </a:cubicBezTo>
                  <a:lnTo>
                    <a:pt x="10334625" y="2772537"/>
                  </a:lnTo>
                  <a:lnTo>
                    <a:pt x="10334625" y="2778887"/>
                  </a:lnTo>
                  <a:lnTo>
                    <a:pt x="165989" y="2778887"/>
                  </a:lnTo>
                  <a:lnTo>
                    <a:pt x="165989" y="2772537"/>
                  </a:lnTo>
                  <a:lnTo>
                    <a:pt x="165989" y="2778887"/>
                  </a:lnTo>
                  <a:cubicBezTo>
                    <a:pt x="74295" y="2778887"/>
                    <a:pt x="0" y="2704846"/>
                    <a:pt x="0" y="2613533"/>
                  </a:cubicBezTo>
                  <a:lnTo>
                    <a:pt x="0" y="165354"/>
                  </a:lnTo>
                  <a:lnTo>
                    <a:pt x="6350" y="165354"/>
                  </a:lnTo>
                  <a:lnTo>
                    <a:pt x="0" y="165354"/>
                  </a:lnTo>
                  <a:moveTo>
                    <a:pt x="12700" y="165354"/>
                  </a:moveTo>
                  <a:lnTo>
                    <a:pt x="12700" y="2613533"/>
                  </a:lnTo>
                  <a:lnTo>
                    <a:pt x="6350" y="2613533"/>
                  </a:lnTo>
                  <a:lnTo>
                    <a:pt x="12700" y="2613533"/>
                  </a:lnTo>
                  <a:cubicBezTo>
                    <a:pt x="12700" y="2697861"/>
                    <a:pt x="81280" y="2766187"/>
                    <a:pt x="165989" y="2766187"/>
                  </a:cubicBezTo>
                  <a:lnTo>
                    <a:pt x="10334625" y="2766187"/>
                  </a:lnTo>
                  <a:cubicBezTo>
                    <a:pt x="10419334" y="2766187"/>
                    <a:pt x="10487914" y="2697734"/>
                    <a:pt x="10487914" y="2613533"/>
                  </a:cubicBezTo>
                  <a:lnTo>
                    <a:pt x="10487914" y="165354"/>
                  </a:lnTo>
                  <a:cubicBezTo>
                    <a:pt x="10487914" y="81026"/>
                    <a:pt x="10419334" y="12700"/>
                    <a:pt x="10334625" y="12700"/>
                  </a:cubicBezTo>
                  <a:lnTo>
                    <a:pt x="165989" y="12700"/>
                  </a:lnTo>
                  <a:lnTo>
                    <a:pt x="165989" y="6350"/>
                  </a:lnTo>
                  <a:lnTo>
                    <a:pt x="165989" y="12700"/>
                  </a:lnTo>
                  <a:cubicBezTo>
                    <a:pt x="81280" y="12700"/>
                    <a:pt x="12700" y="81153"/>
                    <a:pt x="12700" y="165354"/>
                  </a:cubicBezTo>
                  <a:close/>
                </a:path>
              </a:pathLst>
            </a:custGeom>
            <a:solidFill>
              <a:srgbClr val="D6BADD"/>
            </a:solidFill>
            <a:ln w="12700">
              <a:solidFill>
                <a:srgbClr val="000000"/>
              </a:solidFill>
            </a:ln>
          </p:spPr>
        </p:sp>
      </p:grpSp>
      <p:sp>
        <p:nvSpPr>
          <p:cNvPr id="25" name="TextBox 25"/>
          <p:cNvSpPr txBox="1"/>
          <p:nvPr/>
        </p:nvSpPr>
        <p:spPr>
          <a:xfrm>
            <a:off x="9579473" y="6491440"/>
            <a:ext cx="3266332" cy="417757"/>
          </a:xfrm>
          <a:prstGeom prst="rect">
            <a:avLst/>
          </a:prstGeom>
        </p:spPr>
        <p:txBody>
          <a:bodyPr lIns="0" tIns="0" rIns="0" bIns="0" rtlCol="0" anchor="t">
            <a:spAutoFit/>
          </a:bodyPr>
          <a:lstStyle/>
          <a:p>
            <a:pPr algn="l">
              <a:lnSpc>
                <a:spcPts val="3187"/>
              </a:lnSpc>
            </a:pPr>
            <a:r>
              <a:rPr lang="en-US" sz="2562" b="1">
                <a:solidFill>
                  <a:srgbClr val="272525"/>
                </a:solidFill>
                <a:latin typeface="Source Serif Pro Bold"/>
                <a:ea typeface="Source Serif Pro Bold"/>
                <a:cs typeface="Source Serif Pro Bold"/>
                <a:sym typeface="Source Serif Pro Bold"/>
              </a:rPr>
              <a:t>Operational Impact</a:t>
            </a:r>
          </a:p>
        </p:txBody>
      </p:sp>
      <p:sp>
        <p:nvSpPr>
          <p:cNvPr id="26" name="TextBox 26"/>
          <p:cNvSpPr txBox="1"/>
          <p:nvPr/>
        </p:nvSpPr>
        <p:spPr>
          <a:xfrm>
            <a:off x="9579473" y="6993884"/>
            <a:ext cx="7278891" cy="994772"/>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Delayed detection, increased chargebacks, customer friction, and substantial financial losses</a:t>
            </a:r>
          </a:p>
        </p:txBody>
      </p:sp>
      <p:sp>
        <p:nvSpPr>
          <p:cNvPr id="27" name="TextBox 27"/>
          <p:cNvSpPr txBox="1"/>
          <p:nvPr/>
        </p:nvSpPr>
        <p:spPr>
          <a:xfrm>
            <a:off x="1136152" y="8515941"/>
            <a:ext cx="16015697" cy="994772"/>
          </a:xfrm>
          <a:prstGeom prst="rect">
            <a:avLst/>
          </a:prstGeom>
        </p:spPr>
        <p:txBody>
          <a:bodyPr lIns="0" tIns="0" rIns="0" bIns="0" rtlCol="0" anchor="t">
            <a:spAutoFit/>
          </a:bodyPr>
          <a:lstStyle/>
          <a:p>
            <a:pPr algn="l">
              <a:lnSpc>
                <a:spcPts val="3562"/>
              </a:lnSpc>
            </a:pPr>
            <a:r>
              <a:rPr lang="en-US" sz="2187">
                <a:solidFill>
                  <a:srgbClr val="272525"/>
                </a:solidFill>
                <a:latin typeface="Source Sans 3"/>
                <a:ea typeface="Source Sans 3"/>
                <a:cs typeface="Source Sans 3"/>
                <a:sym typeface="Source Sans 3"/>
              </a:rPr>
              <a:t>The critical challenge facing financial institutions today is implementing predictive, real-time, intelligent fraud prevention systems that can adapt to evolving threat landscapes while maintaining operational efficiency and customer experience.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a:ln w="12700">
              <a:solidFill>
                <a:srgbClr val="000000"/>
              </a:solidFill>
            </a:ln>
          </p:spPr>
        </p:sp>
      </p:grpSp>
      <p:sp>
        <p:nvSpPr>
          <p:cNvPr id="5" name="TextBox 5"/>
          <p:cNvSpPr txBox="1"/>
          <p:nvPr/>
        </p:nvSpPr>
        <p:spPr>
          <a:xfrm>
            <a:off x="775097" y="523284"/>
            <a:ext cx="4498629" cy="427282"/>
          </a:xfrm>
          <a:prstGeom prst="rect">
            <a:avLst/>
          </a:prstGeom>
        </p:spPr>
        <p:txBody>
          <a:bodyPr lIns="0" tIns="0" rIns="0" bIns="0" rtlCol="0" anchor="t">
            <a:spAutoFit/>
          </a:bodyPr>
          <a:lstStyle/>
          <a:p>
            <a:pPr algn="l">
              <a:lnSpc>
                <a:spcPts val="3249"/>
              </a:lnSpc>
            </a:pPr>
            <a:r>
              <a:rPr lang="en-US" sz="2625" b="1">
                <a:solidFill>
                  <a:srgbClr val="000000"/>
                </a:solidFill>
                <a:latin typeface="Source Serif Pro Bold"/>
                <a:ea typeface="Source Serif Pro Bold"/>
                <a:cs typeface="Source Serif Pro Bold"/>
                <a:sym typeface="Source Serif Pro Bold"/>
              </a:rPr>
              <a:t>Existing System Limitations</a:t>
            </a:r>
          </a:p>
        </p:txBody>
      </p:sp>
      <p:sp>
        <p:nvSpPr>
          <p:cNvPr id="6" name="TextBox 6"/>
          <p:cNvSpPr txBox="1"/>
          <p:nvPr/>
        </p:nvSpPr>
        <p:spPr>
          <a:xfrm>
            <a:off x="775097" y="1332756"/>
            <a:ext cx="2958703" cy="250068"/>
          </a:xfrm>
          <a:prstGeom prst="rect">
            <a:avLst/>
          </a:prstGeom>
        </p:spPr>
        <p:txBody>
          <a:bodyPr wrap="square" lIns="0" tIns="0" rIns="0" bIns="0" rtlCol="0" anchor="t">
            <a:spAutoFit/>
          </a:bodyPr>
          <a:lstStyle/>
          <a:p>
            <a:pPr algn="l">
              <a:lnSpc>
                <a:spcPts val="1937"/>
              </a:lnSpc>
            </a:pPr>
            <a:r>
              <a:rPr lang="en-US" sz="1750" b="1" dirty="0">
                <a:solidFill>
                  <a:srgbClr val="000000"/>
                </a:solidFill>
                <a:latin typeface="Source Serif Pro Bold"/>
                <a:ea typeface="Source Serif Pro Bold"/>
                <a:cs typeface="Source Serif Pro Bold"/>
                <a:sym typeface="Source Serif Pro Bold"/>
              </a:rPr>
              <a:t>Technical Constraints</a:t>
            </a:r>
          </a:p>
        </p:txBody>
      </p:sp>
      <p:sp>
        <p:nvSpPr>
          <p:cNvPr id="7" name="TextBox 7"/>
          <p:cNvSpPr txBox="1"/>
          <p:nvPr/>
        </p:nvSpPr>
        <p:spPr>
          <a:xfrm>
            <a:off x="775097" y="1728788"/>
            <a:ext cx="8191652" cy="678809"/>
          </a:xfrm>
          <a:prstGeom prst="rect">
            <a:avLst/>
          </a:prstGeom>
        </p:spPr>
        <p:txBody>
          <a:bodyPr lIns="0" tIns="0" rIns="0" bIns="0" rtlCol="0" anchor="t">
            <a:spAutoFit/>
          </a:bodyPr>
          <a:lstStyle/>
          <a:p>
            <a:pPr algn="just">
              <a:lnSpc>
                <a:spcPts val="1812"/>
              </a:lnSpc>
            </a:pPr>
            <a:r>
              <a:rPr lang="en-US" sz="1750" dirty="0">
                <a:solidFill>
                  <a:srgbClr val="272525"/>
                </a:solidFill>
                <a:latin typeface="Source Sans 3"/>
                <a:ea typeface="Source Sans 3"/>
                <a:cs typeface="Source Sans 3"/>
                <a:sym typeface="Source Sans 3"/>
              </a:rPr>
              <a:t>Traditional fraud detection systems rely on static rule-based engines that apply predetermined thresholds and linear decision logic. These systems lack the sophistication to identify complex behavioral patterns and non-linear relationships indicative of modern fraud schemes.</a:t>
            </a:r>
          </a:p>
        </p:txBody>
      </p:sp>
      <p:sp>
        <p:nvSpPr>
          <p:cNvPr id="8" name="TextBox 8"/>
          <p:cNvSpPr txBox="1"/>
          <p:nvPr/>
        </p:nvSpPr>
        <p:spPr>
          <a:xfrm>
            <a:off x="715413" y="3290297"/>
            <a:ext cx="8191652" cy="446189"/>
          </a:xfrm>
          <a:prstGeom prst="rect">
            <a:avLst/>
          </a:prstGeom>
        </p:spPr>
        <p:txBody>
          <a:bodyPr lIns="0" tIns="0" rIns="0" bIns="0" rtlCol="0" anchor="t">
            <a:spAutoFit/>
          </a:bodyPr>
          <a:lstStyle/>
          <a:p>
            <a:pPr algn="just">
              <a:lnSpc>
                <a:spcPts val="1812"/>
              </a:lnSpc>
            </a:pPr>
            <a:r>
              <a:rPr lang="en-US" sz="1750" dirty="0">
                <a:solidFill>
                  <a:srgbClr val="272525"/>
                </a:solidFill>
                <a:latin typeface="Source Sans 3"/>
                <a:ea typeface="Source Sans 3"/>
                <a:cs typeface="Source Sans 3"/>
                <a:sym typeface="Source Sans 3"/>
              </a:rPr>
              <a:t>The batch processing architecture introduces significant latency between transaction execution and fraud detection, often discovering fraudulent activity only after funds have been settled and losses realized.</a:t>
            </a:r>
          </a:p>
        </p:txBody>
      </p:sp>
      <p:sp>
        <p:nvSpPr>
          <p:cNvPr id="9" name="Freeform 9" descr="preencoded.png"/>
          <p:cNvSpPr/>
          <p:nvPr/>
        </p:nvSpPr>
        <p:spPr>
          <a:xfrm>
            <a:off x="11694185" y="639480"/>
            <a:ext cx="4726810" cy="4726810"/>
          </a:xfrm>
          <a:custGeom>
            <a:avLst/>
            <a:gdLst/>
            <a:ahLst/>
            <a:cxnLst/>
            <a:rect l="l" t="t" r="r" b="b"/>
            <a:pathLst>
              <a:path w="4726810" h="4726810">
                <a:moveTo>
                  <a:pt x="0" y="0"/>
                </a:moveTo>
                <a:lnTo>
                  <a:pt x="4726810" y="0"/>
                </a:lnTo>
                <a:lnTo>
                  <a:pt x="4726810" y="4726810"/>
                </a:lnTo>
                <a:lnTo>
                  <a:pt x="0" y="4726810"/>
                </a:lnTo>
                <a:lnTo>
                  <a:pt x="0" y="0"/>
                </a:lnTo>
                <a:close/>
              </a:path>
            </a:pathLst>
          </a:custGeom>
          <a:blipFill>
            <a:blip r:embed="rId4"/>
            <a:stretch>
              <a:fillRect/>
            </a:stretch>
          </a:blipFill>
        </p:spPr>
      </p:sp>
      <p:grpSp>
        <p:nvGrpSpPr>
          <p:cNvPr id="10" name="Group 10"/>
          <p:cNvGrpSpPr/>
          <p:nvPr/>
        </p:nvGrpSpPr>
        <p:grpSpPr>
          <a:xfrm>
            <a:off x="601266" y="5898956"/>
            <a:ext cx="8315325" cy="876148"/>
            <a:chOff x="0" y="0"/>
            <a:chExt cx="11087100" cy="1168197"/>
          </a:xfrm>
        </p:grpSpPr>
        <p:sp>
          <p:nvSpPr>
            <p:cNvPr id="11" name="Freeform 11"/>
            <p:cNvSpPr/>
            <p:nvPr/>
          </p:nvSpPr>
          <p:spPr>
            <a:xfrm>
              <a:off x="12700" y="12700"/>
              <a:ext cx="11061700" cy="1142746"/>
            </a:xfrm>
            <a:custGeom>
              <a:avLst/>
              <a:gdLst/>
              <a:ahLst/>
              <a:cxnLst/>
              <a:rect l="l" t="t" r="r" b="b"/>
              <a:pathLst>
                <a:path w="11061700" h="1142746">
                  <a:moveTo>
                    <a:pt x="0" y="121920"/>
                  </a:moveTo>
                  <a:cubicBezTo>
                    <a:pt x="0" y="54610"/>
                    <a:pt x="55626" y="0"/>
                    <a:pt x="124333" y="0"/>
                  </a:cubicBezTo>
                  <a:lnTo>
                    <a:pt x="10937367" y="0"/>
                  </a:lnTo>
                  <a:cubicBezTo>
                    <a:pt x="11006074" y="0"/>
                    <a:pt x="11061700" y="54610"/>
                    <a:pt x="11061700" y="121920"/>
                  </a:cubicBezTo>
                  <a:lnTo>
                    <a:pt x="11061700" y="1020826"/>
                  </a:lnTo>
                  <a:cubicBezTo>
                    <a:pt x="11061700" y="1088136"/>
                    <a:pt x="11006074" y="1142746"/>
                    <a:pt x="10937367" y="1142746"/>
                  </a:cubicBezTo>
                  <a:lnTo>
                    <a:pt x="124333" y="1142746"/>
                  </a:lnTo>
                  <a:cubicBezTo>
                    <a:pt x="55626" y="1142746"/>
                    <a:pt x="0" y="1088136"/>
                    <a:pt x="0" y="1020826"/>
                  </a:cubicBezTo>
                  <a:close/>
                </a:path>
              </a:pathLst>
            </a:custGeom>
            <a:solidFill>
              <a:srgbClr val="FFFFFF">
                <a:alpha val="90196"/>
              </a:srgbClr>
            </a:solidFill>
            <a:ln w="12700">
              <a:solidFill>
                <a:srgbClr val="000000"/>
              </a:solidFill>
            </a:ln>
          </p:spPr>
        </p:sp>
        <p:sp>
          <p:nvSpPr>
            <p:cNvPr id="12" name="Freeform 12"/>
            <p:cNvSpPr/>
            <p:nvPr/>
          </p:nvSpPr>
          <p:spPr>
            <a:xfrm>
              <a:off x="0" y="0"/>
              <a:ext cx="11087100" cy="1168146"/>
            </a:xfrm>
            <a:custGeom>
              <a:avLst/>
              <a:gdLst/>
              <a:ahLst/>
              <a:cxnLst/>
              <a:rect l="l" t="t" r="r" b="b"/>
              <a:pathLst>
                <a:path w="11087100" h="1168146">
                  <a:moveTo>
                    <a:pt x="0" y="134620"/>
                  </a:moveTo>
                  <a:cubicBezTo>
                    <a:pt x="0" y="60071"/>
                    <a:pt x="61595" y="0"/>
                    <a:pt x="137033" y="0"/>
                  </a:cubicBezTo>
                  <a:lnTo>
                    <a:pt x="10950067" y="0"/>
                  </a:lnTo>
                  <a:lnTo>
                    <a:pt x="10950067" y="12700"/>
                  </a:lnTo>
                  <a:lnTo>
                    <a:pt x="10950067" y="0"/>
                  </a:lnTo>
                  <a:cubicBezTo>
                    <a:pt x="11025505" y="0"/>
                    <a:pt x="11087100" y="60071"/>
                    <a:pt x="11087100" y="134620"/>
                  </a:cubicBezTo>
                  <a:lnTo>
                    <a:pt x="11074400" y="134620"/>
                  </a:lnTo>
                  <a:lnTo>
                    <a:pt x="11087100" y="134620"/>
                  </a:lnTo>
                  <a:lnTo>
                    <a:pt x="11087100" y="1033526"/>
                  </a:lnTo>
                  <a:lnTo>
                    <a:pt x="11074400" y="1033526"/>
                  </a:lnTo>
                  <a:lnTo>
                    <a:pt x="11087100" y="1033526"/>
                  </a:lnTo>
                  <a:cubicBezTo>
                    <a:pt x="11087100" y="1108075"/>
                    <a:pt x="11025505" y="1168146"/>
                    <a:pt x="10950067" y="1168146"/>
                  </a:cubicBezTo>
                  <a:lnTo>
                    <a:pt x="10950067" y="1155446"/>
                  </a:lnTo>
                  <a:lnTo>
                    <a:pt x="10950067" y="1168146"/>
                  </a:lnTo>
                  <a:lnTo>
                    <a:pt x="137033" y="1168146"/>
                  </a:lnTo>
                  <a:lnTo>
                    <a:pt x="137033" y="1155446"/>
                  </a:lnTo>
                  <a:lnTo>
                    <a:pt x="137033" y="1168146"/>
                  </a:lnTo>
                  <a:cubicBezTo>
                    <a:pt x="61595" y="1168146"/>
                    <a:pt x="0" y="1108202"/>
                    <a:pt x="0" y="1033526"/>
                  </a:cubicBezTo>
                  <a:lnTo>
                    <a:pt x="0" y="134620"/>
                  </a:lnTo>
                  <a:lnTo>
                    <a:pt x="12700" y="134620"/>
                  </a:lnTo>
                  <a:lnTo>
                    <a:pt x="0" y="134620"/>
                  </a:lnTo>
                  <a:moveTo>
                    <a:pt x="25400" y="134620"/>
                  </a:moveTo>
                  <a:lnTo>
                    <a:pt x="25400" y="1033526"/>
                  </a:lnTo>
                  <a:lnTo>
                    <a:pt x="12700" y="1033526"/>
                  </a:lnTo>
                  <a:lnTo>
                    <a:pt x="25400" y="1033526"/>
                  </a:lnTo>
                  <a:cubicBezTo>
                    <a:pt x="25400" y="1093597"/>
                    <a:pt x="75184" y="1142746"/>
                    <a:pt x="137033" y="1142746"/>
                  </a:cubicBezTo>
                  <a:lnTo>
                    <a:pt x="10950067" y="1142746"/>
                  </a:lnTo>
                  <a:cubicBezTo>
                    <a:pt x="11011916" y="1142746"/>
                    <a:pt x="11061700" y="1093597"/>
                    <a:pt x="11061700" y="1033526"/>
                  </a:cubicBezTo>
                  <a:lnTo>
                    <a:pt x="11061700" y="134620"/>
                  </a:lnTo>
                  <a:cubicBezTo>
                    <a:pt x="11061700" y="74549"/>
                    <a:pt x="11011916" y="25400"/>
                    <a:pt x="10950067" y="25400"/>
                  </a:cubicBezTo>
                  <a:lnTo>
                    <a:pt x="137033" y="25400"/>
                  </a:lnTo>
                  <a:lnTo>
                    <a:pt x="137033" y="12700"/>
                  </a:lnTo>
                  <a:lnTo>
                    <a:pt x="137033" y="25400"/>
                  </a:lnTo>
                  <a:cubicBezTo>
                    <a:pt x="75184" y="25400"/>
                    <a:pt x="25400" y="74549"/>
                    <a:pt x="25400" y="134620"/>
                  </a:cubicBezTo>
                  <a:close/>
                </a:path>
              </a:pathLst>
            </a:custGeom>
            <a:solidFill>
              <a:srgbClr val="D6BADD"/>
            </a:solidFill>
            <a:ln w="12700">
              <a:solidFill>
                <a:srgbClr val="000000"/>
              </a:solidFill>
            </a:ln>
          </p:spPr>
        </p:sp>
      </p:grpSp>
      <p:grpSp>
        <p:nvGrpSpPr>
          <p:cNvPr id="13" name="Group 13"/>
          <p:cNvGrpSpPr/>
          <p:nvPr/>
        </p:nvGrpSpPr>
        <p:grpSpPr>
          <a:xfrm>
            <a:off x="591741" y="5908481"/>
            <a:ext cx="76200" cy="857098"/>
            <a:chOff x="0" y="0"/>
            <a:chExt cx="101600" cy="1142797"/>
          </a:xfrm>
        </p:grpSpPr>
        <p:sp>
          <p:nvSpPr>
            <p:cNvPr id="14" name="Freeform 14"/>
            <p:cNvSpPr/>
            <p:nvPr/>
          </p:nvSpPr>
          <p:spPr>
            <a:xfrm>
              <a:off x="0" y="0"/>
              <a:ext cx="101600" cy="1142746"/>
            </a:xfrm>
            <a:custGeom>
              <a:avLst/>
              <a:gdLst/>
              <a:ahLst/>
              <a:cxnLst/>
              <a:rect l="l" t="t" r="r" b="b"/>
              <a:pathLst>
                <a:path w="101600" h="1142746">
                  <a:moveTo>
                    <a:pt x="0" y="50800"/>
                  </a:moveTo>
                  <a:cubicBezTo>
                    <a:pt x="0" y="22733"/>
                    <a:pt x="22733" y="0"/>
                    <a:pt x="50800" y="0"/>
                  </a:cubicBezTo>
                  <a:cubicBezTo>
                    <a:pt x="78867" y="0"/>
                    <a:pt x="101600" y="22733"/>
                    <a:pt x="101600" y="50800"/>
                  </a:cubicBezTo>
                  <a:lnTo>
                    <a:pt x="101600" y="1091946"/>
                  </a:lnTo>
                  <a:cubicBezTo>
                    <a:pt x="101600" y="1120013"/>
                    <a:pt x="78867" y="1142746"/>
                    <a:pt x="50800" y="1142746"/>
                  </a:cubicBezTo>
                  <a:cubicBezTo>
                    <a:pt x="22733" y="1142746"/>
                    <a:pt x="0" y="1120013"/>
                    <a:pt x="0" y="1091946"/>
                  </a:cubicBezTo>
                  <a:close/>
                </a:path>
              </a:pathLst>
            </a:custGeom>
            <a:solidFill>
              <a:srgbClr val="BE49DF"/>
            </a:solidFill>
            <a:ln w="12700">
              <a:solidFill>
                <a:srgbClr val="000000"/>
              </a:solidFill>
            </a:ln>
          </p:spPr>
        </p:sp>
      </p:grpSp>
      <p:sp>
        <p:nvSpPr>
          <p:cNvPr id="15" name="TextBox 15"/>
          <p:cNvSpPr txBox="1"/>
          <p:nvPr/>
        </p:nvSpPr>
        <p:spPr>
          <a:xfrm>
            <a:off x="832247" y="6072788"/>
            <a:ext cx="1671342" cy="208807"/>
          </a:xfrm>
          <a:prstGeom prst="rect">
            <a:avLst/>
          </a:prstGeom>
        </p:spPr>
        <p:txBody>
          <a:bodyPr lIns="0" tIns="0" rIns="0" bIns="0" rtlCol="0" anchor="t">
            <a:spAutoFit/>
          </a:bodyPr>
          <a:lstStyle/>
          <a:p>
            <a:pPr algn="l">
              <a:lnSpc>
                <a:spcPts val="1624"/>
              </a:lnSpc>
            </a:pPr>
            <a:r>
              <a:rPr lang="en-US" sz="1312" b="1">
                <a:solidFill>
                  <a:srgbClr val="272525"/>
                </a:solidFill>
                <a:latin typeface="Source Serif Pro Bold"/>
                <a:ea typeface="Source Serif Pro Bold"/>
                <a:cs typeface="Source Serif Pro Bold"/>
                <a:sym typeface="Source Serif Pro Bold"/>
              </a:rPr>
              <a:t>Static Rule Engines</a:t>
            </a:r>
          </a:p>
        </p:txBody>
      </p:sp>
      <p:sp>
        <p:nvSpPr>
          <p:cNvPr id="16" name="TextBox 16"/>
          <p:cNvSpPr txBox="1"/>
          <p:nvPr/>
        </p:nvSpPr>
        <p:spPr>
          <a:xfrm>
            <a:off x="832247" y="6321028"/>
            <a:ext cx="7910512" cy="280245"/>
          </a:xfrm>
          <a:prstGeom prst="rect">
            <a:avLst/>
          </a:prstGeom>
        </p:spPr>
        <p:txBody>
          <a:bodyPr lIns="0" tIns="0" rIns="0" bIns="0" rtlCol="0" anchor="t">
            <a:spAutoFit/>
          </a:bodyPr>
          <a:lstStyle/>
          <a:p>
            <a:pPr algn="l">
              <a:lnSpc>
                <a:spcPts val="1812"/>
              </a:lnSpc>
            </a:pPr>
            <a:r>
              <a:rPr lang="en-US" sz="1124">
                <a:solidFill>
                  <a:srgbClr val="272525"/>
                </a:solidFill>
                <a:latin typeface="Source Sans 3"/>
                <a:ea typeface="Source Sans 3"/>
                <a:cs typeface="Source Sans 3"/>
                <a:sym typeface="Source Sans 3"/>
              </a:rPr>
              <a:t>Fixed thresholds unable to adapt to changing fraud patterns or seasonal variations in legitimate transaction behavior</a:t>
            </a:r>
          </a:p>
        </p:txBody>
      </p:sp>
      <p:grpSp>
        <p:nvGrpSpPr>
          <p:cNvPr id="17" name="Group 17"/>
          <p:cNvGrpSpPr/>
          <p:nvPr/>
        </p:nvGrpSpPr>
        <p:grpSpPr>
          <a:xfrm>
            <a:off x="9042797" y="5898956"/>
            <a:ext cx="8315325" cy="876148"/>
            <a:chOff x="0" y="0"/>
            <a:chExt cx="11087100" cy="1168197"/>
          </a:xfrm>
        </p:grpSpPr>
        <p:sp>
          <p:nvSpPr>
            <p:cNvPr id="18" name="Freeform 18"/>
            <p:cNvSpPr/>
            <p:nvPr/>
          </p:nvSpPr>
          <p:spPr>
            <a:xfrm>
              <a:off x="12700" y="12700"/>
              <a:ext cx="11061700" cy="1142746"/>
            </a:xfrm>
            <a:custGeom>
              <a:avLst/>
              <a:gdLst/>
              <a:ahLst/>
              <a:cxnLst/>
              <a:rect l="l" t="t" r="r" b="b"/>
              <a:pathLst>
                <a:path w="11061700" h="1142746">
                  <a:moveTo>
                    <a:pt x="0" y="121920"/>
                  </a:moveTo>
                  <a:cubicBezTo>
                    <a:pt x="0" y="54610"/>
                    <a:pt x="55626" y="0"/>
                    <a:pt x="124333" y="0"/>
                  </a:cubicBezTo>
                  <a:lnTo>
                    <a:pt x="10937367" y="0"/>
                  </a:lnTo>
                  <a:cubicBezTo>
                    <a:pt x="11006074" y="0"/>
                    <a:pt x="11061700" y="54610"/>
                    <a:pt x="11061700" y="121920"/>
                  </a:cubicBezTo>
                  <a:lnTo>
                    <a:pt x="11061700" y="1020826"/>
                  </a:lnTo>
                  <a:cubicBezTo>
                    <a:pt x="11061700" y="1088136"/>
                    <a:pt x="11006074" y="1142746"/>
                    <a:pt x="10937367" y="1142746"/>
                  </a:cubicBezTo>
                  <a:lnTo>
                    <a:pt x="124333" y="1142746"/>
                  </a:lnTo>
                  <a:cubicBezTo>
                    <a:pt x="55626" y="1142746"/>
                    <a:pt x="0" y="1088136"/>
                    <a:pt x="0" y="1020826"/>
                  </a:cubicBezTo>
                  <a:close/>
                </a:path>
              </a:pathLst>
            </a:custGeom>
            <a:solidFill>
              <a:srgbClr val="FFFFFF">
                <a:alpha val="90196"/>
              </a:srgbClr>
            </a:solidFill>
            <a:ln w="12700">
              <a:solidFill>
                <a:srgbClr val="000000"/>
              </a:solidFill>
            </a:ln>
          </p:spPr>
        </p:sp>
        <p:sp>
          <p:nvSpPr>
            <p:cNvPr id="19" name="Freeform 19"/>
            <p:cNvSpPr/>
            <p:nvPr/>
          </p:nvSpPr>
          <p:spPr>
            <a:xfrm>
              <a:off x="0" y="0"/>
              <a:ext cx="11087100" cy="1168146"/>
            </a:xfrm>
            <a:custGeom>
              <a:avLst/>
              <a:gdLst/>
              <a:ahLst/>
              <a:cxnLst/>
              <a:rect l="l" t="t" r="r" b="b"/>
              <a:pathLst>
                <a:path w="11087100" h="1168146">
                  <a:moveTo>
                    <a:pt x="0" y="134620"/>
                  </a:moveTo>
                  <a:cubicBezTo>
                    <a:pt x="0" y="60071"/>
                    <a:pt x="61595" y="0"/>
                    <a:pt x="137033" y="0"/>
                  </a:cubicBezTo>
                  <a:lnTo>
                    <a:pt x="10950067" y="0"/>
                  </a:lnTo>
                  <a:lnTo>
                    <a:pt x="10950067" y="12700"/>
                  </a:lnTo>
                  <a:lnTo>
                    <a:pt x="10950067" y="0"/>
                  </a:lnTo>
                  <a:cubicBezTo>
                    <a:pt x="11025505" y="0"/>
                    <a:pt x="11087100" y="60071"/>
                    <a:pt x="11087100" y="134620"/>
                  </a:cubicBezTo>
                  <a:lnTo>
                    <a:pt x="11074400" y="134620"/>
                  </a:lnTo>
                  <a:lnTo>
                    <a:pt x="11087100" y="134620"/>
                  </a:lnTo>
                  <a:lnTo>
                    <a:pt x="11087100" y="1033526"/>
                  </a:lnTo>
                  <a:lnTo>
                    <a:pt x="11074400" y="1033526"/>
                  </a:lnTo>
                  <a:lnTo>
                    <a:pt x="11087100" y="1033526"/>
                  </a:lnTo>
                  <a:cubicBezTo>
                    <a:pt x="11087100" y="1108075"/>
                    <a:pt x="11025505" y="1168146"/>
                    <a:pt x="10950067" y="1168146"/>
                  </a:cubicBezTo>
                  <a:lnTo>
                    <a:pt x="10950067" y="1155446"/>
                  </a:lnTo>
                  <a:lnTo>
                    <a:pt x="10950067" y="1168146"/>
                  </a:lnTo>
                  <a:lnTo>
                    <a:pt x="137033" y="1168146"/>
                  </a:lnTo>
                  <a:lnTo>
                    <a:pt x="137033" y="1155446"/>
                  </a:lnTo>
                  <a:lnTo>
                    <a:pt x="137033" y="1168146"/>
                  </a:lnTo>
                  <a:cubicBezTo>
                    <a:pt x="61595" y="1168146"/>
                    <a:pt x="0" y="1108202"/>
                    <a:pt x="0" y="1033526"/>
                  </a:cubicBezTo>
                  <a:lnTo>
                    <a:pt x="0" y="134620"/>
                  </a:lnTo>
                  <a:lnTo>
                    <a:pt x="12700" y="134620"/>
                  </a:lnTo>
                  <a:lnTo>
                    <a:pt x="0" y="134620"/>
                  </a:lnTo>
                  <a:moveTo>
                    <a:pt x="25400" y="134620"/>
                  </a:moveTo>
                  <a:lnTo>
                    <a:pt x="25400" y="1033526"/>
                  </a:lnTo>
                  <a:lnTo>
                    <a:pt x="12700" y="1033526"/>
                  </a:lnTo>
                  <a:lnTo>
                    <a:pt x="25400" y="1033526"/>
                  </a:lnTo>
                  <a:cubicBezTo>
                    <a:pt x="25400" y="1093597"/>
                    <a:pt x="75184" y="1142746"/>
                    <a:pt x="137033" y="1142746"/>
                  </a:cubicBezTo>
                  <a:lnTo>
                    <a:pt x="10950067" y="1142746"/>
                  </a:lnTo>
                  <a:cubicBezTo>
                    <a:pt x="11011916" y="1142746"/>
                    <a:pt x="11061700" y="1093597"/>
                    <a:pt x="11061700" y="1033526"/>
                  </a:cubicBezTo>
                  <a:lnTo>
                    <a:pt x="11061700" y="134620"/>
                  </a:lnTo>
                  <a:cubicBezTo>
                    <a:pt x="11061700" y="74549"/>
                    <a:pt x="11011916" y="25400"/>
                    <a:pt x="10950067" y="25400"/>
                  </a:cubicBezTo>
                  <a:lnTo>
                    <a:pt x="137033" y="25400"/>
                  </a:lnTo>
                  <a:lnTo>
                    <a:pt x="137033" y="12700"/>
                  </a:lnTo>
                  <a:lnTo>
                    <a:pt x="137033" y="25400"/>
                  </a:lnTo>
                  <a:cubicBezTo>
                    <a:pt x="75184" y="25400"/>
                    <a:pt x="25400" y="74549"/>
                    <a:pt x="25400" y="134620"/>
                  </a:cubicBezTo>
                  <a:close/>
                </a:path>
              </a:pathLst>
            </a:custGeom>
            <a:solidFill>
              <a:srgbClr val="D6BADD"/>
            </a:solidFill>
            <a:ln w="12700">
              <a:solidFill>
                <a:srgbClr val="000000"/>
              </a:solidFill>
            </a:ln>
          </p:spPr>
        </p:sp>
      </p:grpSp>
      <p:grpSp>
        <p:nvGrpSpPr>
          <p:cNvPr id="20" name="Group 20"/>
          <p:cNvGrpSpPr/>
          <p:nvPr/>
        </p:nvGrpSpPr>
        <p:grpSpPr>
          <a:xfrm>
            <a:off x="9033272" y="5908481"/>
            <a:ext cx="76200" cy="857098"/>
            <a:chOff x="0" y="0"/>
            <a:chExt cx="101600" cy="1142797"/>
          </a:xfrm>
        </p:grpSpPr>
        <p:sp>
          <p:nvSpPr>
            <p:cNvPr id="21" name="Freeform 21"/>
            <p:cNvSpPr/>
            <p:nvPr/>
          </p:nvSpPr>
          <p:spPr>
            <a:xfrm>
              <a:off x="0" y="0"/>
              <a:ext cx="101600" cy="1142746"/>
            </a:xfrm>
            <a:custGeom>
              <a:avLst/>
              <a:gdLst/>
              <a:ahLst/>
              <a:cxnLst/>
              <a:rect l="l" t="t" r="r" b="b"/>
              <a:pathLst>
                <a:path w="101600" h="1142746">
                  <a:moveTo>
                    <a:pt x="0" y="50800"/>
                  </a:moveTo>
                  <a:cubicBezTo>
                    <a:pt x="0" y="22733"/>
                    <a:pt x="22733" y="0"/>
                    <a:pt x="50800" y="0"/>
                  </a:cubicBezTo>
                  <a:cubicBezTo>
                    <a:pt x="78867" y="0"/>
                    <a:pt x="101600" y="22733"/>
                    <a:pt x="101600" y="50800"/>
                  </a:cubicBezTo>
                  <a:lnTo>
                    <a:pt x="101600" y="1091946"/>
                  </a:lnTo>
                  <a:cubicBezTo>
                    <a:pt x="101600" y="1120013"/>
                    <a:pt x="78867" y="1142746"/>
                    <a:pt x="50800" y="1142746"/>
                  </a:cubicBezTo>
                  <a:cubicBezTo>
                    <a:pt x="22733" y="1142746"/>
                    <a:pt x="0" y="1120013"/>
                    <a:pt x="0" y="1091946"/>
                  </a:cubicBezTo>
                  <a:close/>
                </a:path>
              </a:pathLst>
            </a:custGeom>
            <a:solidFill>
              <a:srgbClr val="BE49DF"/>
            </a:solidFill>
            <a:ln w="12700">
              <a:solidFill>
                <a:srgbClr val="000000"/>
              </a:solidFill>
            </a:ln>
          </p:spPr>
        </p:sp>
      </p:grpSp>
      <p:sp>
        <p:nvSpPr>
          <p:cNvPr id="22" name="TextBox 22"/>
          <p:cNvSpPr txBox="1"/>
          <p:nvPr/>
        </p:nvSpPr>
        <p:spPr>
          <a:xfrm>
            <a:off x="9273778" y="6072788"/>
            <a:ext cx="1671342" cy="208807"/>
          </a:xfrm>
          <a:prstGeom prst="rect">
            <a:avLst/>
          </a:prstGeom>
        </p:spPr>
        <p:txBody>
          <a:bodyPr lIns="0" tIns="0" rIns="0" bIns="0" rtlCol="0" anchor="t">
            <a:spAutoFit/>
          </a:bodyPr>
          <a:lstStyle/>
          <a:p>
            <a:pPr algn="l">
              <a:lnSpc>
                <a:spcPts val="1624"/>
              </a:lnSpc>
            </a:pPr>
            <a:r>
              <a:rPr lang="en-US" sz="1312" b="1">
                <a:solidFill>
                  <a:srgbClr val="272525"/>
                </a:solidFill>
                <a:latin typeface="Source Serif Pro Bold"/>
                <a:ea typeface="Source Serif Pro Bold"/>
                <a:cs typeface="Source Serif Pro Bold"/>
                <a:sym typeface="Source Serif Pro Bold"/>
              </a:rPr>
              <a:t>Linear Processing</a:t>
            </a:r>
          </a:p>
        </p:txBody>
      </p:sp>
      <p:sp>
        <p:nvSpPr>
          <p:cNvPr id="23" name="TextBox 23"/>
          <p:cNvSpPr txBox="1"/>
          <p:nvPr/>
        </p:nvSpPr>
        <p:spPr>
          <a:xfrm>
            <a:off x="9273778" y="6321028"/>
            <a:ext cx="7910512" cy="280245"/>
          </a:xfrm>
          <a:prstGeom prst="rect">
            <a:avLst/>
          </a:prstGeom>
        </p:spPr>
        <p:txBody>
          <a:bodyPr lIns="0" tIns="0" rIns="0" bIns="0" rtlCol="0" anchor="t">
            <a:spAutoFit/>
          </a:bodyPr>
          <a:lstStyle/>
          <a:p>
            <a:pPr algn="l">
              <a:lnSpc>
                <a:spcPts val="1812"/>
              </a:lnSpc>
            </a:pPr>
            <a:r>
              <a:rPr lang="en-US" sz="1124">
                <a:solidFill>
                  <a:srgbClr val="272525"/>
                </a:solidFill>
                <a:latin typeface="Source Sans 3"/>
                <a:ea typeface="Source Sans 3"/>
                <a:cs typeface="Source Sans 3"/>
                <a:sym typeface="Source Sans 3"/>
              </a:rPr>
              <a:t>Simple threshold checks miss sophisticated multi-dimensional fraud indicators and coordinated attack patterns</a:t>
            </a:r>
          </a:p>
        </p:txBody>
      </p:sp>
      <p:grpSp>
        <p:nvGrpSpPr>
          <p:cNvPr id="24" name="Group 24"/>
          <p:cNvGrpSpPr/>
          <p:nvPr/>
        </p:nvGrpSpPr>
        <p:grpSpPr>
          <a:xfrm>
            <a:off x="601266" y="6901310"/>
            <a:ext cx="8315325" cy="876148"/>
            <a:chOff x="0" y="0"/>
            <a:chExt cx="11087100" cy="1168197"/>
          </a:xfrm>
        </p:grpSpPr>
        <p:sp>
          <p:nvSpPr>
            <p:cNvPr id="25" name="Freeform 25"/>
            <p:cNvSpPr/>
            <p:nvPr/>
          </p:nvSpPr>
          <p:spPr>
            <a:xfrm>
              <a:off x="12700" y="12700"/>
              <a:ext cx="11061700" cy="1142746"/>
            </a:xfrm>
            <a:custGeom>
              <a:avLst/>
              <a:gdLst/>
              <a:ahLst/>
              <a:cxnLst/>
              <a:rect l="l" t="t" r="r" b="b"/>
              <a:pathLst>
                <a:path w="11061700" h="1142746">
                  <a:moveTo>
                    <a:pt x="0" y="121920"/>
                  </a:moveTo>
                  <a:cubicBezTo>
                    <a:pt x="0" y="54610"/>
                    <a:pt x="55626" y="0"/>
                    <a:pt x="124333" y="0"/>
                  </a:cubicBezTo>
                  <a:lnTo>
                    <a:pt x="10937367" y="0"/>
                  </a:lnTo>
                  <a:cubicBezTo>
                    <a:pt x="11006074" y="0"/>
                    <a:pt x="11061700" y="54610"/>
                    <a:pt x="11061700" y="121920"/>
                  </a:cubicBezTo>
                  <a:lnTo>
                    <a:pt x="11061700" y="1020826"/>
                  </a:lnTo>
                  <a:cubicBezTo>
                    <a:pt x="11061700" y="1088136"/>
                    <a:pt x="11006074" y="1142746"/>
                    <a:pt x="10937367" y="1142746"/>
                  </a:cubicBezTo>
                  <a:lnTo>
                    <a:pt x="124333" y="1142746"/>
                  </a:lnTo>
                  <a:cubicBezTo>
                    <a:pt x="55626" y="1142746"/>
                    <a:pt x="0" y="1088136"/>
                    <a:pt x="0" y="1020826"/>
                  </a:cubicBezTo>
                  <a:close/>
                </a:path>
              </a:pathLst>
            </a:custGeom>
            <a:solidFill>
              <a:srgbClr val="FFFFFF">
                <a:alpha val="90196"/>
              </a:srgbClr>
            </a:solidFill>
            <a:ln w="12700">
              <a:solidFill>
                <a:srgbClr val="000000"/>
              </a:solidFill>
            </a:ln>
          </p:spPr>
        </p:sp>
        <p:sp>
          <p:nvSpPr>
            <p:cNvPr id="26" name="Freeform 26"/>
            <p:cNvSpPr/>
            <p:nvPr/>
          </p:nvSpPr>
          <p:spPr>
            <a:xfrm>
              <a:off x="0" y="0"/>
              <a:ext cx="11087100" cy="1168146"/>
            </a:xfrm>
            <a:custGeom>
              <a:avLst/>
              <a:gdLst/>
              <a:ahLst/>
              <a:cxnLst/>
              <a:rect l="l" t="t" r="r" b="b"/>
              <a:pathLst>
                <a:path w="11087100" h="1168146">
                  <a:moveTo>
                    <a:pt x="0" y="134620"/>
                  </a:moveTo>
                  <a:cubicBezTo>
                    <a:pt x="0" y="60071"/>
                    <a:pt x="61595" y="0"/>
                    <a:pt x="137033" y="0"/>
                  </a:cubicBezTo>
                  <a:lnTo>
                    <a:pt x="10950067" y="0"/>
                  </a:lnTo>
                  <a:lnTo>
                    <a:pt x="10950067" y="12700"/>
                  </a:lnTo>
                  <a:lnTo>
                    <a:pt x="10950067" y="0"/>
                  </a:lnTo>
                  <a:cubicBezTo>
                    <a:pt x="11025505" y="0"/>
                    <a:pt x="11087100" y="60071"/>
                    <a:pt x="11087100" y="134620"/>
                  </a:cubicBezTo>
                  <a:lnTo>
                    <a:pt x="11074400" y="134620"/>
                  </a:lnTo>
                  <a:lnTo>
                    <a:pt x="11087100" y="134620"/>
                  </a:lnTo>
                  <a:lnTo>
                    <a:pt x="11087100" y="1033526"/>
                  </a:lnTo>
                  <a:lnTo>
                    <a:pt x="11074400" y="1033526"/>
                  </a:lnTo>
                  <a:lnTo>
                    <a:pt x="11087100" y="1033526"/>
                  </a:lnTo>
                  <a:cubicBezTo>
                    <a:pt x="11087100" y="1108075"/>
                    <a:pt x="11025505" y="1168146"/>
                    <a:pt x="10950067" y="1168146"/>
                  </a:cubicBezTo>
                  <a:lnTo>
                    <a:pt x="10950067" y="1155446"/>
                  </a:lnTo>
                  <a:lnTo>
                    <a:pt x="10950067" y="1168146"/>
                  </a:lnTo>
                  <a:lnTo>
                    <a:pt x="137033" y="1168146"/>
                  </a:lnTo>
                  <a:lnTo>
                    <a:pt x="137033" y="1155446"/>
                  </a:lnTo>
                  <a:lnTo>
                    <a:pt x="137033" y="1168146"/>
                  </a:lnTo>
                  <a:cubicBezTo>
                    <a:pt x="61595" y="1168146"/>
                    <a:pt x="0" y="1108202"/>
                    <a:pt x="0" y="1033526"/>
                  </a:cubicBezTo>
                  <a:lnTo>
                    <a:pt x="0" y="134620"/>
                  </a:lnTo>
                  <a:lnTo>
                    <a:pt x="12700" y="134620"/>
                  </a:lnTo>
                  <a:lnTo>
                    <a:pt x="0" y="134620"/>
                  </a:lnTo>
                  <a:moveTo>
                    <a:pt x="25400" y="134620"/>
                  </a:moveTo>
                  <a:lnTo>
                    <a:pt x="25400" y="1033526"/>
                  </a:lnTo>
                  <a:lnTo>
                    <a:pt x="12700" y="1033526"/>
                  </a:lnTo>
                  <a:lnTo>
                    <a:pt x="25400" y="1033526"/>
                  </a:lnTo>
                  <a:cubicBezTo>
                    <a:pt x="25400" y="1093597"/>
                    <a:pt x="75184" y="1142746"/>
                    <a:pt x="137033" y="1142746"/>
                  </a:cubicBezTo>
                  <a:lnTo>
                    <a:pt x="10950067" y="1142746"/>
                  </a:lnTo>
                  <a:cubicBezTo>
                    <a:pt x="11011916" y="1142746"/>
                    <a:pt x="11061700" y="1093597"/>
                    <a:pt x="11061700" y="1033526"/>
                  </a:cubicBezTo>
                  <a:lnTo>
                    <a:pt x="11061700" y="134620"/>
                  </a:lnTo>
                  <a:cubicBezTo>
                    <a:pt x="11061700" y="74549"/>
                    <a:pt x="11011916" y="25400"/>
                    <a:pt x="10950067" y="25400"/>
                  </a:cubicBezTo>
                  <a:lnTo>
                    <a:pt x="137033" y="25400"/>
                  </a:lnTo>
                  <a:lnTo>
                    <a:pt x="137033" y="12700"/>
                  </a:lnTo>
                  <a:lnTo>
                    <a:pt x="137033" y="25400"/>
                  </a:lnTo>
                  <a:cubicBezTo>
                    <a:pt x="75184" y="25400"/>
                    <a:pt x="25400" y="74549"/>
                    <a:pt x="25400" y="134620"/>
                  </a:cubicBezTo>
                  <a:close/>
                </a:path>
              </a:pathLst>
            </a:custGeom>
            <a:solidFill>
              <a:srgbClr val="D6BADD"/>
            </a:solidFill>
            <a:ln w="12700">
              <a:solidFill>
                <a:srgbClr val="000000"/>
              </a:solidFill>
            </a:ln>
          </p:spPr>
        </p:sp>
      </p:grpSp>
      <p:grpSp>
        <p:nvGrpSpPr>
          <p:cNvPr id="27" name="Group 27"/>
          <p:cNvGrpSpPr/>
          <p:nvPr/>
        </p:nvGrpSpPr>
        <p:grpSpPr>
          <a:xfrm>
            <a:off x="591741" y="6910835"/>
            <a:ext cx="76200" cy="857098"/>
            <a:chOff x="0" y="0"/>
            <a:chExt cx="101600" cy="1142797"/>
          </a:xfrm>
        </p:grpSpPr>
        <p:sp>
          <p:nvSpPr>
            <p:cNvPr id="28" name="Freeform 28"/>
            <p:cNvSpPr/>
            <p:nvPr/>
          </p:nvSpPr>
          <p:spPr>
            <a:xfrm>
              <a:off x="0" y="0"/>
              <a:ext cx="101600" cy="1142746"/>
            </a:xfrm>
            <a:custGeom>
              <a:avLst/>
              <a:gdLst/>
              <a:ahLst/>
              <a:cxnLst/>
              <a:rect l="l" t="t" r="r" b="b"/>
              <a:pathLst>
                <a:path w="101600" h="1142746">
                  <a:moveTo>
                    <a:pt x="0" y="50800"/>
                  </a:moveTo>
                  <a:cubicBezTo>
                    <a:pt x="0" y="22733"/>
                    <a:pt x="22733" y="0"/>
                    <a:pt x="50800" y="0"/>
                  </a:cubicBezTo>
                  <a:cubicBezTo>
                    <a:pt x="78867" y="0"/>
                    <a:pt x="101600" y="22733"/>
                    <a:pt x="101600" y="50800"/>
                  </a:cubicBezTo>
                  <a:lnTo>
                    <a:pt x="101600" y="1091946"/>
                  </a:lnTo>
                  <a:cubicBezTo>
                    <a:pt x="101600" y="1120013"/>
                    <a:pt x="78867" y="1142746"/>
                    <a:pt x="50800" y="1142746"/>
                  </a:cubicBezTo>
                  <a:cubicBezTo>
                    <a:pt x="22733" y="1142746"/>
                    <a:pt x="0" y="1120013"/>
                    <a:pt x="0" y="1091946"/>
                  </a:cubicBezTo>
                  <a:close/>
                </a:path>
              </a:pathLst>
            </a:custGeom>
            <a:solidFill>
              <a:srgbClr val="BE49DF"/>
            </a:solidFill>
            <a:ln w="12700">
              <a:solidFill>
                <a:srgbClr val="000000"/>
              </a:solidFill>
            </a:ln>
          </p:spPr>
        </p:sp>
      </p:grpSp>
      <p:sp>
        <p:nvSpPr>
          <p:cNvPr id="29" name="TextBox 29"/>
          <p:cNvSpPr txBox="1"/>
          <p:nvPr/>
        </p:nvSpPr>
        <p:spPr>
          <a:xfrm>
            <a:off x="832247" y="7075141"/>
            <a:ext cx="1671342" cy="208807"/>
          </a:xfrm>
          <a:prstGeom prst="rect">
            <a:avLst/>
          </a:prstGeom>
        </p:spPr>
        <p:txBody>
          <a:bodyPr lIns="0" tIns="0" rIns="0" bIns="0" rtlCol="0" anchor="t">
            <a:spAutoFit/>
          </a:bodyPr>
          <a:lstStyle/>
          <a:p>
            <a:pPr algn="l">
              <a:lnSpc>
                <a:spcPts val="1624"/>
              </a:lnSpc>
            </a:pPr>
            <a:r>
              <a:rPr lang="en-US" sz="1312" b="1">
                <a:solidFill>
                  <a:srgbClr val="272525"/>
                </a:solidFill>
                <a:latin typeface="Source Serif Pro Bold"/>
                <a:ea typeface="Source Serif Pro Bold"/>
                <a:cs typeface="Source Serif Pro Bold"/>
                <a:sym typeface="Source Serif Pro Bold"/>
              </a:rPr>
              <a:t>High False Positives</a:t>
            </a:r>
          </a:p>
        </p:txBody>
      </p:sp>
      <p:sp>
        <p:nvSpPr>
          <p:cNvPr id="30" name="TextBox 30"/>
          <p:cNvSpPr txBox="1"/>
          <p:nvPr/>
        </p:nvSpPr>
        <p:spPr>
          <a:xfrm>
            <a:off x="832247" y="7323382"/>
            <a:ext cx="7910512" cy="280245"/>
          </a:xfrm>
          <a:prstGeom prst="rect">
            <a:avLst/>
          </a:prstGeom>
        </p:spPr>
        <p:txBody>
          <a:bodyPr lIns="0" tIns="0" rIns="0" bIns="0" rtlCol="0" anchor="t">
            <a:spAutoFit/>
          </a:bodyPr>
          <a:lstStyle/>
          <a:p>
            <a:pPr algn="l">
              <a:lnSpc>
                <a:spcPts val="1812"/>
              </a:lnSpc>
            </a:pPr>
            <a:r>
              <a:rPr lang="en-US" sz="1124">
                <a:solidFill>
                  <a:srgbClr val="272525"/>
                </a:solidFill>
                <a:latin typeface="Source Sans 3"/>
                <a:ea typeface="Source Sans 3"/>
                <a:cs typeface="Source Sans 3"/>
                <a:sym typeface="Source Sans 3"/>
              </a:rPr>
              <a:t>Excessive legitimate transaction blocks damage customer trust and create significant operational overhead</a:t>
            </a:r>
          </a:p>
        </p:txBody>
      </p:sp>
      <p:grpSp>
        <p:nvGrpSpPr>
          <p:cNvPr id="31" name="Group 31"/>
          <p:cNvGrpSpPr/>
          <p:nvPr/>
        </p:nvGrpSpPr>
        <p:grpSpPr>
          <a:xfrm>
            <a:off x="9042797" y="6901310"/>
            <a:ext cx="8315325" cy="876148"/>
            <a:chOff x="0" y="0"/>
            <a:chExt cx="11087100" cy="1168197"/>
          </a:xfrm>
        </p:grpSpPr>
        <p:sp>
          <p:nvSpPr>
            <p:cNvPr id="32" name="Freeform 32"/>
            <p:cNvSpPr/>
            <p:nvPr/>
          </p:nvSpPr>
          <p:spPr>
            <a:xfrm>
              <a:off x="12700" y="12700"/>
              <a:ext cx="11061700" cy="1142746"/>
            </a:xfrm>
            <a:custGeom>
              <a:avLst/>
              <a:gdLst/>
              <a:ahLst/>
              <a:cxnLst/>
              <a:rect l="l" t="t" r="r" b="b"/>
              <a:pathLst>
                <a:path w="11061700" h="1142746">
                  <a:moveTo>
                    <a:pt x="0" y="121920"/>
                  </a:moveTo>
                  <a:cubicBezTo>
                    <a:pt x="0" y="54610"/>
                    <a:pt x="55626" y="0"/>
                    <a:pt x="124333" y="0"/>
                  </a:cubicBezTo>
                  <a:lnTo>
                    <a:pt x="10937367" y="0"/>
                  </a:lnTo>
                  <a:cubicBezTo>
                    <a:pt x="11006074" y="0"/>
                    <a:pt x="11061700" y="54610"/>
                    <a:pt x="11061700" y="121920"/>
                  </a:cubicBezTo>
                  <a:lnTo>
                    <a:pt x="11061700" y="1020826"/>
                  </a:lnTo>
                  <a:cubicBezTo>
                    <a:pt x="11061700" y="1088136"/>
                    <a:pt x="11006074" y="1142746"/>
                    <a:pt x="10937367" y="1142746"/>
                  </a:cubicBezTo>
                  <a:lnTo>
                    <a:pt x="124333" y="1142746"/>
                  </a:lnTo>
                  <a:cubicBezTo>
                    <a:pt x="55626" y="1142746"/>
                    <a:pt x="0" y="1088136"/>
                    <a:pt x="0" y="1020826"/>
                  </a:cubicBezTo>
                  <a:close/>
                </a:path>
              </a:pathLst>
            </a:custGeom>
            <a:solidFill>
              <a:srgbClr val="FFFFFF">
                <a:alpha val="90196"/>
              </a:srgbClr>
            </a:solidFill>
            <a:ln w="12700">
              <a:solidFill>
                <a:srgbClr val="000000"/>
              </a:solidFill>
            </a:ln>
          </p:spPr>
        </p:sp>
        <p:sp>
          <p:nvSpPr>
            <p:cNvPr id="33" name="Freeform 33"/>
            <p:cNvSpPr/>
            <p:nvPr/>
          </p:nvSpPr>
          <p:spPr>
            <a:xfrm>
              <a:off x="0" y="0"/>
              <a:ext cx="11087100" cy="1168146"/>
            </a:xfrm>
            <a:custGeom>
              <a:avLst/>
              <a:gdLst/>
              <a:ahLst/>
              <a:cxnLst/>
              <a:rect l="l" t="t" r="r" b="b"/>
              <a:pathLst>
                <a:path w="11087100" h="1168146">
                  <a:moveTo>
                    <a:pt x="0" y="134620"/>
                  </a:moveTo>
                  <a:cubicBezTo>
                    <a:pt x="0" y="60071"/>
                    <a:pt x="61595" y="0"/>
                    <a:pt x="137033" y="0"/>
                  </a:cubicBezTo>
                  <a:lnTo>
                    <a:pt x="10950067" y="0"/>
                  </a:lnTo>
                  <a:lnTo>
                    <a:pt x="10950067" y="12700"/>
                  </a:lnTo>
                  <a:lnTo>
                    <a:pt x="10950067" y="0"/>
                  </a:lnTo>
                  <a:cubicBezTo>
                    <a:pt x="11025505" y="0"/>
                    <a:pt x="11087100" y="60071"/>
                    <a:pt x="11087100" y="134620"/>
                  </a:cubicBezTo>
                  <a:lnTo>
                    <a:pt x="11074400" y="134620"/>
                  </a:lnTo>
                  <a:lnTo>
                    <a:pt x="11087100" y="134620"/>
                  </a:lnTo>
                  <a:lnTo>
                    <a:pt x="11087100" y="1033526"/>
                  </a:lnTo>
                  <a:lnTo>
                    <a:pt x="11074400" y="1033526"/>
                  </a:lnTo>
                  <a:lnTo>
                    <a:pt x="11087100" y="1033526"/>
                  </a:lnTo>
                  <a:cubicBezTo>
                    <a:pt x="11087100" y="1108075"/>
                    <a:pt x="11025505" y="1168146"/>
                    <a:pt x="10950067" y="1168146"/>
                  </a:cubicBezTo>
                  <a:lnTo>
                    <a:pt x="10950067" y="1155446"/>
                  </a:lnTo>
                  <a:lnTo>
                    <a:pt x="10950067" y="1168146"/>
                  </a:lnTo>
                  <a:lnTo>
                    <a:pt x="137033" y="1168146"/>
                  </a:lnTo>
                  <a:lnTo>
                    <a:pt x="137033" y="1155446"/>
                  </a:lnTo>
                  <a:lnTo>
                    <a:pt x="137033" y="1168146"/>
                  </a:lnTo>
                  <a:cubicBezTo>
                    <a:pt x="61595" y="1168146"/>
                    <a:pt x="0" y="1108202"/>
                    <a:pt x="0" y="1033526"/>
                  </a:cubicBezTo>
                  <a:lnTo>
                    <a:pt x="0" y="134620"/>
                  </a:lnTo>
                  <a:lnTo>
                    <a:pt x="12700" y="134620"/>
                  </a:lnTo>
                  <a:lnTo>
                    <a:pt x="0" y="134620"/>
                  </a:lnTo>
                  <a:moveTo>
                    <a:pt x="25400" y="134620"/>
                  </a:moveTo>
                  <a:lnTo>
                    <a:pt x="25400" y="1033526"/>
                  </a:lnTo>
                  <a:lnTo>
                    <a:pt x="12700" y="1033526"/>
                  </a:lnTo>
                  <a:lnTo>
                    <a:pt x="25400" y="1033526"/>
                  </a:lnTo>
                  <a:cubicBezTo>
                    <a:pt x="25400" y="1093597"/>
                    <a:pt x="75184" y="1142746"/>
                    <a:pt x="137033" y="1142746"/>
                  </a:cubicBezTo>
                  <a:lnTo>
                    <a:pt x="10950067" y="1142746"/>
                  </a:lnTo>
                  <a:cubicBezTo>
                    <a:pt x="11011916" y="1142746"/>
                    <a:pt x="11061700" y="1093597"/>
                    <a:pt x="11061700" y="1033526"/>
                  </a:cubicBezTo>
                  <a:lnTo>
                    <a:pt x="11061700" y="134620"/>
                  </a:lnTo>
                  <a:cubicBezTo>
                    <a:pt x="11061700" y="74549"/>
                    <a:pt x="11011916" y="25400"/>
                    <a:pt x="10950067" y="25400"/>
                  </a:cubicBezTo>
                  <a:lnTo>
                    <a:pt x="137033" y="25400"/>
                  </a:lnTo>
                  <a:lnTo>
                    <a:pt x="137033" y="12700"/>
                  </a:lnTo>
                  <a:lnTo>
                    <a:pt x="137033" y="25400"/>
                  </a:lnTo>
                  <a:cubicBezTo>
                    <a:pt x="75184" y="25400"/>
                    <a:pt x="25400" y="74549"/>
                    <a:pt x="25400" y="134620"/>
                  </a:cubicBezTo>
                  <a:close/>
                </a:path>
              </a:pathLst>
            </a:custGeom>
            <a:solidFill>
              <a:srgbClr val="D6BADD"/>
            </a:solidFill>
            <a:ln w="12700">
              <a:solidFill>
                <a:srgbClr val="000000"/>
              </a:solidFill>
            </a:ln>
          </p:spPr>
        </p:sp>
      </p:grpSp>
      <p:grpSp>
        <p:nvGrpSpPr>
          <p:cNvPr id="34" name="Group 34"/>
          <p:cNvGrpSpPr/>
          <p:nvPr/>
        </p:nvGrpSpPr>
        <p:grpSpPr>
          <a:xfrm>
            <a:off x="9033272" y="6910835"/>
            <a:ext cx="76200" cy="857098"/>
            <a:chOff x="0" y="0"/>
            <a:chExt cx="101600" cy="1142797"/>
          </a:xfrm>
        </p:grpSpPr>
        <p:sp>
          <p:nvSpPr>
            <p:cNvPr id="35" name="Freeform 35"/>
            <p:cNvSpPr/>
            <p:nvPr/>
          </p:nvSpPr>
          <p:spPr>
            <a:xfrm>
              <a:off x="0" y="0"/>
              <a:ext cx="101600" cy="1142746"/>
            </a:xfrm>
            <a:custGeom>
              <a:avLst/>
              <a:gdLst/>
              <a:ahLst/>
              <a:cxnLst/>
              <a:rect l="l" t="t" r="r" b="b"/>
              <a:pathLst>
                <a:path w="101600" h="1142746">
                  <a:moveTo>
                    <a:pt x="0" y="50800"/>
                  </a:moveTo>
                  <a:cubicBezTo>
                    <a:pt x="0" y="22733"/>
                    <a:pt x="22733" y="0"/>
                    <a:pt x="50800" y="0"/>
                  </a:cubicBezTo>
                  <a:cubicBezTo>
                    <a:pt x="78867" y="0"/>
                    <a:pt x="101600" y="22733"/>
                    <a:pt x="101600" y="50800"/>
                  </a:cubicBezTo>
                  <a:lnTo>
                    <a:pt x="101600" y="1091946"/>
                  </a:lnTo>
                  <a:cubicBezTo>
                    <a:pt x="101600" y="1120013"/>
                    <a:pt x="78867" y="1142746"/>
                    <a:pt x="50800" y="1142746"/>
                  </a:cubicBezTo>
                  <a:cubicBezTo>
                    <a:pt x="22733" y="1142746"/>
                    <a:pt x="0" y="1120013"/>
                    <a:pt x="0" y="1091946"/>
                  </a:cubicBezTo>
                  <a:close/>
                </a:path>
              </a:pathLst>
            </a:custGeom>
            <a:solidFill>
              <a:srgbClr val="BE49DF"/>
            </a:solidFill>
            <a:ln w="12700">
              <a:solidFill>
                <a:srgbClr val="000000"/>
              </a:solidFill>
            </a:ln>
          </p:spPr>
        </p:sp>
      </p:grpSp>
      <p:sp>
        <p:nvSpPr>
          <p:cNvPr id="36" name="TextBox 36"/>
          <p:cNvSpPr txBox="1"/>
          <p:nvPr/>
        </p:nvSpPr>
        <p:spPr>
          <a:xfrm>
            <a:off x="9273778" y="7075141"/>
            <a:ext cx="1671342" cy="208807"/>
          </a:xfrm>
          <a:prstGeom prst="rect">
            <a:avLst/>
          </a:prstGeom>
        </p:spPr>
        <p:txBody>
          <a:bodyPr lIns="0" tIns="0" rIns="0" bIns="0" rtlCol="0" anchor="t">
            <a:spAutoFit/>
          </a:bodyPr>
          <a:lstStyle/>
          <a:p>
            <a:pPr algn="l">
              <a:lnSpc>
                <a:spcPts val="1624"/>
              </a:lnSpc>
            </a:pPr>
            <a:r>
              <a:rPr lang="en-US" sz="1312" b="1">
                <a:solidFill>
                  <a:srgbClr val="272525"/>
                </a:solidFill>
                <a:latin typeface="Source Serif Pro Bold"/>
                <a:ea typeface="Source Serif Pro Bold"/>
                <a:cs typeface="Source Serif Pro Bold"/>
                <a:sym typeface="Source Serif Pro Bold"/>
              </a:rPr>
              <a:t>Pattern Blindness</a:t>
            </a:r>
          </a:p>
        </p:txBody>
      </p:sp>
      <p:sp>
        <p:nvSpPr>
          <p:cNvPr id="37" name="TextBox 37"/>
          <p:cNvSpPr txBox="1"/>
          <p:nvPr/>
        </p:nvSpPr>
        <p:spPr>
          <a:xfrm>
            <a:off x="9273778" y="7323382"/>
            <a:ext cx="7910512" cy="280245"/>
          </a:xfrm>
          <a:prstGeom prst="rect">
            <a:avLst/>
          </a:prstGeom>
        </p:spPr>
        <p:txBody>
          <a:bodyPr lIns="0" tIns="0" rIns="0" bIns="0" rtlCol="0" anchor="t">
            <a:spAutoFit/>
          </a:bodyPr>
          <a:lstStyle/>
          <a:p>
            <a:pPr algn="l">
              <a:lnSpc>
                <a:spcPts val="1812"/>
              </a:lnSpc>
            </a:pPr>
            <a:r>
              <a:rPr lang="en-US" sz="1124">
                <a:solidFill>
                  <a:srgbClr val="272525"/>
                </a:solidFill>
                <a:latin typeface="Source Sans 3"/>
                <a:ea typeface="Source Sans 3"/>
                <a:cs typeface="Source Sans 3"/>
                <a:sym typeface="Source Sans 3"/>
              </a:rPr>
              <a:t>Inability to detect non-linear behavioral anomalies and subtle deviations from normal transaction profiles</a:t>
            </a:r>
          </a:p>
        </p:txBody>
      </p:sp>
      <p:grpSp>
        <p:nvGrpSpPr>
          <p:cNvPr id="38" name="Group 38"/>
          <p:cNvGrpSpPr/>
          <p:nvPr/>
        </p:nvGrpSpPr>
        <p:grpSpPr>
          <a:xfrm>
            <a:off x="601266" y="7903664"/>
            <a:ext cx="8315325" cy="876148"/>
            <a:chOff x="0" y="0"/>
            <a:chExt cx="11087100" cy="1168197"/>
          </a:xfrm>
        </p:grpSpPr>
        <p:sp>
          <p:nvSpPr>
            <p:cNvPr id="39" name="Freeform 39"/>
            <p:cNvSpPr/>
            <p:nvPr/>
          </p:nvSpPr>
          <p:spPr>
            <a:xfrm>
              <a:off x="12700" y="12700"/>
              <a:ext cx="11061700" cy="1142746"/>
            </a:xfrm>
            <a:custGeom>
              <a:avLst/>
              <a:gdLst/>
              <a:ahLst/>
              <a:cxnLst/>
              <a:rect l="l" t="t" r="r" b="b"/>
              <a:pathLst>
                <a:path w="11061700" h="1142746">
                  <a:moveTo>
                    <a:pt x="0" y="121920"/>
                  </a:moveTo>
                  <a:cubicBezTo>
                    <a:pt x="0" y="54610"/>
                    <a:pt x="55626" y="0"/>
                    <a:pt x="124333" y="0"/>
                  </a:cubicBezTo>
                  <a:lnTo>
                    <a:pt x="10937367" y="0"/>
                  </a:lnTo>
                  <a:cubicBezTo>
                    <a:pt x="11006074" y="0"/>
                    <a:pt x="11061700" y="54610"/>
                    <a:pt x="11061700" y="121920"/>
                  </a:cubicBezTo>
                  <a:lnTo>
                    <a:pt x="11061700" y="1020826"/>
                  </a:lnTo>
                  <a:cubicBezTo>
                    <a:pt x="11061700" y="1088136"/>
                    <a:pt x="11006074" y="1142746"/>
                    <a:pt x="10937367" y="1142746"/>
                  </a:cubicBezTo>
                  <a:lnTo>
                    <a:pt x="124333" y="1142746"/>
                  </a:lnTo>
                  <a:cubicBezTo>
                    <a:pt x="55626" y="1142746"/>
                    <a:pt x="0" y="1088136"/>
                    <a:pt x="0" y="1020826"/>
                  </a:cubicBezTo>
                  <a:close/>
                </a:path>
              </a:pathLst>
            </a:custGeom>
            <a:solidFill>
              <a:srgbClr val="FFFFFF">
                <a:alpha val="90196"/>
              </a:srgbClr>
            </a:solidFill>
            <a:ln w="12700">
              <a:solidFill>
                <a:srgbClr val="000000"/>
              </a:solidFill>
            </a:ln>
          </p:spPr>
        </p:sp>
        <p:sp>
          <p:nvSpPr>
            <p:cNvPr id="40" name="Freeform 40"/>
            <p:cNvSpPr/>
            <p:nvPr/>
          </p:nvSpPr>
          <p:spPr>
            <a:xfrm>
              <a:off x="0" y="0"/>
              <a:ext cx="11087100" cy="1168146"/>
            </a:xfrm>
            <a:custGeom>
              <a:avLst/>
              <a:gdLst/>
              <a:ahLst/>
              <a:cxnLst/>
              <a:rect l="l" t="t" r="r" b="b"/>
              <a:pathLst>
                <a:path w="11087100" h="1168146">
                  <a:moveTo>
                    <a:pt x="0" y="134620"/>
                  </a:moveTo>
                  <a:cubicBezTo>
                    <a:pt x="0" y="60071"/>
                    <a:pt x="61595" y="0"/>
                    <a:pt x="137033" y="0"/>
                  </a:cubicBezTo>
                  <a:lnTo>
                    <a:pt x="10950067" y="0"/>
                  </a:lnTo>
                  <a:lnTo>
                    <a:pt x="10950067" y="12700"/>
                  </a:lnTo>
                  <a:lnTo>
                    <a:pt x="10950067" y="0"/>
                  </a:lnTo>
                  <a:cubicBezTo>
                    <a:pt x="11025505" y="0"/>
                    <a:pt x="11087100" y="60071"/>
                    <a:pt x="11087100" y="134620"/>
                  </a:cubicBezTo>
                  <a:lnTo>
                    <a:pt x="11074400" y="134620"/>
                  </a:lnTo>
                  <a:lnTo>
                    <a:pt x="11087100" y="134620"/>
                  </a:lnTo>
                  <a:lnTo>
                    <a:pt x="11087100" y="1033526"/>
                  </a:lnTo>
                  <a:lnTo>
                    <a:pt x="11074400" y="1033526"/>
                  </a:lnTo>
                  <a:lnTo>
                    <a:pt x="11087100" y="1033526"/>
                  </a:lnTo>
                  <a:cubicBezTo>
                    <a:pt x="11087100" y="1108075"/>
                    <a:pt x="11025505" y="1168146"/>
                    <a:pt x="10950067" y="1168146"/>
                  </a:cubicBezTo>
                  <a:lnTo>
                    <a:pt x="10950067" y="1155446"/>
                  </a:lnTo>
                  <a:lnTo>
                    <a:pt x="10950067" y="1168146"/>
                  </a:lnTo>
                  <a:lnTo>
                    <a:pt x="137033" y="1168146"/>
                  </a:lnTo>
                  <a:lnTo>
                    <a:pt x="137033" y="1155446"/>
                  </a:lnTo>
                  <a:lnTo>
                    <a:pt x="137033" y="1168146"/>
                  </a:lnTo>
                  <a:cubicBezTo>
                    <a:pt x="61595" y="1168146"/>
                    <a:pt x="0" y="1108202"/>
                    <a:pt x="0" y="1033526"/>
                  </a:cubicBezTo>
                  <a:lnTo>
                    <a:pt x="0" y="134620"/>
                  </a:lnTo>
                  <a:lnTo>
                    <a:pt x="12700" y="134620"/>
                  </a:lnTo>
                  <a:lnTo>
                    <a:pt x="0" y="134620"/>
                  </a:lnTo>
                  <a:moveTo>
                    <a:pt x="25400" y="134620"/>
                  </a:moveTo>
                  <a:lnTo>
                    <a:pt x="25400" y="1033526"/>
                  </a:lnTo>
                  <a:lnTo>
                    <a:pt x="12700" y="1033526"/>
                  </a:lnTo>
                  <a:lnTo>
                    <a:pt x="25400" y="1033526"/>
                  </a:lnTo>
                  <a:cubicBezTo>
                    <a:pt x="25400" y="1093597"/>
                    <a:pt x="75184" y="1142746"/>
                    <a:pt x="137033" y="1142746"/>
                  </a:cubicBezTo>
                  <a:lnTo>
                    <a:pt x="10950067" y="1142746"/>
                  </a:lnTo>
                  <a:cubicBezTo>
                    <a:pt x="11011916" y="1142746"/>
                    <a:pt x="11061700" y="1093597"/>
                    <a:pt x="11061700" y="1033526"/>
                  </a:cubicBezTo>
                  <a:lnTo>
                    <a:pt x="11061700" y="134620"/>
                  </a:lnTo>
                  <a:cubicBezTo>
                    <a:pt x="11061700" y="74549"/>
                    <a:pt x="11011916" y="25400"/>
                    <a:pt x="10950067" y="25400"/>
                  </a:cubicBezTo>
                  <a:lnTo>
                    <a:pt x="137033" y="25400"/>
                  </a:lnTo>
                  <a:lnTo>
                    <a:pt x="137033" y="12700"/>
                  </a:lnTo>
                  <a:lnTo>
                    <a:pt x="137033" y="25400"/>
                  </a:lnTo>
                  <a:cubicBezTo>
                    <a:pt x="75184" y="25400"/>
                    <a:pt x="25400" y="74549"/>
                    <a:pt x="25400" y="134620"/>
                  </a:cubicBezTo>
                  <a:close/>
                </a:path>
              </a:pathLst>
            </a:custGeom>
            <a:solidFill>
              <a:srgbClr val="D6BADD"/>
            </a:solidFill>
            <a:ln w="12700">
              <a:solidFill>
                <a:srgbClr val="000000"/>
              </a:solidFill>
            </a:ln>
          </p:spPr>
        </p:sp>
      </p:grpSp>
      <p:grpSp>
        <p:nvGrpSpPr>
          <p:cNvPr id="41" name="Group 41"/>
          <p:cNvGrpSpPr/>
          <p:nvPr/>
        </p:nvGrpSpPr>
        <p:grpSpPr>
          <a:xfrm>
            <a:off x="591741" y="7913189"/>
            <a:ext cx="76200" cy="857098"/>
            <a:chOff x="0" y="0"/>
            <a:chExt cx="101600" cy="1142797"/>
          </a:xfrm>
        </p:grpSpPr>
        <p:sp>
          <p:nvSpPr>
            <p:cNvPr id="42" name="Freeform 42"/>
            <p:cNvSpPr/>
            <p:nvPr/>
          </p:nvSpPr>
          <p:spPr>
            <a:xfrm>
              <a:off x="0" y="0"/>
              <a:ext cx="101600" cy="1142746"/>
            </a:xfrm>
            <a:custGeom>
              <a:avLst/>
              <a:gdLst/>
              <a:ahLst/>
              <a:cxnLst/>
              <a:rect l="l" t="t" r="r" b="b"/>
              <a:pathLst>
                <a:path w="101600" h="1142746">
                  <a:moveTo>
                    <a:pt x="0" y="50800"/>
                  </a:moveTo>
                  <a:cubicBezTo>
                    <a:pt x="0" y="22733"/>
                    <a:pt x="22733" y="0"/>
                    <a:pt x="50800" y="0"/>
                  </a:cubicBezTo>
                  <a:cubicBezTo>
                    <a:pt x="78867" y="0"/>
                    <a:pt x="101600" y="22733"/>
                    <a:pt x="101600" y="50800"/>
                  </a:cubicBezTo>
                  <a:lnTo>
                    <a:pt x="101600" y="1091946"/>
                  </a:lnTo>
                  <a:cubicBezTo>
                    <a:pt x="101600" y="1120013"/>
                    <a:pt x="78867" y="1142746"/>
                    <a:pt x="50800" y="1142746"/>
                  </a:cubicBezTo>
                  <a:cubicBezTo>
                    <a:pt x="22733" y="1142746"/>
                    <a:pt x="0" y="1120013"/>
                    <a:pt x="0" y="1091946"/>
                  </a:cubicBezTo>
                  <a:close/>
                </a:path>
              </a:pathLst>
            </a:custGeom>
            <a:solidFill>
              <a:srgbClr val="BE49DF"/>
            </a:solidFill>
            <a:ln w="12700">
              <a:solidFill>
                <a:srgbClr val="000000"/>
              </a:solidFill>
            </a:ln>
          </p:spPr>
        </p:sp>
      </p:grpSp>
      <p:sp>
        <p:nvSpPr>
          <p:cNvPr id="43" name="TextBox 43"/>
          <p:cNvSpPr txBox="1"/>
          <p:nvPr/>
        </p:nvSpPr>
        <p:spPr>
          <a:xfrm>
            <a:off x="832247" y="8077495"/>
            <a:ext cx="1671342" cy="208807"/>
          </a:xfrm>
          <a:prstGeom prst="rect">
            <a:avLst/>
          </a:prstGeom>
        </p:spPr>
        <p:txBody>
          <a:bodyPr lIns="0" tIns="0" rIns="0" bIns="0" rtlCol="0" anchor="t">
            <a:spAutoFit/>
          </a:bodyPr>
          <a:lstStyle/>
          <a:p>
            <a:pPr algn="l">
              <a:lnSpc>
                <a:spcPts val="1624"/>
              </a:lnSpc>
            </a:pPr>
            <a:r>
              <a:rPr lang="en-US" sz="1312" b="1">
                <a:solidFill>
                  <a:srgbClr val="272525"/>
                </a:solidFill>
                <a:latin typeface="Source Serif Pro Bold"/>
                <a:ea typeface="Source Serif Pro Bold"/>
                <a:cs typeface="Source Serif Pro Bold"/>
                <a:sym typeface="Source Serif Pro Bold"/>
              </a:rPr>
              <a:t>Delayed Response</a:t>
            </a:r>
          </a:p>
        </p:txBody>
      </p:sp>
      <p:sp>
        <p:nvSpPr>
          <p:cNvPr id="44" name="TextBox 44"/>
          <p:cNvSpPr txBox="1"/>
          <p:nvPr/>
        </p:nvSpPr>
        <p:spPr>
          <a:xfrm>
            <a:off x="832247" y="8325745"/>
            <a:ext cx="7910512" cy="280245"/>
          </a:xfrm>
          <a:prstGeom prst="rect">
            <a:avLst/>
          </a:prstGeom>
        </p:spPr>
        <p:txBody>
          <a:bodyPr lIns="0" tIns="0" rIns="0" bIns="0" rtlCol="0" anchor="t">
            <a:spAutoFit/>
          </a:bodyPr>
          <a:lstStyle/>
          <a:p>
            <a:pPr algn="l">
              <a:lnSpc>
                <a:spcPts val="1812"/>
              </a:lnSpc>
            </a:pPr>
            <a:r>
              <a:rPr lang="en-US" sz="1124">
                <a:solidFill>
                  <a:srgbClr val="272525"/>
                </a:solidFill>
                <a:latin typeface="Source Sans 3"/>
                <a:ea typeface="Source Sans 3"/>
                <a:cs typeface="Source Sans 3"/>
                <a:sym typeface="Source Sans 3"/>
              </a:rPr>
              <a:t>Batch processing architectures introduce critical delays between fraud occurrence and detection</a:t>
            </a:r>
          </a:p>
        </p:txBody>
      </p:sp>
      <p:grpSp>
        <p:nvGrpSpPr>
          <p:cNvPr id="45" name="Group 45"/>
          <p:cNvGrpSpPr/>
          <p:nvPr/>
        </p:nvGrpSpPr>
        <p:grpSpPr>
          <a:xfrm>
            <a:off x="9042797" y="7903664"/>
            <a:ext cx="8315325" cy="876148"/>
            <a:chOff x="0" y="0"/>
            <a:chExt cx="11087100" cy="1168197"/>
          </a:xfrm>
        </p:grpSpPr>
        <p:sp>
          <p:nvSpPr>
            <p:cNvPr id="46" name="Freeform 46"/>
            <p:cNvSpPr/>
            <p:nvPr/>
          </p:nvSpPr>
          <p:spPr>
            <a:xfrm>
              <a:off x="12700" y="12700"/>
              <a:ext cx="11061700" cy="1142746"/>
            </a:xfrm>
            <a:custGeom>
              <a:avLst/>
              <a:gdLst/>
              <a:ahLst/>
              <a:cxnLst/>
              <a:rect l="l" t="t" r="r" b="b"/>
              <a:pathLst>
                <a:path w="11061700" h="1142746">
                  <a:moveTo>
                    <a:pt x="0" y="121920"/>
                  </a:moveTo>
                  <a:cubicBezTo>
                    <a:pt x="0" y="54610"/>
                    <a:pt x="55626" y="0"/>
                    <a:pt x="124333" y="0"/>
                  </a:cubicBezTo>
                  <a:lnTo>
                    <a:pt x="10937367" y="0"/>
                  </a:lnTo>
                  <a:cubicBezTo>
                    <a:pt x="11006074" y="0"/>
                    <a:pt x="11061700" y="54610"/>
                    <a:pt x="11061700" y="121920"/>
                  </a:cubicBezTo>
                  <a:lnTo>
                    <a:pt x="11061700" y="1020826"/>
                  </a:lnTo>
                  <a:cubicBezTo>
                    <a:pt x="11061700" y="1088136"/>
                    <a:pt x="11006074" y="1142746"/>
                    <a:pt x="10937367" y="1142746"/>
                  </a:cubicBezTo>
                  <a:lnTo>
                    <a:pt x="124333" y="1142746"/>
                  </a:lnTo>
                  <a:cubicBezTo>
                    <a:pt x="55626" y="1142746"/>
                    <a:pt x="0" y="1088136"/>
                    <a:pt x="0" y="1020826"/>
                  </a:cubicBezTo>
                  <a:close/>
                </a:path>
              </a:pathLst>
            </a:custGeom>
            <a:solidFill>
              <a:srgbClr val="FFFFFF">
                <a:alpha val="90196"/>
              </a:srgbClr>
            </a:solidFill>
            <a:ln w="12700">
              <a:solidFill>
                <a:srgbClr val="000000"/>
              </a:solidFill>
            </a:ln>
          </p:spPr>
        </p:sp>
        <p:sp>
          <p:nvSpPr>
            <p:cNvPr id="47" name="Freeform 47"/>
            <p:cNvSpPr/>
            <p:nvPr/>
          </p:nvSpPr>
          <p:spPr>
            <a:xfrm>
              <a:off x="0" y="0"/>
              <a:ext cx="11087100" cy="1168146"/>
            </a:xfrm>
            <a:custGeom>
              <a:avLst/>
              <a:gdLst/>
              <a:ahLst/>
              <a:cxnLst/>
              <a:rect l="l" t="t" r="r" b="b"/>
              <a:pathLst>
                <a:path w="11087100" h="1168146">
                  <a:moveTo>
                    <a:pt x="0" y="134620"/>
                  </a:moveTo>
                  <a:cubicBezTo>
                    <a:pt x="0" y="60071"/>
                    <a:pt x="61595" y="0"/>
                    <a:pt x="137033" y="0"/>
                  </a:cubicBezTo>
                  <a:lnTo>
                    <a:pt x="10950067" y="0"/>
                  </a:lnTo>
                  <a:lnTo>
                    <a:pt x="10950067" y="12700"/>
                  </a:lnTo>
                  <a:lnTo>
                    <a:pt x="10950067" y="0"/>
                  </a:lnTo>
                  <a:cubicBezTo>
                    <a:pt x="11025505" y="0"/>
                    <a:pt x="11087100" y="60071"/>
                    <a:pt x="11087100" y="134620"/>
                  </a:cubicBezTo>
                  <a:lnTo>
                    <a:pt x="11074400" y="134620"/>
                  </a:lnTo>
                  <a:lnTo>
                    <a:pt x="11087100" y="134620"/>
                  </a:lnTo>
                  <a:lnTo>
                    <a:pt x="11087100" y="1033526"/>
                  </a:lnTo>
                  <a:lnTo>
                    <a:pt x="11074400" y="1033526"/>
                  </a:lnTo>
                  <a:lnTo>
                    <a:pt x="11087100" y="1033526"/>
                  </a:lnTo>
                  <a:cubicBezTo>
                    <a:pt x="11087100" y="1108075"/>
                    <a:pt x="11025505" y="1168146"/>
                    <a:pt x="10950067" y="1168146"/>
                  </a:cubicBezTo>
                  <a:lnTo>
                    <a:pt x="10950067" y="1155446"/>
                  </a:lnTo>
                  <a:lnTo>
                    <a:pt x="10950067" y="1168146"/>
                  </a:lnTo>
                  <a:lnTo>
                    <a:pt x="137033" y="1168146"/>
                  </a:lnTo>
                  <a:lnTo>
                    <a:pt x="137033" y="1155446"/>
                  </a:lnTo>
                  <a:lnTo>
                    <a:pt x="137033" y="1168146"/>
                  </a:lnTo>
                  <a:cubicBezTo>
                    <a:pt x="61595" y="1168146"/>
                    <a:pt x="0" y="1108202"/>
                    <a:pt x="0" y="1033526"/>
                  </a:cubicBezTo>
                  <a:lnTo>
                    <a:pt x="0" y="134620"/>
                  </a:lnTo>
                  <a:lnTo>
                    <a:pt x="12700" y="134620"/>
                  </a:lnTo>
                  <a:lnTo>
                    <a:pt x="0" y="134620"/>
                  </a:lnTo>
                  <a:moveTo>
                    <a:pt x="25400" y="134620"/>
                  </a:moveTo>
                  <a:lnTo>
                    <a:pt x="25400" y="1033526"/>
                  </a:lnTo>
                  <a:lnTo>
                    <a:pt x="12700" y="1033526"/>
                  </a:lnTo>
                  <a:lnTo>
                    <a:pt x="25400" y="1033526"/>
                  </a:lnTo>
                  <a:cubicBezTo>
                    <a:pt x="25400" y="1093597"/>
                    <a:pt x="75184" y="1142746"/>
                    <a:pt x="137033" y="1142746"/>
                  </a:cubicBezTo>
                  <a:lnTo>
                    <a:pt x="10950067" y="1142746"/>
                  </a:lnTo>
                  <a:cubicBezTo>
                    <a:pt x="11011916" y="1142746"/>
                    <a:pt x="11061700" y="1093597"/>
                    <a:pt x="11061700" y="1033526"/>
                  </a:cubicBezTo>
                  <a:lnTo>
                    <a:pt x="11061700" y="134620"/>
                  </a:lnTo>
                  <a:cubicBezTo>
                    <a:pt x="11061700" y="74549"/>
                    <a:pt x="11011916" y="25400"/>
                    <a:pt x="10950067" y="25400"/>
                  </a:cubicBezTo>
                  <a:lnTo>
                    <a:pt x="137033" y="25400"/>
                  </a:lnTo>
                  <a:lnTo>
                    <a:pt x="137033" y="12700"/>
                  </a:lnTo>
                  <a:lnTo>
                    <a:pt x="137033" y="25400"/>
                  </a:lnTo>
                  <a:cubicBezTo>
                    <a:pt x="75184" y="25400"/>
                    <a:pt x="25400" y="74549"/>
                    <a:pt x="25400" y="134620"/>
                  </a:cubicBezTo>
                  <a:close/>
                </a:path>
              </a:pathLst>
            </a:custGeom>
            <a:solidFill>
              <a:srgbClr val="D6BADD"/>
            </a:solidFill>
            <a:ln w="12700">
              <a:solidFill>
                <a:srgbClr val="000000"/>
              </a:solidFill>
            </a:ln>
          </p:spPr>
        </p:sp>
      </p:grpSp>
      <p:grpSp>
        <p:nvGrpSpPr>
          <p:cNvPr id="48" name="Group 48"/>
          <p:cNvGrpSpPr/>
          <p:nvPr/>
        </p:nvGrpSpPr>
        <p:grpSpPr>
          <a:xfrm>
            <a:off x="9033272" y="7913189"/>
            <a:ext cx="76200" cy="857098"/>
            <a:chOff x="0" y="0"/>
            <a:chExt cx="101600" cy="1142797"/>
          </a:xfrm>
        </p:grpSpPr>
        <p:sp>
          <p:nvSpPr>
            <p:cNvPr id="49" name="Freeform 49"/>
            <p:cNvSpPr/>
            <p:nvPr/>
          </p:nvSpPr>
          <p:spPr>
            <a:xfrm>
              <a:off x="0" y="0"/>
              <a:ext cx="101600" cy="1142746"/>
            </a:xfrm>
            <a:custGeom>
              <a:avLst/>
              <a:gdLst/>
              <a:ahLst/>
              <a:cxnLst/>
              <a:rect l="l" t="t" r="r" b="b"/>
              <a:pathLst>
                <a:path w="101600" h="1142746">
                  <a:moveTo>
                    <a:pt x="0" y="50800"/>
                  </a:moveTo>
                  <a:cubicBezTo>
                    <a:pt x="0" y="22733"/>
                    <a:pt x="22733" y="0"/>
                    <a:pt x="50800" y="0"/>
                  </a:cubicBezTo>
                  <a:cubicBezTo>
                    <a:pt x="78867" y="0"/>
                    <a:pt x="101600" y="22733"/>
                    <a:pt x="101600" y="50800"/>
                  </a:cubicBezTo>
                  <a:lnTo>
                    <a:pt x="101600" y="1091946"/>
                  </a:lnTo>
                  <a:cubicBezTo>
                    <a:pt x="101600" y="1120013"/>
                    <a:pt x="78867" y="1142746"/>
                    <a:pt x="50800" y="1142746"/>
                  </a:cubicBezTo>
                  <a:cubicBezTo>
                    <a:pt x="22733" y="1142746"/>
                    <a:pt x="0" y="1120013"/>
                    <a:pt x="0" y="1091946"/>
                  </a:cubicBezTo>
                  <a:close/>
                </a:path>
              </a:pathLst>
            </a:custGeom>
            <a:solidFill>
              <a:srgbClr val="BE49DF"/>
            </a:solidFill>
            <a:ln w="12700">
              <a:solidFill>
                <a:srgbClr val="000000"/>
              </a:solidFill>
            </a:ln>
          </p:spPr>
        </p:sp>
      </p:grpSp>
      <p:sp>
        <p:nvSpPr>
          <p:cNvPr id="50" name="TextBox 50"/>
          <p:cNvSpPr txBox="1"/>
          <p:nvPr/>
        </p:nvSpPr>
        <p:spPr>
          <a:xfrm>
            <a:off x="9273778" y="8077495"/>
            <a:ext cx="1671342" cy="208807"/>
          </a:xfrm>
          <a:prstGeom prst="rect">
            <a:avLst/>
          </a:prstGeom>
        </p:spPr>
        <p:txBody>
          <a:bodyPr lIns="0" tIns="0" rIns="0" bIns="0" rtlCol="0" anchor="t">
            <a:spAutoFit/>
          </a:bodyPr>
          <a:lstStyle/>
          <a:p>
            <a:pPr algn="l">
              <a:lnSpc>
                <a:spcPts val="1624"/>
              </a:lnSpc>
            </a:pPr>
            <a:r>
              <a:rPr lang="en-US" sz="1312" b="1">
                <a:solidFill>
                  <a:srgbClr val="272525"/>
                </a:solidFill>
                <a:latin typeface="Source Serif Pro Bold"/>
                <a:ea typeface="Source Serif Pro Bold"/>
                <a:cs typeface="Source Serif Pro Bold"/>
                <a:sym typeface="Source Serif Pro Bold"/>
              </a:rPr>
              <a:t>Audit Deficiency</a:t>
            </a:r>
          </a:p>
        </p:txBody>
      </p:sp>
      <p:sp>
        <p:nvSpPr>
          <p:cNvPr id="51" name="TextBox 51"/>
          <p:cNvSpPr txBox="1"/>
          <p:nvPr/>
        </p:nvSpPr>
        <p:spPr>
          <a:xfrm>
            <a:off x="9273778" y="8325745"/>
            <a:ext cx="7910512" cy="280245"/>
          </a:xfrm>
          <a:prstGeom prst="rect">
            <a:avLst/>
          </a:prstGeom>
        </p:spPr>
        <p:txBody>
          <a:bodyPr lIns="0" tIns="0" rIns="0" bIns="0" rtlCol="0" anchor="t">
            <a:spAutoFit/>
          </a:bodyPr>
          <a:lstStyle/>
          <a:p>
            <a:pPr algn="l">
              <a:lnSpc>
                <a:spcPts val="1812"/>
              </a:lnSpc>
            </a:pPr>
            <a:r>
              <a:rPr lang="en-US" sz="1124">
                <a:solidFill>
                  <a:srgbClr val="272525"/>
                </a:solidFill>
                <a:latin typeface="Source Sans 3"/>
                <a:ea typeface="Source Sans 3"/>
                <a:cs typeface="Source Sans 3"/>
                <a:sym typeface="Source Sans 3"/>
              </a:rPr>
              <a:t>Limited forensic capabilities and insufficient audit trails for regulatory compliance and investigation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a:ln w="12700">
              <a:solidFill>
                <a:srgbClr val="000000"/>
              </a:solidFill>
            </a:ln>
          </p:spPr>
        </p:sp>
      </p:grpSp>
      <p:sp>
        <p:nvSpPr>
          <p:cNvPr id="5" name="TextBox 5"/>
          <p:cNvSpPr txBox="1"/>
          <p:nvPr/>
        </p:nvSpPr>
        <p:spPr>
          <a:xfrm>
            <a:off x="1023347" y="856659"/>
            <a:ext cx="7983741" cy="690410"/>
          </a:xfrm>
          <a:prstGeom prst="rect">
            <a:avLst/>
          </a:prstGeom>
        </p:spPr>
        <p:txBody>
          <a:bodyPr lIns="0" tIns="0" rIns="0" bIns="0" rtlCol="0" anchor="t">
            <a:spAutoFit/>
          </a:bodyPr>
          <a:lstStyle/>
          <a:p>
            <a:pPr algn="l">
              <a:lnSpc>
                <a:spcPts val="5187"/>
              </a:lnSpc>
            </a:pPr>
            <a:r>
              <a:rPr lang="en-US" sz="4124" b="1">
                <a:solidFill>
                  <a:srgbClr val="000000"/>
                </a:solidFill>
                <a:latin typeface="Source Serif Pro Bold"/>
                <a:ea typeface="Source Serif Pro Bold"/>
                <a:cs typeface="Source Serif Pro Bold"/>
                <a:sym typeface="Source Serif Pro Bold"/>
              </a:rPr>
              <a:t>Proposed Solution: Fraud Pulse</a:t>
            </a:r>
          </a:p>
        </p:txBody>
      </p:sp>
      <p:sp>
        <p:nvSpPr>
          <p:cNvPr id="6" name="TextBox 6"/>
          <p:cNvSpPr txBox="1"/>
          <p:nvPr/>
        </p:nvSpPr>
        <p:spPr>
          <a:xfrm>
            <a:off x="1023347" y="1940871"/>
            <a:ext cx="16241316" cy="803377"/>
          </a:xfrm>
          <a:prstGeom prst="rect">
            <a:avLst/>
          </a:prstGeom>
        </p:spPr>
        <p:txBody>
          <a:bodyPr lIns="0" tIns="0" rIns="0" bIns="0" rtlCol="0" anchor="t">
            <a:spAutoFit/>
          </a:bodyPr>
          <a:lstStyle/>
          <a:p>
            <a:pPr algn="l">
              <a:lnSpc>
                <a:spcPts val="2875"/>
              </a:lnSpc>
            </a:pPr>
            <a:r>
              <a:rPr lang="en-US" sz="1812">
                <a:solidFill>
                  <a:srgbClr val="272525"/>
                </a:solidFill>
                <a:latin typeface="Source Sans 3"/>
                <a:ea typeface="Source Sans 3"/>
                <a:cs typeface="Source Sans 3"/>
                <a:sym typeface="Source Sans 3"/>
              </a:rPr>
              <a:t>Fraud Pulse represents a paradigm shift in fraud detection methodology—an AI-driven intelligence platform that replaces static rules with adaptive machine learning models. The system operates as a real-time decision support layer, strategically positioned between the Core Banking System and transaction settlement infrastructure.</a:t>
            </a:r>
          </a:p>
        </p:txBody>
      </p:sp>
      <p:sp>
        <p:nvSpPr>
          <p:cNvPr id="7" name="TextBox 7"/>
          <p:cNvSpPr txBox="1"/>
          <p:nvPr/>
        </p:nvSpPr>
        <p:spPr>
          <a:xfrm>
            <a:off x="1023347" y="2946054"/>
            <a:ext cx="230238" cy="344834"/>
          </a:xfrm>
          <a:prstGeom prst="rect">
            <a:avLst/>
          </a:prstGeom>
        </p:spPr>
        <p:txBody>
          <a:bodyPr lIns="0" tIns="0" rIns="0" bIns="0" rtlCol="0" anchor="t">
            <a:spAutoFit/>
          </a:bodyPr>
          <a:lstStyle/>
          <a:p>
            <a:pPr algn="l">
              <a:lnSpc>
                <a:spcPts val="2875"/>
              </a:lnSpc>
            </a:pPr>
            <a:r>
              <a:rPr lang="en-US" sz="1812">
                <a:solidFill>
                  <a:srgbClr val="272525"/>
                </a:solidFill>
                <a:latin typeface="Source Serif Pro"/>
                <a:ea typeface="Source Serif Pro"/>
                <a:cs typeface="Source Serif Pro"/>
                <a:sym typeface="Source Serif Pro"/>
              </a:rPr>
              <a:t>01</a:t>
            </a:r>
          </a:p>
        </p:txBody>
      </p:sp>
      <p:grpSp>
        <p:nvGrpSpPr>
          <p:cNvPr id="8" name="Group 8"/>
          <p:cNvGrpSpPr/>
          <p:nvPr/>
        </p:nvGrpSpPr>
        <p:grpSpPr>
          <a:xfrm>
            <a:off x="1023347" y="3365744"/>
            <a:ext cx="8005467" cy="28575"/>
            <a:chOff x="0" y="0"/>
            <a:chExt cx="10673956" cy="38100"/>
          </a:xfrm>
        </p:grpSpPr>
        <p:sp>
          <p:nvSpPr>
            <p:cNvPr id="9" name="Freeform 9"/>
            <p:cNvSpPr/>
            <p:nvPr/>
          </p:nvSpPr>
          <p:spPr>
            <a:xfrm>
              <a:off x="0" y="0"/>
              <a:ext cx="10673969" cy="38100"/>
            </a:xfrm>
            <a:custGeom>
              <a:avLst/>
              <a:gdLst/>
              <a:ahLst/>
              <a:cxnLst/>
              <a:rect l="l" t="t" r="r" b="b"/>
              <a:pathLst>
                <a:path w="10673969" h="38100">
                  <a:moveTo>
                    <a:pt x="0" y="0"/>
                  </a:moveTo>
                  <a:lnTo>
                    <a:pt x="10673969" y="0"/>
                  </a:lnTo>
                  <a:lnTo>
                    <a:pt x="10673969" y="38100"/>
                  </a:lnTo>
                  <a:lnTo>
                    <a:pt x="0" y="38100"/>
                  </a:lnTo>
                  <a:close/>
                </a:path>
              </a:pathLst>
            </a:custGeom>
            <a:solidFill>
              <a:srgbClr val="BE49DF"/>
            </a:solidFill>
            <a:ln w="12700">
              <a:solidFill>
                <a:srgbClr val="000000"/>
              </a:solidFill>
            </a:ln>
          </p:spPr>
        </p:sp>
      </p:grpSp>
      <p:sp>
        <p:nvSpPr>
          <p:cNvPr id="10" name="TextBox 10"/>
          <p:cNvSpPr txBox="1"/>
          <p:nvPr/>
        </p:nvSpPr>
        <p:spPr>
          <a:xfrm>
            <a:off x="1023347" y="3518897"/>
            <a:ext cx="2647798" cy="349891"/>
          </a:xfrm>
          <a:prstGeom prst="rect">
            <a:avLst/>
          </a:prstGeom>
        </p:spPr>
        <p:txBody>
          <a:bodyPr lIns="0" tIns="0" rIns="0" bIns="0" rtlCol="0" anchor="t">
            <a:spAutoFit/>
          </a:bodyPr>
          <a:lstStyle/>
          <a:p>
            <a:pPr algn="l">
              <a:lnSpc>
                <a:spcPts val="2562"/>
              </a:lnSpc>
            </a:pPr>
            <a:r>
              <a:rPr lang="en-US" sz="2062" b="1">
                <a:solidFill>
                  <a:srgbClr val="272525"/>
                </a:solidFill>
                <a:latin typeface="Source Serif Pro Bold"/>
                <a:ea typeface="Source Serif Pro Bold"/>
                <a:cs typeface="Source Serif Pro Bold"/>
                <a:sym typeface="Source Serif Pro Bold"/>
              </a:rPr>
              <a:t>Intelligent Detection</a:t>
            </a:r>
          </a:p>
        </p:txBody>
      </p:sp>
      <p:sp>
        <p:nvSpPr>
          <p:cNvPr id="11" name="TextBox 11"/>
          <p:cNvSpPr txBox="1"/>
          <p:nvPr/>
        </p:nvSpPr>
        <p:spPr>
          <a:xfrm>
            <a:off x="1023347" y="3940226"/>
            <a:ext cx="8005467" cy="803377"/>
          </a:xfrm>
          <a:prstGeom prst="rect">
            <a:avLst/>
          </a:prstGeom>
        </p:spPr>
        <p:txBody>
          <a:bodyPr lIns="0" tIns="0" rIns="0" bIns="0" rtlCol="0" anchor="t">
            <a:spAutoFit/>
          </a:bodyPr>
          <a:lstStyle/>
          <a:p>
            <a:pPr algn="l">
              <a:lnSpc>
                <a:spcPts val="2875"/>
              </a:lnSpc>
            </a:pPr>
            <a:r>
              <a:rPr lang="en-US" sz="1812">
                <a:solidFill>
                  <a:srgbClr val="272525"/>
                </a:solidFill>
                <a:latin typeface="Source Sans 3"/>
                <a:ea typeface="Source Sans 3"/>
                <a:cs typeface="Source Sans 3"/>
                <a:sym typeface="Source Sans 3"/>
              </a:rPr>
              <a:t>Machine learning models analyze transaction patterns in real-time, identifying sophisticated fraud indicators invisible to traditional systems</a:t>
            </a:r>
          </a:p>
        </p:txBody>
      </p:sp>
      <p:sp>
        <p:nvSpPr>
          <p:cNvPr id="12" name="TextBox 12"/>
          <p:cNvSpPr txBox="1"/>
          <p:nvPr/>
        </p:nvSpPr>
        <p:spPr>
          <a:xfrm>
            <a:off x="9259043" y="2946054"/>
            <a:ext cx="230238" cy="344834"/>
          </a:xfrm>
          <a:prstGeom prst="rect">
            <a:avLst/>
          </a:prstGeom>
        </p:spPr>
        <p:txBody>
          <a:bodyPr lIns="0" tIns="0" rIns="0" bIns="0" rtlCol="0" anchor="t">
            <a:spAutoFit/>
          </a:bodyPr>
          <a:lstStyle/>
          <a:p>
            <a:pPr algn="l">
              <a:lnSpc>
                <a:spcPts val="2875"/>
              </a:lnSpc>
            </a:pPr>
            <a:r>
              <a:rPr lang="en-US" sz="1812">
                <a:solidFill>
                  <a:srgbClr val="272525"/>
                </a:solidFill>
                <a:latin typeface="Source Serif Pro"/>
                <a:ea typeface="Source Serif Pro"/>
                <a:cs typeface="Source Serif Pro"/>
                <a:sym typeface="Source Serif Pro"/>
              </a:rPr>
              <a:t>02</a:t>
            </a:r>
          </a:p>
        </p:txBody>
      </p:sp>
      <p:grpSp>
        <p:nvGrpSpPr>
          <p:cNvPr id="13" name="Group 13"/>
          <p:cNvGrpSpPr/>
          <p:nvPr/>
        </p:nvGrpSpPr>
        <p:grpSpPr>
          <a:xfrm>
            <a:off x="9259043" y="3365744"/>
            <a:ext cx="8005610" cy="28575"/>
            <a:chOff x="0" y="0"/>
            <a:chExt cx="10674147" cy="38100"/>
          </a:xfrm>
        </p:grpSpPr>
        <p:sp>
          <p:nvSpPr>
            <p:cNvPr id="14" name="Freeform 14"/>
            <p:cNvSpPr/>
            <p:nvPr/>
          </p:nvSpPr>
          <p:spPr>
            <a:xfrm>
              <a:off x="0" y="0"/>
              <a:ext cx="10674096" cy="38100"/>
            </a:xfrm>
            <a:custGeom>
              <a:avLst/>
              <a:gdLst/>
              <a:ahLst/>
              <a:cxnLst/>
              <a:rect l="l" t="t" r="r" b="b"/>
              <a:pathLst>
                <a:path w="10674096" h="38100">
                  <a:moveTo>
                    <a:pt x="0" y="0"/>
                  </a:moveTo>
                  <a:lnTo>
                    <a:pt x="10674096" y="0"/>
                  </a:lnTo>
                  <a:lnTo>
                    <a:pt x="10674096" y="38100"/>
                  </a:lnTo>
                  <a:lnTo>
                    <a:pt x="0" y="38100"/>
                  </a:lnTo>
                  <a:close/>
                </a:path>
              </a:pathLst>
            </a:custGeom>
            <a:solidFill>
              <a:srgbClr val="BE49DF"/>
            </a:solidFill>
            <a:ln w="12700">
              <a:solidFill>
                <a:srgbClr val="000000"/>
              </a:solidFill>
            </a:ln>
          </p:spPr>
        </p:sp>
      </p:grpSp>
      <p:sp>
        <p:nvSpPr>
          <p:cNvPr id="15" name="TextBox 15"/>
          <p:cNvSpPr txBox="1"/>
          <p:nvPr/>
        </p:nvSpPr>
        <p:spPr>
          <a:xfrm>
            <a:off x="9259043" y="3518897"/>
            <a:ext cx="2746324" cy="349891"/>
          </a:xfrm>
          <a:prstGeom prst="rect">
            <a:avLst/>
          </a:prstGeom>
        </p:spPr>
        <p:txBody>
          <a:bodyPr lIns="0" tIns="0" rIns="0" bIns="0" rtlCol="0" anchor="t">
            <a:spAutoFit/>
          </a:bodyPr>
          <a:lstStyle/>
          <a:p>
            <a:pPr algn="l">
              <a:lnSpc>
                <a:spcPts val="2562"/>
              </a:lnSpc>
            </a:pPr>
            <a:r>
              <a:rPr lang="en-US" sz="2062" b="1">
                <a:solidFill>
                  <a:srgbClr val="272525"/>
                </a:solidFill>
                <a:latin typeface="Source Serif Pro Bold"/>
                <a:ea typeface="Source Serif Pro Bold"/>
                <a:cs typeface="Source Serif Pro Bold"/>
                <a:sym typeface="Source Serif Pro Bold"/>
              </a:rPr>
              <a:t>Real-Time Processing</a:t>
            </a:r>
          </a:p>
        </p:txBody>
      </p:sp>
      <p:sp>
        <p:nvSpPr>
          <p:cNvPr id="16" name="TextBox 16"/>
          <p:cNvSpPr txBox="1"/>
          <p:nvPr/>
        </p:nvSpPr>
        <p:spPr>
          <a:xfrm>
            <a:off x="9259043" y="3940226"/>
            <a:ext cx="8005610" cy="803377"/>
          </a:xfrm>
          <a:prstGeom prst="rect">
            <a:avLst/>
          </a:prstGeom>
        </p:spPr>
        <p:txBody>
          <a:bodyPr lIns="0" tIns="0" rIns="0" bIns="0" rtlCol="0" anchor="t">
            <a:spAutoFit/>
          </a:bodyPr>
          <a:lstStyle/>
          <a:p>
            <a:pPr algn="l">
              <a:lnSpc>
                <a:spcPts val="2875"/>
              </a:lnSpc>
            </a:pPr>
            <a:r>
              <a:rPr lang="en-US" sz="1812">
                <a:solidFill>
                  <a:srgbClr val="272525"/>
                </a:solidFill>
                <a:latin typeface="Source Sans 3"/>
                <a:ea typeface="Source Sans 3"/>
                <a:cs typeface="Source Sans 3"/>
                <a:sym typeface="Source Sans 3"/>
              </a:rPr>
              <a:t>Sub-100ms inference enables fraud detection before transaction settlement, preventing losses rather than detecting them post-facto</a:t>
            </a:r>
          </a:p>
        </p:txBody>
      </p:sp>
      <p:sp>
        <p:nvSpPr>
          <p:cNvPr id="17" name="TextBox 17"/>
          <p:cNvSpPr txBox="1"/>
          <p:nvPr/>
        </p:nvSpPr>
        <p:spPr>
          <a:xfrm>
            <a:off x="1023347" y="5089322"/>
            <a:ext cx="230238" cy="344834"/>
          </a:xfrm>
          <a:prstGeom prst="rect">
            <a:avLst/>
          </a:prstGeom>
        </p:spPr>
        <p:txBody>
          <a:bodyPr lIns="0" tIns="0" rIns="0" bIns="0" rtlCol="0" anchor="t">
            <a:spAutoFit/>
          </a:bodyPr>
          <a:lstStyle/>
          <a:p>
            <a:pPr algn="l">
              <a:lnSpc>
                <a:spcPts val="2875"/>
              </a:lnSpc>
            </a:pPr>
            <a:r>
              <a:rPr lang="en-US" sz="1812">
                <a:solidFill>
                  <a:srgbClr val="272525"/>
                </a:solidFill>
                <a:latin typeface="Source Serif Pro"/>
                <a:ea typeface="Source Serif Pro"/>
                <a:cs typeface="Source Serif Pro"/>
                <a:sym typeface="Source Serif Pro"/>
              </a:rPr>
              <a:t>03</a:t>
            </a:r>
          </a:p>
        </p:txBody>
      </p:sp>
      <p:grpSp>
        <p:nvGrpSpPr>
          <p:cNvPr id="18" name="Group 18"/>
          <p:cNvGrpSpPr/>
          <p:nvPr/>
        </p:nvGrpSpPr>
        <p:grpSpPr>
          <a:xfrm>
            <a:off x="1023347" y="5509022"/>
            <a:ext cx="8005467" cy="28575"/>
            <a:chOff x="0" y="0"/>
            <a:chExt cx="10673956" cy="38100"/>
          </a:xfrm>
        </p:grpSpPr>
        <p:sp>
          <p:nvSpPr>
            <p:cNvPr id="19" name="Freeform 19"/>
            <p:cNvSpPr/>
            <p:nvPr/>
          </p:nvSpPr>
          <p:spPr>
            <a:xfrm>
              <a:off x="0" y="0"/>
              <a:ext cx="10673969" cy="38100"/>
            </a:xfrm>
            <a:custGeom>
              <a:avLst/>
              <a:gdLst/>
              <a:ahLst/>
              <a:cxnLst/>
              <a:rect l="l" t="t" r="r" b="b"/>
              <a:pathLst>
                <a:path w="10673969" h="38100">
                  <a:moveTo>
                    <a:pt x="0" y="0"/>
                  </a:moveTo>
                  <a:lnTo>
                    <a:pt x="10673969" y="0"/>
                  </a:lnTo>
                  <a:lnTo>
                    <a:pt x="10673969" y="38100"/>
                  </a:lnTo>
                  <a:lnTo>
                    <a:pt x="0" y="38100"/>
                  </a:lnTo>
                  <a:close/>
                </a:path>
              </a:pathLst>
            </a:custGeom>
            <a:solidFill>
              <a:srgbClr val="BE49DF"/>
            </a:solidFill>
            <a:ln w="12700">
              <a:solidFill>
                <a:srgbClr val="000000"/>
              </a:solidFill>
            </a:ln>
          </p:spPr>
        </p:sp>
      </p:grpSp>
      <p:sp>
        <p:nvSpPr>
          <p:cNvPr id="20" name="TextBox 20"/>
          <p:cNvSpPr txBox="1"/>
          <p:nvPr/>
        </p:nvSpPr>
        <p:spPr>
          <a:xfrm>
            <a:off x="1023347" y="5662165"/>
            <a:ext cx="2647798" cy="349891"/>
          </a:xfrm>
          <a:prstGeom prst="rect">
            <a:avLst/>
          </a:prstGeom>
        </p:spPr>
        <p:txBody>
          <a:bodyPr lIns="0" tIns="0" rIns="0" bIns="0" rtlCol="0" anchor="t">
            <a:spAutoFit/>
          </a:bodyPr>
          <a:lstStyle/>
          <a:p>
            <a:pPr algn="l">
              <a:lnSpc>
                <a:spcPts val="2562"/>
              </a:lnSpc>
            </a:pPr>
            <a:r>
              <a:rPr lang="en-US" sz="2062" b="1">
                <a:solidFill>
                  <a:srgbClr val="272525"/>
                </a:solidFill>
                <a:latin typeface="Source Serif Pro Bold"/>
                <a:ea typeface="Source Serif Pro Bold"/>
                <a:cs typeface="Source Serif Pro Bold"/>
                <a:sym typeface="Source Serif Pro Bold"/>
              </a:rPr>
              <a:t>Adaptive Learning</a:t>
            </a:r>
          </a:p>
        </p:txBody>
      </p:sp>
      <p:sp>
        <p:nvSpPr>
          <p:cNvPr id="21" name="TextBox 21"/>
          <p:cNvSpPr txBox="1"/>
          <p:nvPr/>
        </p:nvSpPr>
        <p:spPr>
          <a:xfrm>
            <a:off x="1023347" y="6083503"/>
            <a:ext cx="8005467" cy="803377"/>
          </a:xfrm>
          <a:prstGeom prst="rect">
            <a:avLst/>
          </a:prstGeom>
        </p:spPr>
        <p:txBody>
          <a:bodyPr lIns="0" tIns="0" rIns="0" bIns="0" rtlCol="0" anchor="t">
            <a:spAutoFit/>
          </a:bodyPr>
          <a:lstStyle/>
          <a:p>
            <a:pPr algn="l">
              <a:lnSpc>
                <a:spcPts val="2875"/>
              </a:lnSpc>
            </a:pPr>
            <a:r>
              <a:rPr lang="en-US" sz="1812">
                <a:solidFill>
                  <a:srgbClr val="272525"/>
                </a:solidFill>
                <a:latin typeface="Source Sans 3"/>
                <a:ea typeface="Source Sans 3"/>
                <a:cs typeface="Source Sans 3"/>
                <a:sym typeface="Source Sans 3"/>
              </a:rPr>
              <a:t>Ensemble models capture complex non-linear relationships and behavioral anomalies that evolve with fraud tactics</a:t>
            </a:r>
          </a:p>
        </p:txBody>
      </p:sp>
      <p:sp>
        <p:nvSpPr>
          <p:cNvPr id="22" name="TextBox 22"/>
          <p:cNvSpPr txBox="1"/>
          <p:nvPr/>
        </p:nvSpPr>
        <p:spPr>
          <a:xfrm>
            <a:off x="9259043" y="5089322"/>
            <a:ext cx="230238" cy="344834"/>
          </a:xfrm>
          <a:prstGeom prst="rect">
            <a:avLst/>
          </a:prstGeom>
        </p:spPr>
        <p:txBody>
          <a:bodyPr lIns="0" tIns="0" rIns="0" bIns="0" rtlCol="0" anchor="t">
            <a:spAutoFit/>
          </a:bodyPr>
          <a:lstStyle/>
          <a:p>
            <a:pPr algn="l">
              <a:lnSpc>
                <a:spcPts val="2875"/>
              </a:lnSpc>
            </a:pPr>
            <a:r>
              <a:rPr lang="en-US" sz="1812">
                <a:solidFill>
                  <a:srgbClr val="272525"/>
                </a:solidFill>
                <a:latin typeface="Source Serif Pro"/>
                <a:ea typeface="Source Serif Pro"/>
                <a:cs typeface="Source Serif Pro"/>
                <a:sym typeface="Source Serif Pro"/>
              </a:rPr>
              <a:t>04</a:t>
            </a:r>
          </a:p>
        </p:txBody>
      </p:sp>
      <p:grpSp>
        <p:nvGrpSpPr>
          <p:cNvPr id="23" name="Group 23"/>
          <p:cNvGrpSpPr/>
          <p:nvPr/>
        </p:nvGrpSpPr>
        <p:grpSpPr>
          <a:xfrm>
            <a:off x="9259043" y="5509022"/>
            <a:ext cx="8005610" cy="28575"/>
            <a:chOff x="0" y="0"/>
            <a:chExt cx="10674147" cy="38100"/>
          </a:xfrm>
        </p:grpSpPr>
        <p:sp>
          <p:nvSpPr>
            <p:cNvPr id="24" name="Freeform 24"/>
            <p:cNvSpPr/>
            <p:nvPr/>
          </p:nvSpPr>
          <p:spPr>
            <a:xfrm>
              <a:off x="0" y="0"/>
              <a:ext cx="10674096" cy="38100"/>
            </a:xfrm>
            <a:custGeom>
              <a:avLst/>
              <a:gdLst/>
              <a:ahLst/>
              <a:cxnLst/>
              <a:rect l="l" t="t" r="r" b="b"/>
              <a:pathLst>
                <a:path w="10674096" h="38100">
                  <a:moveTo>
                    <a:pt x="0" y="0"/>
                  </a:moveTo>
                  <a:lnTo>
                    <a:pt x="10674096" y="0"/>
                  </a:lnTo>
                  <a:lnTo>
                    <a:pt x="10674096" y="38100"/>
                  </a:lnTo>
                  <a:lnTo>
                    <a:pt x="0" y="38100"/>
                  </a:lnTo>
                  <a:close/>
                </a:path>
              </a:pathLst>
            </a:custGeom>
            <a:solidFill>
              <a:srgbClr val="BE49DF"/>
            </a:solidFill>
            <a:ln w="12700">
              <a:solidFill>
                <a:srgbClr val="000000"/>
              </a:solidFill>
            </a:ln>
          </p:spPr>
        </p:sp>
      </p:grpSp>
      <p:sp>
        <p:nvSpPr>
          <p:cNvPr id="25" name="TextBox 25"/>
          <p:cNvSpPr txBox="1"/>
          <p:nvPr/>
        </p:nvSpPr>
        <p:spPr>
          <a:xfrm>
            <a:off x="9259043" y="5662165"/>
            <a:ext cx="2647798" cy="349891"/>
          </a:xfrm>
          <a:prstGeom prst="rect">
            <a:avLst/>
          </a:prstGeom>
        </p:spPr>
        <p:txBody>
          <a:bodyPr lIns="0" tIns="0" rIns="0" bIns="0" rtlCol="0" anchor="t">
            <a:spAutoFit/>
          </a:bodyPr>
          <a:lstStyle/>
          <a:p>
            <a:pPr algn="l">
              <a:lnSpc>
                <a:spcPts val="2562"/>
              </a:lnSpc>
            </a:pPr>
            <a:r>
              <a:rPr lang="en-US" sz="2062" b="1">
                <a:solidFill>
                  <a:srgbClr val="272525"/>
                </a:solidFill>
                <a:latin typeface="Source Serif Pro Bold"/>
                <a:ea typeface="Source Serif Pro Bold"/>
                <a:cs typeface="Source Serif Pro Bold"/>
                <a:sym typeface="Source Serif Pro Bold"/>
              </a:rPr>
              <a:t>Human Oversight</a:t>
            </a:r>
          </a:p>
        </p:txBody>
      </p:sp>
      <p:sp>
        <p:nvSpPr>
          <p:cNvPr id="26" name="TextBox 26"/>
          <p:cNvSpPr txBox="1"/>
          <p:nvPr/>
        </p:nvSpPr>
        <p:spPr>
          <a:xfrm>
            <a:off x="9259043" y="6083503"/>
            <a:ext cx="8005610" cy="803377"/>
          </a:xfrm>
          <a:prstGeom prst="rect">
            <a:avLst/>
          </a:prstGeom>
        </p:spPr>
        <p:txBody>
          <a:bodyPr lIns="0" tIns="0" rIns="0" bIns="0" rtlCol="0" anchor="t">
            <a:spAutoFit/>
          </a:bodyPr>
          <a:lstStyle/>
          <a:p>
            <a:pPr algn="l">
              <a:lnSpc>
                <a:spcPts val="2875"/>
              </a:lnSpc>
            </a:pPr>
            <a:r>
              <a:rPr lang="en-US" sz="1812">
                <a:solidFill>
                  <a:srgbClr val="272525"/>
                </a:solidFill>
                <a:latin typeface="Source Sans 3"/>
                <a:ea typeface="Source Sans 3"/>
                <a:cs typeface="Source Sans 3"/>
                <a:sym typeface="Source Sans 3"/>
              </a:rPr>
              <a:t>Human-in-the-loop design ensures critical decisions receive expert review while maintaining operational efficiency</a:t>
            </a:r>
          </a:p>
        </p:txBody>
      </p:sp>
      <p:sp>
        <p:nvSpPr>
          <p:cNvPr id="27" name="TextBox 27"/>
          <p:cNvSpPr txBox="1"/>
          <p:nvPr/>
        </p:nvSpPr>
        <p:spPr>
          <a:xfrm>
            <a:off x="1368628" y="7644708"/>
            <a:ext cx="6291710" cy="416128"/>
          </a:xfrm>
          <a:prstGeom prst="rect">
            <a:avLst/>
          </a:prstGeom>
        </p:spPr>
        <p:txBody>
          <a:bodyPr lIns="0" tIns="0" rIns="0" bIns="0" rtlCol="0" anchor="t">
            <a:spAutoFit/>
          </a:bodyPr>
          <a:lstStyle/>
          <a:p>
            <a:pPr algn="l">
              <a:lnSpc>
                <a:spcPts val="3124"/>
              </a:lnSpc>
            </a:pPr>
            <a:r>
              <a:rPr lang="en-US" sz="2499" b="1">
                <a:solidFill>
                  <a:srgbClr val="97B8FF"/>
                </a:solidFill>
                <a:latin typeface="Source Serif Pro Bold"/>
                <a:ea typeface="Source Serif Pro Bold"/>
                <a:cs typeface="Source Serif Pro Bold"/>
                <a:sym typeface="Source Serif Pro Bold"/>
              </a:rPr>
              <a:t>"Intelligence at the Speed of Transaction"</a:t>
            </a:r>
          </a:p>
        </p:txBody>
      </p:sp>
      <p:sp>
        <p:nvSpPr>
          <p:cNvPr id="28" name="TextBox 28"/>
          <p:cNvSpPr txBox="1"/>
          <p:nvPr/>
        </p:nvSpPr>
        <p:spPr>
          <a:xfrm>
            <a:off x="1368628" y="8339433"/>
            <a:ext cx="15896034" cy="803377"/>
          </a:xfrm>
          <a:prstGeom prst="rect">
            <a:avLst/>
          </a:prstGeom>
        </p:spPr>
        <p:txBody>
          <a:bodyPr lIns="0" tIns="0" rIns="0" bIns="0" rtlCol="0" anchor="t">
            <a:spAutoFit/>
          </a:bodyPr>
          <a:lstStyle/>
          <a:p>
            <a:pPr algn="l">
              <a:lnSpc>
                <a:spcPts val="2875"/>
              </a:lnSpc>
            </a:pPr>
            <a:r>
              <a:rPr lang="en-US" sz="1812">
                <a:solidFill>
                  <a:srgbClr val="272525"/>
                </a:solidFill>
                <a:latin typeface="Source Sans 3"/>
                <a:ea typeface="Source Sans 3"/>
                <a:cs typeface="Source Sans 3"/>
                <a:sym typeface="Source Sans 3"/>
              </a:rPr>
              <a:t>Fraud Pulse delivers predictive fraud intelligence synchronized with the velocity of modern digital payments, enabling proactive prevention rather than reactive detection.</a:t>
            </a:r>
          </a:p>
        </p:txBody>
      </p:sp>
      <p:grpSp>
        <p:nvGrpSpPr>
          <p:cNvPr id="29" name="Group 29"/>
          <p:cNvGrpSpPr/>
          <p:nvPr/>
        </p:nvGrpSpPr>
        <p:grpSpPr>
          <a:xfrm>
            <a:off x="1023347" y="7318477"/>
            <a:ext cx="28575" cy="2083298"/>
            <a:chOff x="0" y="0"/>
            <a:chExt cx="38100" cy="2777731"/>
          </a:xfrm>
        </p:grpSpPr>
        <p:sp>
          <p:nvSpPr>
            <p:cNvPr id="30" name="Freeform 30"/>
            <p:cNvSpPr/>
            <p:nvPr/>
          </p:nvSpPr>
          <p:spPr>
            <a:xfrm>
              <a:off x="0" y="0"/>
              <a:ext cx="38100" cy="2777744"/>
            </a:xfrm>
            <a:custGeom>
              <a:avLst/>
              <a:gdLst/>
              <a:ahLst/>
              <a:cxnLst/>
              <a:rect l="l" t="t" r="r" b="b"/>
              <a:pathLst>
                <a:path w="38100" h="2777744">
                  <a:moveTo>
                    <a:pt x="0" y="0"/>
                  </a:moveTo>
                  <a:lnTo>
                    <a:pt x="38100" y="0"/>
                  </a:lnTo>
                  <a:lnTo>
                    <a:pt x="38100" y="2777744"/>
                  </a:lnTo>
                  <a:lnTo>
                    <a:pt x="0" y="2777744"/>
                  </a:lnTo>
                  <a:close/>
                </a:path>
              </a:pathLst>
            </a:custGeom>
            <a:solidFill>
              <a:srgbClr val="BE49DF"/>
            </a:solidFill>
            <a:ln w="12700">
              <a:solidFill>
                <a:srgbClr val="000000"/>
              </a:solidFill>
            </a:ln>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a:ln w="12700">
              <a:solidFill>
                <a:srgbClr val="000000"/>
              </a:solidFill>
            </a:ln>
          </p:spPr>
        </p:sp>
      </p:grpSp>
      <p:sp>
        <p:nvSpPr>
          <p:cNvPr id="5" name="TextBox 5"/>
          <p:cNvSpPr txBox="1"/>
          <p:nvPr/>
        </p:nvSpPr>
        <p:spPr>
          <a:xfrm>
            <a:off x="1008459" y="666598"/>
            <a:ext cx="7229770" cy="644728"/>
          </a:xfrm>
          <a:prstGeom prst="rect">
            <a:avLst/>
          </a:prstGeom>
        </p:spPr>
        <p:txBody>
          <a:bodyPr lIns="0" tIns="0" rIns="0" bIns="0" rtlCol="0" anchor="t">
            <a:spAutoFit/>
          </a:bodyPr>
          <a:lstStyle/>
          <a:p>
            <a:pPr algn="l">
              <a:lnSpc>
                <a:spcPts val="4812"/>
              </a:lnSpc>
            </a:pPr>
            <a:r>
              <a:rPr lang="en-US" sz="3875" b="1">
                <a:solidFill>
                  <a:srgbClr val="000000"/>
                </a:solidFill>
                <a:latin typeface="Source Serif Pro Bold"/>
                <a:ea typeface="Source Serif Pro Bold"/>
                <a:cs typeface="Source Serif Pro Bold"/>
                <a:sym typeface="Source Serif Pro Bold"/>
              </a:rPr>
              <a:t>System Architecture Overview</a:t>
            </a:r>
          </a:p>
        </p:txBody>
      </p:sp>
      <p:sp>
        <p:nvSpPr>
          <p:cNvPr id="6" name="TextBox 6"/>
          <p:cNvSpPr txBox="1"/>
          <p:nvPr/>
        </p:nvSpPr>
        <p:spPr>
          <a:xfrm>
            <a:off x="1008459" y="1682801"/>
            <a:ext cx="16271081" cy="742950"/>
          </a:xfrm>
          <a:prstGeom prst="rect">
            <a:avLst/>
          </a:prstGeom>
        </p:spPr>
        <p:txBody>
          <a:bodyPr lIns="0" tIns="0" rIns="0" bIns="0" rtlCol="0" anchor="t">
            <a:spAutoFit/>
          </a:bodyPr>
          <a:lstStyle/>
          <a:p>
            <a:pPr algn="l">
              <a:lnSpc>
                <a:spcPts val="2687"/>
              </a:lnSpc>
            </a:pPr>
            <a:r>
              <a:rPr lang="en-US" sz="1687">
                <a:solidFill>
                  <a:srgbClr val="272525"/>
                </a:solidFill>
                <a:latin typeface="Source Sans 3"/>
                <a:ea typeface="Source Sans 3"/>
                <a:cs typeface="Source Sans 3"/>
                <a:sym typeface="Source Sans 3"/>
              </a:rPr>
              <a:t>Fraud Pulse implements a sophisticated three-layer architectural pattern designed for scalability, maintainability, and regulatory compliance. The architecture separates concerns across presentation, business logic, and data persistence layers while integrating human oversight and governance frameworks.</a:t>
            </a:r>
          </a:p>
        </p:txBody>
      </p:sp>
      <p:sp>
        <p:nvSpPr>
          <p:cNvPr id="7" name="Freeform 7" descr="preencoded.png"/>
          <p:cNvSpPr/>
          <p:nvPr/>
        </p:nvSpPr>
        <p:spPr>
          <a:xfrm>
            <a:off x="1008459" y="2666848"/>
            <a:ext cx="1071562" cy="1285875"/>
          </a:xfrm>
          <a:custGeom>
            <a:avLst/>
            <a:gdLst/>
            <a:ahLst/>
            <a:cxnLst/>
            <a:rect l="l" t="t" r="r" b="b"/>
            <a:pathLst>
              <a:path w="1071562" h="1285875">
                <a:moveTo>
                  <a:pt x="0" y="0"/>
                </a:moveTo>
                <a:lnTo>
                  <a:pt x="1071563" y="0"/>
                </a:lnTo>
                <a:lnTo>
                  <a:pt x="1071563" y="1285875"/>
                </a:lnTo>
                <a:lnTo>
                  <a:pt x="0" y="1285875"/>
                </a:lnTo>
                <a:lnTo>
                  <a:pt x="0" y="0"/>
                </a:lnTo>
                <a:close/>
              </a:path>
            </a:pathLst>
          </a:custGeom>
          <a:blipFill>
            <a:blip r:embed="rId4"/>
            <a:stretch>
              <a:fillRect l="-222" r="-222"/>
            </a:stretch>
          </a:blipFill>
        </p:spPr>
      </p:sp>
      <p:sp>
        <p:nvSpPr>
          <p:cNvPr id="8" name="TextBox 8"/>
          <p:cNvSpPr txBox="1"/>
          <p:nvPr/>
        </p:nvSpPr>
        <p:spPr>
          <a:xfrm>
            <a:off x="2294334" y="2871635"/>
            <a:ext cx="2464746" cy="317602"/>
          </a:xfrm>
          <a:prstGeom prst="rect">
            <a:avLst/>
          </a:prstGeom>
        </p:spPr>
        <p:txBody>
          <a:bodyPr lIns="0" tIns="0" rIns="0" bIns="0" rtlCol="0" anchor="t">
            <a:spAutoFit/>
          </a:bodyPr>
          <a:lstStyle/>
          <a:p>
            <a:pPr algn="l">
              <a:lnSpc>
                <a:spcPts val="2375"/>
              </a:lnSpc>
            </a:pPr>
            <a:r>
              <a:rPr lang="en-US" sz="1937" b="1">
                <a:solidFill>
                  <a:srgbClr val="272525"/>
                </a:solidFill>
                <a:latin typeface="Source Serif Pro Bold"/>
                <a:ea typeface="Source Serif Pro Bold"/>
                <a:cs typeface="Source Serif Pro Bold"/>
                <a:sym typeface="Source Serif Pro Bold"/>
              </a:rPr>
              <a:t>Frontend Layer</a:t>
            </a:r>
          </a:p>
        </p:txBody>
      </p:sp>
      <p:sp>
        <p:nvSpPr>
          <p:cNvPr id="9" name="TextBox 9"/>
          <p:cNvSpPr txBox="1"/>
          <p:nvPr/>
        </p:nvSpPr>
        <p:spPr>
          <a:xfrm>
            <a:off x="2294334" y="3260674"/>
            <a:ext cx="14985206" cy="400050"/>
          </a:xfrm>
          <a:prstGeom prst="rect">
            <a:avLst/>
          </a:prstGeom>
        </p:spPr>
        <p:txBody>
          <a:bodyPr lIns="0" tIns="0" rIns="0" bIns="0" rtlCol="0" anchor="t">
            <a:spAutoFit/>
          </a:bodyPr>
          <a:lstStyle/>
          <a:p>
            <a:pPr algn="l">
              <a:lnSpc>
                <a:spcPts val="2687"/>
              </a:lnSpc>
            </a:pPr>
            <a:r>
              <a:rPr lang="en-US" sz="1687">
                <a:solidFill>
                  <a:srgbClr val="272525"/>
                </a:solidFill>
                <a:latin typeface="Source Sans 3"/>
                <a:ea typeface="Source Sans 3"/>
                <a:cs typeface="Source Sans 3"/>
                <a:sym typeface="Source Sans 3"/>
              </a:rPr>
              <a:t>Streamlit-based responsive user interface providing real-time transaction input, risk visualization, and decision support dashboards</a:t>
            </a:r>
          </a:p>
        </p:txBody>
      </p:sp>
      <p:sp>
        <p:nvSpPr>
          <p:cNvPr id="10" name="Freeform 10" descr="preencoded.png"/>
          <p:cNvSpPr/>
          <p:nvPr/>
        </p:nvSpPr>
        <p:spPr>
          <a:xfrm>
            <a:off x="1008459" y="3952723"/>
            <a:ext cx="1071562" cy="1285875"/>
          </a:xfrm>
          <a:custGeom>
            <a:avLst/>
            <a:gdLst/>
            <a:ahLst/>
            <a:cxnLst/>
            <a:rect l="l" t="t" r="r" b="b"/>
            <a:pathLst>
              <a:path w="1071562" h="1285875">
                <a:moveTo>
                  <a:pt x="0" y="0"/>
                </a:moveTo>
                <a:lnTo>
                  <a:pt x="1071563" y="0"/>
                </a:lnTo>
                <a:lnTo>
                  <a:pt x="1071563" y="1285875"/>
                </a:lnTo>
                <a:lnTo>
                  <a:pt x="0" y="1285875"/>
                </a:lnTo>
                <a:lnTo>
                  <a:pt x="0" y="0"/>
                </a:lnTo>
                <a:close/>
              </a:path>
            </a:pathLst>
          </a:custGeom>
          <a:blipFill>
            <a:blip r:embed="rId5"/>
            <a:stretch>
              <a:fillRect l="-222" r="-222"/>
            </a:stretch>
          </a:blipFill>
        </p:spPr>
      </p:sp>
      <p:sp>
        <p:nvSpPr>
          <p:cNvPr id="11" name="TextBox 11"/>
          <p:cNvSpPr txBox="1"/>
          <p:nvPr/>
        </p:nvSpPr>
        <p:spPr>
          <a:xfrm>
            <a:off x="2294334" y="4157510"/>
            <a:ext cx="2822972" cy="317602"/>
          </a:xfrm>
          <a:prstGeom prst="rect">
            <a:avLst/>
          </a:prstGeom>
        </p:spPr>
        <p:txBody>
          <a:bodyPr lIns="0" tIns="0" rIns="0" bIns="0" rtlCol="0" anchor="t">
            <a:spAutoFit/>
          </a:bodyPr>
          <a:lstStyle/>
          <a:p>
            <a:pPr algn="l">
              <a:lnSpc>
                <a:spcPts val="2375"/>
              </a:lnSpc>
            </a:pPr>
            <a:r>
              <a:rPr lang="en-US" sz="1937" b="1">
                <a:solidFill>
                  <a:srgbClr val="272525"/>
                </a:solidFill>
                <a:latin typeface="Source Serif Pro Bold"/>
                <a:ea typeface="Source Serif Pro Bold"/>
                <a:cs typeface="Source Serif Pro Bold"/>
                <a:sym typeface="Source Serif Pro Bold"/>
              </a:rPr>
              <a:t>Application Logic Layer</a:t>
            </a:r>
          </a:p>
        </p:txBody>
      </p:sp>
      <p:sp>
        <p:nvSpPr>
          <p:cNvPr id="12" name="TextBox 12"/>
          <p:cNvSpPr txBox="1"/>
          <p:nvPr/>
        </p:nvSpPr>
        <p:spPr>
          <a:xfrm>
            <a:off x="2294334" y="4546549"/>
            <a:ext cx="14985206" cy="400050"/>
          </a:xfrm>
          <a:prstGeom prst="rect">
            <a:avLst/>
          </a:prstGeom>
        </p:spPr>
        <p:txBody>
          <a:bodyPr lIns="0" tIns="0" rIns="0" bIns="0" rtlCol="0" anchor="t">
            <a:spAutoFit/>
          </a:bodyPr>
          <a:lstStyle/>
          <a:p>
            <a:pPr algn="l">
              <a:lnSpc>
                <a:spcPts val="2687"/>
              </a:lnSpc>
            </a:pPr>
            <a:r>
              <a:rPr lang="en-US" sz="1687">
                <a:solidFill>
                  <a:srgbClr val="272525"/>
                </a:solidFill>
                <a:latin typeface="Source Sans 3"/>
                <a:ea typeface="Source Sans 3"/>
                <a:cs typeface="Source Sans 3"/>
                <a:sym typeface="Source Sans 3"/>
              </a:rPr>
              <a:t>Core intelligence engine encompassing authentication, feature engineering, ML inference, and business rule orchestration</a:t>
            </a:r>
          </a:p>
        </p:txBody>
      </p:sp>
      <p:sp>
        <p:nvSpPr>
          <p:cNvPr id="13" name="Freeform 13" descr="preencoded.png"/>
          <p:cNvSpPr/>
          <p:nvPr/>
        </p:nvSpPr>
        <p:spPr>
          <a:xfrm>
            <a:off x="1008459" y="5238598"/>
            <a:ext cx="1071562" cy="1285875"/>
          </a:xfrm>
          <a:custGeom>
            <a:avLst/>
            <a:gdLst/>
            <a:ahLst/>
            <a:cxnLst/>
            <a:rect l="l" t="t" r="r" b="b"/>
            <a:pathLst>
              <a:path w="1071562" h="1285875">
                <a:moveTo>
                  <a:pt x="0" y="0"/>
                </a:moveTo>
                <a:lnTo>
                  <a:pt x="1071563" y="0"/>
                </a:lnTo>
                <a:lnTo>
                  <a:pt x="1071563" y="1285875"/>
                </a:lnTo>
                <a:lnTo>
                  <a:pt x="0" y="1285875"/>
                </a:lnTo>
                <a:lnTo>
                  <a:pt x="0" y="0"/>
                </a:lnTo>
                <a:close/>
              </a:path>
            </a:pathLst>
          </a:custGeom>
          <a:blipFill>
            <a:blip r:embed="rId6"/>
            <a:stretch>
              <a:fillRect l="-222" r="-222"/>
            </a:stretch>
          </a:blipFill>
        </p:spPr>
      </p:sp>
      <p:sp>
        <p:nvSpPr>
          <p:cNvPr id="14" name="TextBox 14"/>
          <p:cNvSpPr txBox="1"/>
          <p:nvPr/>
        </p:nvSpPr>
        <p:spPr>
          <a:xfrm>
            <a:off x="2294334" y="5443385"/>
            <a:ext cx="2693937" cy="317602"/>
          </a:xfrm>
          <a:prstGeom prst="rect">
            <a:avLst/>
          </a:prstGeom>
        </p:spPr>
        <p:txBody>
          <a:bodyPr lIns="0" tIns="0" rIns="0" bIns="0" rtlCol="0" anchor="t">
            <a:spAutoFit/>
          </a:bodyPr>
          <a:lstStyle/>
          <a:p>
            <a:pPr algn="l">
              <a:lnSpc>
                <a:spcPts val="2375"/>
              </a:lnSpc>
            </a:pPr>
            <a:r>
              <a:rPr lang="en-US" sz="1937" b="1">
                <a:solidFill>
                  <a:srgbClr val="272525"/>
                </a:solidFill>
                <a:latin typeface="Source Serif Pro Bold"/>
                <a:ea typeface="Source Serif Pro Bold"/>
                <a:cs typeface="Source Serif Pro Bold"/>
                <a:sym typeface="Source Serif Pro Bold"/>
              </a:rPr>
              <a:t>Data Persistence Layer</a:t>
            </a:r>
          </a:p>
        </p:txBody>
      </p:sp>
      <p:sp>
        <p:nvSpPr>
          <p:cNvPr id="15" name="TextBox 15"/>
          <p:cNvSpPr txBox="1"/>
          <p:nvPr/>
        </p:nvSpPr>
        <p:spPr>
          <a:xfrm>
            <a:off x="2294334" y="5832424"/>
            <a:ext cx="14985206" cy="400050"/>
          </a:xfrm>
          <a:prstGeom prst="rect">
            <a:avLst/>
          </a:prstGeom>
        </p:spPr>
        <p:txBody>
          <a:bodyPr lIns="0" tIns="0" rIns="0" bIns="0" rtlCol="0" anchor="t">
            <a:spAutoFit/>
          </a:bodyPr>
          <a:lstStyle/>
          <a:p>
            <a:pPr algn="l">
              <a:lnSpc>
                <a:spcPts val="2687"/>
              </a:lnSpc>
            </a:pPr>
            <a:r>
              <a:rPr lang="en-US" sz="1687">
                <a:solidFill>
                  <a:srgbClr val="272525"/>
                </a:solidFill>
                <a:latin typeface="Source Sans 3"/>
                <a:ea typeface="Source Sans 3"/>
                <a:cs typeface="Source Sans 3"/>
                <a:sym typeface="Source Sans 3"/>
              </a:rPr>
              <a:t>PostgreSQL/SQLite database infrastructure maintaining immutable audit trails, user management, and prediction logs</a:t>
            </a:r>
          </a:p>
        </p:txBody>
      </p:sp>
      <p:sp>
        <p:nvSpPr>
          <p:cNvPr id="16" name="TextBox 16"/>
          <p:cNvSpPr txBox="1"/>
          <p:nvPr/>
        </p:nvSpPr>
        <p:spPr>
          <a:xfrm>
            <a:off x="1008459" y="6970366"/>
            <a:ext cx="2464746" cy="317602"/>
          </a:xfrm>
          <a:prstGeom prst="rect">
            <a:avLst/>
          </a:prstGeom>
        </p:spPr>
        <p:txBody>
          <a:bodyPr lIns="0" tIns="0" rIns="0" bIns="0" rtlCol="0" anchor="t">
            <a:spAutoFit/>
          </a:bodyPr>
          <a:lstStyle/>
          <a:p>
            <a:pPr algn="l">
              <a:lnSpc>
                <a:spcPts val="2375"/>
              </a:lnSpc>
            </a:pPr>
            <a:r>
              <a:rPr lang="en-US" sz="1937" b="1">
                <a:solidFill>
                  <a:srgbClr val="000000"/>
                </a:solidFill>
                <a:latin typeface="Source Serif Pro Bold"/>
                <a:ea typeface="Source Serif Pro Bold"/>
                <a:cs typeface="Source Serif Pro Bold"/>
                <a:sym typeface="Source Serif Pro Bold"/>
              </a:rPr>
              <a:t>Design Principles</a:t>
            </a:r>
          </a:p>
        </p:txBody>
      </p:sp>
      <p:sp>
        <p:nvSpPr>
          <p:cNvPr id="17" name="TextBox 17"/>
          <p:cNvSpPr txBox="1"/>
          <p:nvPr/>
        </p:nvSpPr>
        <p:spPr>
          <a:xfrm>
            <a:off x="1008459" y="7445131"/>
            <a:ext cx="7874203" cy="400050"/>
          </a:xfrm>
          <a:prstGeom prst="rect">
            <a:avLst/>
          </a:prstGeom>
        </p:spPr>
        <p:txBody>
          <a:bodyPr lIns="0" tIns="0" rIns="0" bIns="0" rtlCol="0" anchor="t">
            <a:spAutoFit/>
          </a:bodyPr>
          <a:lstStyle/>
          <a:p>
            <a:pPr marL="254496" lvl="1" indent="-127248" algn="l">
              <a:lnSpc>
                <a:spcPts val="2687"/>
              </a:lnSpc>
              <a:buFont typeface="Arial"/>
              <a:buChar char="•"/>
            </a:pPr>
            <a:r>
              <a:rPr lang="en-US" sz="1687">
                <a:solidFill>
                  <a:srgbClr val="272525"/>
                </a:solidFill>
                <a:latin typeface="Source Sans 3"/>
                <a:ea typeface="Source Sans 3"/>
                <a:cs typeface="Source Sans 3"/>
                <a:sym typeface="Source Sans 3"/>
              </a:rPr>
              <a:t>Human-in-the-loop decision framework</a:t>
            </a:r>
          </a:p>
        </p:txBody>
      </p:sp>
      <p:sp>
        <p:nvSpPr>
          <p:cNvPr id="18" name="TextBox 18"/>
          <p:cNvSpPr txBox="1"/>
          <p:nvPr/>
        </p:nvSpPr>
        <p:spPr>
          <a:xfrm>
            <a:off x="1008459" y="7863040"/>
            <a:ext cx="7874203" cy="400050"/>
          </a:xfrm>
          <a:prstGeom prst="rect">
            <a:avLst/>
          </a:prstGeom>
        </p:spPr>
        <p:txBody>
          <a:bodyPr lIns="0" tIns="0" rIns="0" bIns="0" rtlCol="0" anchor="t">
            <a:spAutoFit/>
          </a:bodyPr>
          <a:lstStyle/>
          <a:p>
            <a:pPr marL="254496" lvl="1" indent="-127248" algn="l">
              <a:lnSpc>
                <a:spcPts val="2687"/>
              </a:lnSpc>
              <a:buFont typeface="Arial"/>
              <a:buChar char="•"/>
            </a:pPr>
            <a:r>
              <a:rPr lang="en-US" sz="1687">
                <a:solidFill>
                  <a:srgbClr val="272525"/>
                </a:solidFill>
                <a:latin typeface="Source Sans 3"/>
                <a:ea typeface="Source Sans 3"/>
                <a:cs typeface="Source Sans 3"/>
                <a:sym typeface="Source Sans 3"/>
              </a:rPr>
              <a:t>Immutable audit trail architecture</a:t>
            </a:r>
          </a:p>
        </p:txBody>
      </p:sp>
      <p:sp>
        <p:nvSpPr>
          <p:cNvPr id="19" name="TextBox 19"/>
          <p:cNvSpPr txBox="1"/>
          <p:nvPr/>
        </p:nvSpPr>
        <p:spPr>
          <a:xfrm>
            <a:off x="1008459" y="8280949"/>
            <a:ext cx="7874203" cy="400050"/>
          </a:xfrm>
          <a:prstGeom prst="rect">
            <a:avLst/>
          </a:prstGeom>
        </p:spPr>
        <p:txBody>
          <a:bodyPr lIns="0" tIns="0" rIns="0" bIns="0" rtlCol="0" anchor="t">
            <a:spAutoFit/>
          </a:bodyPr>
          <a:lstStyle/>
          <a:p>
            <a:pPr marL="254496" lvl="1" indent="-127248" algn="l">
              <a:lnSpc>
                <a:spcPts val="2687"/>
              </a:lnSpc>
              <a:buFont typeface="Arial"/>
              <a:buChar char="•"/>
            </a:pPr>
            <a:r>
              <a:rPr lang="en-US" sz="1687">
                <a:solidFill>
                  <a:srgbClr val="272525"/>
                </a:solidFill>
                <a:latin typeface="Source Sans 3"/>
                <a:ea typeface="Source Sans 3"/>
                <a:cs typeface="Source Sans 3"/>
                <a:sym typeface="Source Sans 3"/>
              </a:rPr>
              <a:t>Role-based access control (RBAC)</a:t>
            </a:r>
          </a:p>
        </p:txBody>
      </p:sp>
      <p:sp>
        <p:nvSpPr>
          <p:cNvPr id="20" name="TextBox 20"/>
          <p:cNvSpPr txBox="1"/>
          <p:nvPr/>
        </p:nvSpPr>
        <p:spPr>
          <a:xfrm>
            <a:off x="1008459" y="8698859"/>
            <a:ext cx="7874203" cy="400050"/>
          </a:xfrm>
          <a:prstGeom prst="rect">
            <a:avLst/>
          </a:prstGeom>
        </p:spPr>
        <p:txBody>
          <a:bodyPr lIns="0" tIns="0" rIns="0" bIns="0" rtlCol="0" anchor="t">
            <a:spAutoFit/>
          </a:bodyPr>
          <a:lstStyle/>
          <a:p>
            <a:pPr marL="254496" lvl="1" indent="-127248" algn="l">
              <a:lnSpc>
                <a:spcPts val="2687"/>
              </a:lnSpc>
              <a:buFont typeface="Arial"/>
              <a:buChar char="•"/>
            </a:pPr>
            <a:r>
              <a:rPr lang="en-US" sz="1687">
                <a:solidFill>
                  <a:srgbClr val="272525"/>
                </a:solidFill>
                <a:latin typeface="Source Sans 3"/>
                <a:ea typeface="Source Sans 3"/>
                <a:cs typeface="Source Sans 3"/>
                <a:sym typeface="Source Sans 3"/>
              </a:rPr>
              <a:t>Separation of concerns pattern</a:t>
            </a:r>
          </a:p>
        </p:txBody>
      </p:sp>
      <p:sp>
        <p:nvSpPr>
          <p:cNvPr id="21" name="TextBox 21"/>
          <p:cNvSpPr txBox="1"/>
          <p:nvPr/>
        </p:nvSpPr>
        <p:spPr>
          <a:xfrm>
            <a:off x="1008459" y="9116768"/>
            <a:ext cx="7874203" cy="400050"/>
          </a:xfrm>
          <a:prstGeom prst="rect">
            <a:avLst/>
          </a:prstGeom>
        </p:spPr>
        <p:txBody>
          <a:bodyPr lIns="0" tIns="0" rIns="0" bIns="0" rtlCol="0" anchor="t">
            <a:spAutoFit/>
          </a:bodyPr>
          <a:lstStyle/>
          <a:p>
            <a:pPr marL="254496" lvl="1" indent="-127248" algn="l">
              <a:lnSpc>
                <a:spcPts val="2687"/>
              </a:lnSpc>
              <a:buFont typeface="Arial"/>
              <a:buChar char="•"/>
            </a:pPr>
            <a:r>
              <a:rPr lang="en-US" sz="1687">
                <a:solidFill>
                  <a:srgbClr val="272525"/>
                </a:solidFill>
                <a:latin typeface="Source Sans 3"/>
                <a:ea typeface="Source Sans 3"/>
                <a:cs typeface="Source Sans 3"/>
                <a:sym typeface="Source Sans 3"/>
              </a:rPr>
              <a:t>Regulatory compliance by design</a:t>
            </a:r>
          </a:p>
        </p:txBody>
      </p:sp>
      <p:sp>
        <p:nvSpPr>
          <p:cNvPr id="22" name="TextBox 22"/>
          <p:cNvSpPr txBox="1"/>
          <p:nvPr/>
        </p:nvSpPr>
        <p:spPr>
          <a:xfrm>
            <a:off x="9414872" y="6970366"/>
            <a:ext cx="2464746" cy="317602"/>
          </a:xfrm>
          <a:prstGeom prst="rect">
            <a:avLst/>
          </a:prstGeom>
        </p:spPr>
        <p:txBody>
          <a:bodyPr lIns="0" tIns="0" rIns="0" bIns="0" rtlCol="0" anchor="t">
            <a:spAutoFit/>
          </a:bodyPr>
          <a:lstStyle/>
          <a:p>
            <a:pPr algn="l">
              <a:lnSpc>
                <a:spcPts val="2375"/>
              </a:lnSpc>
            </a:pPr>
            <a:r>
              <a:rPr lang="en-US" sz="1937" b="1">
                <a:solidFill>
                  <a:srgbClr val="000000"/>
                </a:solidFill>
                <a:latin typeface="Source Serif Pro Bold"/>
                <a:ea typeface="Source Serif Pro Bold"/>
                <a:cs typeface="Source Serif Pro Bold"/>
                <a:sym typeface="Source Serif Pro Bold"/>
              </a:rPr>
              <a:t>Integration Strategy</a:t>
            </a:r>
          </a:p>
        </p:txBody>
      </p:sp>
      <p:sp>
        <p:nvSpPr>
          <p:cNvPr id="23" name="TextBox 23"/>
          <p:cNvSpPr txBox="1"/>
          <p:nvPr/>
        </p:nvSpPr>
        <p:spPr>
          <a:xfrm>
            <a:off x="9414872" y="7445131"/>
            <a:ext cx="7874203" cy="400050"/>
          </a:xfrm>
          <a:prstGeom prst="rect">
            <a:avLst/>
          </a:prstGeom>
        </p:spPr>
        <p:txBody>
          <a:bodyPr lIns="0" tIns="0" rIns="0" bIns="0" rtlCol="0" anchor="t">
            <a:spAutoFit/>
          </a:bodyPr>
          <a:lstStyle/>
          <a:p>
            <a:pPr marL="254496" lvl="1" indent="-127248" algn="l">
              <a:lnSpc>
                <a:spcPts val="2687"/>
              </a:lnSpc>
              <a:buFont typeface="Arial"/>
              <a:buChar char="•"/>
            </a:pPr>
            <a:r>
              <a:rPr lang="en-US" sz="1687">
                <a:solidFill>
                  <a:srgbClr val="272525"/>
                </a:solidFill>
                <a:latin typeface="Source Sans 3"/>
                <a:ea typeface="Source Sans 3"/>
                <a:cs typeface="Source Sans 3"/>
                <a:sym typeface="Source Sans 3"/>
              </a:rPr>
              <a:t>API-first architecture for CBS integration</a:t>
            </a:r>
          </a:p>
        </p:txBody>
      </p:sp>
      <p:sp>
        <p:nvSpPr>
          <p:cNvPr id="24" name="TextBox 24"/>
          <p:cNvSpPr txBox="1"/>
          <p:nvPr/>
        </p:nvSpPr>
        <p:spPr>
          <a:xfrm>
            <a:off x="9414872" y="7863040"/>
            <a:ext cx="7874203" cy="400050"/>
          </a:xfrm>
          <a:prstGeom prst="rect">
            <a:avLst/>
          </a:prstGeom>
        </p:spPr>
        <p:txBody>
          <a:bodyPr lIns="0" tIns="0" rIns="0" bIns="0" rtlCol="0" anchor="t">
            <a:spAutoFit/>
          </a:bodyPr>
          <a:lstStyle/>
          <a:p>
            <a:pPr marL="254496" lvl="1" indent="-127248" algn="l">
              <a:lnSpc>
                <a:spcPts val="2687"/>
              </a:lnSpc>
              <a:buFont typeface="Arial"/>
              <a:buChar char="•"/>
            </a:pPr>
            <a:r>
              <a:rPr lang="en-US" sz="1687">
                <a:solidFill>
                  <a:srgbClr val="272525"/>
                </a:solidFill>
                <a:latin typeface="Source Sans 3"/>
                <a:ea typeface="Source Sans 3"/>
                <a:cs typeface="Source Sans 3"/>
                <a:sym typeface="Source Sans 3"/>
              </a:rPr>
              <a:t>Real-time transaction interception</a:t>
            </a:r>
          </a:p>
        </p:txBody>
      </p:sp>
      <p:sp>
        <p:nvSpPr>
          <p:cNvPr id="25" name="TextBox 25"/>
          <p:cNvSpPr txBox="1"/>
          <p:nvPr/>
        </p:nvSpPr>
        <p:spPr>
          <a:xfrm>
            <a:off x="9414872" y="8280949"/>
            <a:ext cx="7874203" cy="400050"/>
          </a:xfrm>
          <a:prstGeom prst="rect">
            <a:avLst/>
          </a:prstGeom>
        </p:spPr>
        <p:txBody>
          <a:bodyPr lIns="0" tIns="0" rIns="0" bIns="0" rtlCol="0" anchor="t">
            <a:spAutoFit/>
          </a:bodyPr>
          <a:lstStyle/>
          <a:p>
            <a:pPr marL="254496" lvl="1" indent="-127248" algn="l">
              <a:lnSpc>
                <a:spcPts val="2687"/>
              </a:lnSpc>
              <a:buFont typeface="Arial"/>
              <a:buChar char="•"/>
            </a:pPr>
            <a:r>
              <a:rPr lang="en-US" sz="1687">
                <a:solidFill>
                  <a:srgbClr val="272525"/>
                </a:solidFill>
                <a:latin typeface="Source Sans 3"/>
                <a:ea typeface="Source Sans 3"/>
                <a:cs typeface="Source Sans 3"/>
                <a:sym typeface="Source Sans 3"/>
              </a:rPr>
              <a:t>Pre-settlement fraud detection</a:t>
            </a:r>
          </a:p>
        </p:txBody>
      </p:sp>
      <p:sp>
        <p:nvSpPr>
          <p:cNvPr id="26" name="TextBox 26"/>
          <p:cNvSpPr txBox="1"/>
          <p:nvPr/>
        </p:nvSpPr>
        <p:spPr>
          <a:xfrm>
            <a:off x="9414872" y="8698859"/>
            <a:ext cx="7874203" cy="400050"/>
          </a:xfrm>
          <a:prstGeom prst="rect">
            <a:avLst/>
          </a:prstGeom>
        </p:spPr>
        <p:txBody>
          <a:bodyPr lIns="0" tIns="0" rIns="0" bIns="0" rtlCol="0" anchor="t">
            <a:spAutoFit/>
          </a:bodyPr>
          <a:lstStyle/>
          <a:p>
            <a:pPr marL="254496" lvl="1" indent="-127248" algn="l">
              <a:lnSpc>
                <a:spcPts val="2687"/>
              </a:lnSpc>
              <a:buFont typeface="Arial"/>
              <a:buChar char="•"/>
            </a:pPr>
            <a:r>
              <a:rPr lang="en-US" sz="1687">
                <a:solidFill>
                  <a:srgbClr val="272525"/>
                </a:solidFill>
                <a:latin typeface="Source Sans 3"/>
                <a:ea typeface="Source Sans 3"/>
                <a:cs typeface="Source Sans 3"/>
                <a:sym typeface="Source Sans 3"/>
              </a:rPr>
              <a:t>Asynchronous processing capability</a:t>
            </a:r>
          </a:p>
        </p:txBody>
      </p:sp>
      <p:sp>
        <p:nvSpPr>
          <p:cNvPr id="27" name="TextBox 27"/>
          <p:cNvSpPr txBox="1"/>
          <p:nvPr/>
        </p:nvSpPr>
        <p:spPr>
          <a:xfrm>
            <a:off x="9414872" y="9116768"/>
            <a:ext cx="7874203" cy="400050"/>
          </a:xfrm>
          <a:prstGeom prst="rect">
            <a:avLst/>
          </a:prstGeom>
        </p:spPr>
        <p:txBody>
          <a:bodyPr lIns="0" tIns="0" rIns="0" bIns="0" rtlCol="0" anchor="t">
            <a:spAutoFit/>
          </a:bodyPr>
          <a:lstStyle/>
          <a:p>
            <a:pPr marL="254496" lvl="1" indent="-127248" algn="l">
              <a:lnSpc>
                <a:spcPts val="2687"/>
              </a:lnSpc>
              <a:buFont typeface="Arial"/>
              <a:buChar char="•"/>
            </a:pPr>
            <a:r>
              <a:rPr lang="en-US" sz="1687">
                <a:solidFill>
                  <a:srgbClr val="272525"/>
                </a:solidFill>
                <a:latin typeface="Source Sans 3"/>
                <a:ea typeface="Source Sans 3"/>
                <a:cs typeface="Source Sans 3"/>
                <a:sym typeface="Source Sans 3"/>
              </a:rPr>
              <a:t>Scalable microservices-ready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a:ln w="12700">
              <a:solidFill>
                <a:srgbClr val="000000"/>
              </a:solidFill>
            </a:ln>
          </p:spPr>
        </p:sp>
      </p:grpSp>
      <p:sp>
        <p:nvSpPr>
          <p:cNvPr id="5" name="TextBox 5"/>
          <p:cNvSpPr txBox="1"/>
          <p:nvPr/>
        </p:nvSpPr>
        <p:spPr>
          <a:xfrm>
            <a:off x="1081983" y="736397"/>
            <a:ext cx="5631656" cy="592636"/>
          </a:xfrm>
          <a:prstGeom prst="rect">
            <a:avLst/>
          </a:prstGeom>
        </p:spPr>
        <p:txBody>
          <a:bodyPr lIns="0" tIns="0" rIns="0" bIns="0" rtlCol="0" anchor="t">
            <a:spAutoFit/>
          </a:bodyPr>
          <a:lstStyle/>
          <a:p>
            <a:pPr algn="l">
              <a:lnSpc>
                <a:spcPts val="4562"/>
              </a:lnSpc>
            </a:pPr>
            <a:r>
              <a:rPr lang="en-US" sz="3625" b="1">
                <a:solidFill>
                  <a:srgbClr val="000000"/>
                </a:solidFill>
                <a:latin typeface="Source Serif Pro Bold"/>
                <a:ea typeface="Source Serif Pro Bold"/>
                <a:cs typeface="Source Serif Pro Bold"/>
                <a:sym typeface="Source Serif Pro Bold"/>
              </a:rPr>
              <a:t>Core Functional Modules</a:t>
            </a:r>
          </a:p>
        </p:txBody>
      </p:sp>
      <p:sp>
        <p:nvSpPr>
          <p:cNvPr id="6" name="TextBox 6"/>
          <p:cNvSpPr txBox="1"/>
          <p:nvPr/>
        </p:nvSpPr>
        <p:spPr>
          <a:xfrm>
            <a:off x="1081983" y="1687116"/>
            <a:ext cx="16124034" cy="696516"/>
          </a:xfrm>
          <a:prstGeom prst="rect">
            <a:avLst/>
          </a:prstGeom>
        </p:spPr>
        <p:txBody>
          <a:bodyPr lIns="0" tIns="0" rIns="0" bIns="0" rtlCol="0" anchor="t">
            <a:spAutoFit/>
          </a:bodyPr>
          <a:lstStyle/>
          <a:p>
            <a:pPr algn="l">
              <a:lnSpc>
                <a:spcPts val="2499"/>
              </a:lnSpc>
            </a:pPr>
            <a:r>
              <a:rPr lang="en-US" sz="1562">
                <a:solidFill>
                  <a:srgbClr val="272525"/>
                </a:solidFill>
                <a:latin typeface="Source Sans 3"/>
                <a:ea typeface="Source Sans 3"/>
                <a:cs typeface="Source Sans 3"/>
                <a:sym typeface="Source Sans 3"/>
              </a:rPr>
              <a:t>The platform architecture comprises six integrated functional modules, each addressing specific operational requirements while maintaining cohesive system behavior. These modules work synergistically to deliver comprehensive fraud detection capabilities with full auditability.</a:t>
            </a:r>
          </a:p>
        </p:txBody>
      </p:sp>
      <p:sp>
        <p:nvSpPr>
          <p:cNvPr id="7" name="Freeform 7" descr="preencoded.png"/>
          <p:cNvSpPr/>
          <p:nvPr/>
        </p:nvSpPr>
        <p:spPr>
          <a:xfrm>
            <a:off x="1081983" y="2611784"/>
            <a:ext cx="507206" cy="507206"/>
          </a:xfrm>
          <a:custGeom>
            <a:avLst/>
            <a:gdLst/>
            <a:ahLst/>
            <a:cxnLst/>
            <a:rect l="l" t="t" r="r" b="b"/>
            <a:pathLst>
              <a:path w="507206" h="507206">
                <a:moveTo>
                  <a:pt x="0" y="0"/>
                </a:moveTo>
                <a:lnTo>
                  <a:pt x="507206" y="0"/>
                </a:lnTo>
                <a:lnTo>
                  <a:pt x="507206" y="507206"/>
                </a:lnTo>
                <a:lnTo>
                  <a:pt x="0" y="507206"/>
                </a:lnTo>
                <a:lnTo>
                  <a:pt x="0" y="0"/>
                </a:lnTo>
                <a:close/>
              </a:path>
            </a:pathLst>
          </a:custGeom>
          <a:blipFill>
            <a:blip r:embed="rId4">
              <a:extLst>
                <a:ext uri="{96DAC541-7B7A-43D3-8B79-37D633B846F1}">
                  <asvg:svgBlip xmlns:asvg="http://schemas.microsoft.com/office/drawing/2016/SVG/main" r:embed="rId5"/>
                </a:ext>
              </a:extLst>
            </a:blip>
            <a:stretch>
              <a:fillRect t="-9260" b="-9258"/>
            </a:stretch>
          </a:blipFill>
        </p:spPr>
      </p:sp>
      <p:sp>
        <p:nvSpPr>
          <p:cNvPr id="8" name="TextBox 8"/>
          <p:cNvSpPr txBox="1"/>
          <p:nvPr/>
        </p:nvSpPr>
        <p:spPr>
          <a:xfrm>
            <a:off x="1081983" y="3372593"/>
            <a:ext cx="2913907" cy="291703"/>
          </a:xfrm>
          <a:prstGeom prst="rect">
            <a:avLst/>
          </a:prstGeom>
        </p:spPr>
        <p:txBody>
          <a:bodyPr lIns="0" tIns="0" rIns="0" bIns="0" rtlCol="0" anchor="t">
            <a:spAutoFit/>
          </a:bodyPr>
          <a:lstStyle/>
          <a:p>
            <a:pPr algn="l">
              <a:lnSpc>
                <a:spcPts val="2249"/>
              </a:lnSpc>
            </a:pPr>
            <a:r>
              <a:rPr lang="en-US" sz="1812" b="1">
                <a:solidFill>
                  <a:srgbClr val="272525"/>
                </a:solidFill>
                <a:latin typeface="Source Serif Pro Bold"/>
                <a:ea typeface="Source Serif Pro Bold"/>
                <a:cs typeface="Source Serif Pro Bold"/>
                <a:sym typeface="Source Serif Pro Bold"/>
              </a:rPr>
              <a:t>Authentication &amp; Security</a:t>
            </a:r>
          </a:p>
        </p:txBody>
      </p:sp>
      <p:sp>
        <p:nvSpPr>
          <p:cNvPr id="9" name="TextBox 9"/>
          <p:cNvSpPr txBox="1"/>
          <p:nvPr/>
        </p:nvSpPr>
        <p:spPr>
          <a:xfrm>
            <a:off x="1081983" y="3738267"/>
            <a:ext cx="7935220" cy="1020966"/>
          </a:xfrm>
          <a:prstGeom prst="rect">
            <a:avLst/>
          </a:prstGeom>
        </p:spPr>
        <p:txBody>
          <a:bodyPr lIns="0" tIns="0" rIns="0" bIns="0" rtlCol="0" anchor="t">
            <a:spAutoFit/>
          </a:bodyPr>
          <a:lstStyle/>
          <a:p>
            <a:pPr algn="l">
              <a:lnSpc>
                <a:spcPts val="2499"/>
              </a:lnSpc>
            </a:pPr>
            <a:r>
              <a:rPr lang="en-US" sz="1562">
                <a:solidFill>
                  <a:srgbClr val="272525"/>
                </a:solidFill>
                <a:latin typeface="Source Sans 3"/>
                <a:ea typeface="Source Sans 3"/>
                <a:cs typeface="Source Sans 3"/>
                <a:sym typeface="Source Sans 3"/>
              </a:rPr>
              <a:t>Bcrypt password hashing, session management, and role-based access control ensure secure system access. Multi-level authorization restricts sensitive operations to appropriate personnel roles.</a:t>
            </a:r>
          </a:p>
        </p:txBody>
      </p:sp>
      <p:sp>
        <p:nvSpPr>
          <p:cNvPr id="10" name="Freeform 10" descr="preencoded.png"/>
          <p:cNvSpPr/>
          <p:nvPr/>
        </p:nvSpPr>
        <p:spPr>
          <a:xfrm>
            <a:off x="9270797" y="2611784"/>
            <a:ext cx="507206" cy="507206"/>
          </a:xfrm>
          <a:custGeom>
            <a:avLst/>
            <a:gdLst/>
            <a:ahLst/>
            <a:cxnLst/>
            <a:rect l="l" t="t" r="r" b="b"/>
            <a:pathLst>
              <a:path w="507206" h="507206">
                <a:moveTo>
                  <a:pt x="0" y="0"/>
                </a:moveTo>
                <a:lnTo>
                  <a:pt x="507206" y="0"/>
                </a:lnTo>
                <a:lnTo>
                  <a:pt x="507206" y="507206"/>
                </a:lnTo>
                <a:lnTo>
                  <a:pt x="0" y="507206"/>
                </a:lnTo>
                <a:lnTo>
                  <a:pt x="0" y="0"/>
                </a:lnTo>
                <a:close/>
              </a:path>
            </a:pathLst>
          </a:custGeom>
          <a:blipFill>
            <a:blip r:embed="rId6">
              <a:extLst>
                <a:ext uri="{96DAC541-7B7A-43D3-8B79-37D633B846F1}">
                  <asvg:svgBlip xmlns:asvg="http://schemas.microsoft.com/office/drawing/2016/SVG/main" r:embed="rId7"/>
                </a:ext>
              </a:extLst>
            </a:blip>
            <a:stretch>
              <a:fillRect t="-10185" b="-10184"/>
            </a:stretch>
          </a:blipFill>
        </p:spPr>
      </p:sp>
      <p:sp>
        <p:nvSpPr>
          <p:cNvPr id="11" name="TextBox 11"/>
          <p:cNvSpPr txBox="1"/>
          <p:nvPr/>
        </p:nvSpPr>
        <p:spPr>
          <a:xfrm>
            <a:off x="9270797" y="3372593"/>
            <a:ext cx="3459804" cy="291703"/>
          </a:xfrm>
          <a:prstGeom prst="rect">
            <a:avLst/>
          </a:prstGeom>
        </p:spPr>
        <p:txBody>
          <a:bodyPr lIns="0" tIns="0" rIns="0" bIns="0" rtlCol="0" anchor="t">
            <a:spAutoFit/>
          </a:bodyPr>
          <a:lstStyle/>
          <a:p>
            <a:pPr algn="l">
              <a:lnSpc>
                <a:spcPts val="2249"/>
              </a:lnSpc>
            </a:pPr>
            <a:r>
              <a:rPr lang="en-US" sz="1812" b="1">
                <a:solidFill>
                  <a:srgbClr val="272525"/>
                </a:solidFill>
                <a:latin typeface="Source Serif Pro Bold"/>
                <a:ea typeface="Source Serif Pro Bold"/>
                <a:cs typeface="Source Serif Pro Bold"/>
                <a:sym typeface="Source Serif Pro Bold"/>
              </a:rPr>
              <a:t>Transaction Input &amp; Validation</a:t>
            </a:r>
          </a:p>
        </p:txBody>
      </p:sp>
      <p:sp>
        <p:nvSpPr>
          <p:cNvPr id="12" name="TextBox 12"/>
          <p:cNvSpPr txBox="1"/>
          <p:nvPr/>
        </p:nvSpPr>
        <p:spPr>
          <a:xfrm>
            <a:off x="9270797" y="3738267"/>
            <a:ext cx="7935220" cy="696516"/>
          </a:xfrm>
          <a:prstGeom prst="rect">
            <a:avLst/>
          </a:prstGeom>
        </p:spPr>
        <p:txBody>
          <a:bodyPr lIns="0" tIns="0" rIns="0" bIns="0" rtlCol="0" anchor="t">
            <a:spAutoFit/>
          </a:bodyPr>
          <a:lstStyle/>
          <a:p>
            <a:pPr algn="l">
              <a:lnSpc>
                <a:spcPts val="2499"/>
              </a:lnSpc>
            </a:pPr>
            <a:r>
              <a:rPr lang="en-US" sz="1562">
                <a:solidFill>
                  <a:srgbClr val="272525"/>
                </a:solidFill>
                <a:latin typeface="Source Sans 3"/>
                <a:ea typeface="Source Sans 3"/>
                <a:cs typeface="Source Sans 3"/>
                <a:sym typeface="Source Sans 3"/>
              </a:rPr>
              <a:t>Comprehensive input validation, data sanitization, and schema enforcement prevent injection attacks and ensure data integrity throughout the processing pipeline.</a:t>
            </a:r>
          </a:p>
        </p:txBody>
      </p:sp>
      <p:sp>
        <p:nvSpPr>
          <p:cNvPr id="13" name="Freeform 13" descr="preencoded.png"/>
          <p:cNvSpPr/>
          <p:nvPr/>
        </p:nvSpPr>
        <p:spPr>
          <a:xfrm>
            <a:off x="1081983" y="5164931"/>
            <a:ext cx="507206" cy="507206"/>
          </a:xfrm>
          <a:custGeom>
            <a:avLst/>
            <a:gdLst/>
            <a:ahLst/>
            <a:cxnLst/>
            <a:rect l="l" t="t" r="r" b="b"/>
            <a:pathLst>
              <a:path w="507206" h="507206">
                <a:moveTo>
                  <a:pt x="0" y="0"/>
                </a:moveTo>
                <a:lnTo>
                  <a:pt x="507206" y="0"/>
                </a:lnTo>
                <a:lnTo>
                  <a:pt x="507206" y="507207"/>
                </a:lnTo>
                <a:lnTo>
                  <a:pt x="0" y="507207"/>
                </a:lnTo>
                <a:lnTo>
                  <a:pt x="0" y="0"/>
                </a:lnTo>
                <a:close/>
              </a:path>
            </a:pathLst>
          </a:custGeom>
          <a:blipFill>
            <a:blip r:embed="rId8">
              <a:extLst>
                <a:ext uri="{96DAC541-7B7A-43D3-8B79-37D633B846F1}">
                  <asvg:svgBlip xmlns:asvg="http://schemas.microsoft.com/office/drawing/2016/SVG/main" r:embed="rId9"/>
                </a:ext>
              </a:extLst>
            </a:blip>
            <a:stretch>
              <a:fillRect t="-59260" b="-59258"/>
            </a:stretch>
          </a:blipFill>
        </p:spPr>
      </p:sp>
      <p:sp>
        <p:nvSpPr>
          <p:cNvPr id="14" name="TextBox 14"/>
          <p:cNvSpPr txBox="1"/>
          <p:nvPr/>
        </p:nvSpPr>
        <p:spPr>
          <a:xfrm>
            <a:off x="1081983" y="5925741"/>
            <a:ext cx="3139831" cy="291703"/>
          </a:xfrm>
          <a:prstGeom prst="rect">
            <a:avLst/>
          </a:prstGeom>
        </p:spPr>
        <p:txBody>
          <a:bodyPr lIns="0" tIns="0" rIns="0" bIns="0" rtlCol="0" anchor="t">
            <a:spAutoFit/>
          </a:bodyPr>
          <a:lstStyle/>
          <a:p>
            <a:pPr algn="l">
              <a:lnSpc>
                <a:spcPts val="2249"/>
              </a:lnSpc>
            </a:pPr>
            <a:r>
              <a:rPr lang="en-US" sz="1812" b="1">
                <a:solidFill>
                  <a:srgbClr val="272525"/>
                </a:solidFill>
                <a:latin typeface="Source Serif Pro Bold"/>
                <a:ea typeface="Source Serif Pro Bold"/>
                <a:cs typeface="Source Serif Pro Bold"/>
                <a:sym typeface="Source Serif Pro Bold"/>
              </a:rPr>
              <a:t>Feature Engineering Engine</a:t>
            </a:r>
          </a:p>
        </p:txBody>
      </p:sp>
      <p:sp>
        <p:nvSpPr>
          <p:cNvPr id="15" name="TextBox 15"/>
          <p:cNvSpPr txBox="1"/>
          <p:nvPr/>
        </p:nvSpPr>
        <p:spPr>
          <a:xfrm>
            <a:off x="1081983" y="6291415"/>
            <a:ext cx="7935220" cy="1020966"/>
          </a:xfrm>
          <a:prstGeom prst="rect">
            <a:avLst/>
          </a:prstGeom>
        </p:spPr>
        <p:txBody>
          <a:bodyPr lIns="0" tIns="0" rIns="0" bIns="0" rtlCol="0" anchor="t">
            <a:spAutoFit/>
          </a:bodyPr>
          <a:lstStyle/>
          <a:p>
            <a:pPr algn="l">
              <a:lnSpc>
                <a:spcPts val="2499"/>
              </a:lnSpc>
            </a:pPr>
            <a:r>
              <a:rPr lang="en-US" sz="1562">
                <a:solidFill>
                  <a:srgbClr val="272525"/>
                </a:solidFill>
                <a:latin typeface="Source Sans 3"/>
                <a:ea typeface="Source Sans 3"/>
                <a:cs typeface="Source Sans 3"/>
                <a:sym typeface="Source Sans 3"/>
              </a:rPr>
              <a:t>Advanced feature extraction transforms raw transaction data into discriminative features including velocity metrics, behavioral patterns, temporal analysis, and geographical anomalies.</a:t>
            </a:r>
          </a:p>
        </p:txBody>
      </p:sp>
      <p:sp>
        <p:nvSpPr>
          <p:cNvPr id="16" name="Freeform 16" descr="preencoded.png"/>
          <p:cNvSpPr/>
          <p:nvPr/>
        </p:nvSpPr>
        <p:spPr>
          <a:xfrm>
            <a:off x="9270797" y="5164931"/>
            <a:ext cx="507206" cy="507206"/>
          </a:xfrm>
          <a:custGeom>
            <a:avLst/>
            <a:gdLst/>
            <a:ahLst/>
            <a:cxnLst/>
            <a:rect l="l" t="t" r="r" b="b"/>
            <a:pathLst>
              <a:path w="507206" h="507206">
                <a:moveTo>
                  <a:pt x="0" y="0"/>
                </a:moveTo>
                <a:lnTo>
                  <a:pt x="507206" y="0"/>
                </a:lnTo>
                <a:lnTo>
                  <a:pt x="507206" y="507207"/>
                </a:lnTo>
                <a:lnTo>
                  <a:pt x="0" y="507207"/>
                </a:lnTo>
                <a:lnTo>
                  <a:pt x="0" y="0"/>
                </a:lnTo>
                <a:close/>
              </a:path>
            </a:pathLst>
          </a:custGeom>
          <a:blipFill>
            <a:blip r:embed="rId10">
              <a:extLst>
                <a:ext uri="{96DAC541-7B7A-43D3-8B79-37D633B846F1}">
                  <asvg:svgBlip xmlns:asvg="http://schemas.microsoft.com/office/drawing/2016/SVG/main" r:embed="rId11"/>
                </a:ext>
              </a:extLst>
            </a:blip>
            <a:stretch>
              <a:fillRect t="-2777" b="-2777"/>
            </a:stretch>
          </a:blipFill>
        </p:spPr>
      </p:sp>
      <p:sp>
        <p:nvSpPr>
          <p:cNvPr id="17" name="TextBox 17"/>
          <p:cNvSpPr txBox="1"/>
          <p:nvPr/>
        </p:nvSpPr>
        <p:spPr>
          <a:xfrm>
            <a:off x="9270797" y="5925741"/>
            <a:ext cx="2344045" cy="291703"/>
          </a:xfrm>
          <a:prstGeom prst="rect">
            <a:avLst/>
          </a:prstGeom>
        </p:spPr>
        <p:txBody>
          <a:bodyPr lIns="0" tIns="0" rIns="0" bIns="0" rtlCol="0" anchor="t">
            <a:spAutoFit/>
          </a:bodyPr>
          <a:lstStyle/>
          <a:p>
            <a:pPr algn="l">
              <a:lnSpc>
                <a:spcPts val="2249"/>
              </a:lnSpc>
            </a:pPr>
            <a:r>
              <a:rPr lang="en-US" sz="1812" b="1">
                <a:solidFill>
                  <a:srgbClr val="272525"/>
                </a:solidFill>
                <a:latin typeface="Source Serif Pro Bold"/>
                <a:ea typeface="Source Serif Pro Bold"/>
                <a:cs typeface="Source Serif Pro Bold"/>
                <a:sym typeface="Source Serif Pro Bold"/>
              </a:rPr>
              <a:t>ML Inference Engine</a:t>
            </a:r>
          </a:p>
        </p:txBody>
      </p:sp>
      <p:sp>
        <p:nvSpPr>
          <p:cNvPr id="18" name="TextBox 18"/>
          <p:cNvSpPr txBox="1"/>
          <p:nvPr/>
        </p:nvSpPr>
        <p:spPr>
          <a:xfrm>
            <a:off x="9270797" y="6291415"/>
            <a:ext cx="7935220" cy="696516"/>
          </a:xfrm>
          <a:prstGeom prst="rect">
            <a:avLst/>
          </a:prstGeom>
        </p:spPr>
        <p:txBody>
          <a:bodyPr lIns="0" tIns="0" rIns="0" bIns="0" rtlCol="0" anchor="t">
            <a:spAutoFit/>
          </a:bodyPr>
          <a:lstStyle/>
          <a:p>
            <a:pPr algn="l">
              <a:lnSpc>
                <a:spcPts val="2499"/>
              </a:lnSpc>
            </a:pPr>
            <a:r>
              <a:rPr lang="en-US" sz="1562">
                <a:solidFill>
                  <a:srgbClr val="272525"/>
                </a:solidFill>
                <a:latin typeface="Source Sans 3"/>
                <a:ea typeface="Source Sans 3"/>
                <a:cs typeface="Source Sans 3"/>
                <a:sym typeface="Source Sans 3"/>
              </a:rPr>
              <a:t>Real-time stacking ensemble model execution delivers fraud probability scores and binary classifications with sub-100ms latency for immediate transaction decisioning.</a:t>
            </a:r>
          </a:p>
        </p:txBody>
      </p:sp>
      <p:sp>
        <p:nvSpPr>
          <p:cNvPr id="19" name="Freeform 19" descr="preencoded.png"/>
          <p:cNvSpPr/>
          <p:nvPr/>
        </p:nvSpPr>
        <p:spPr>
          <a:xfrm>
            <a:off x="1081983" y="7718079"/>
            <a:ext cx="507206" cy="507206"/>
          </a:xfrm>
          <a:custGeom>
            <a:avLst/>
            <a:gdLst/>
            <a:ahLst/>
            <a:cxnLst/>
            <a:rect l="l" t="t" r="r" b="b"/>
            <a:pathLst>
              <a:path w="507206" h="507206">
                <a:moveTo>
                  <a:pt x="0" y="0"/>
                </a:moveTo>
                <a:lnTo>
                  <a:pt x="507206" y="0"/>
                </a:lnTo>
                <a:lnTo>
                  <a:pt x="507206" y="507206"/>
                </a:lnTo>
                <a:lnTo>
                  <a:pt x="0" y="507206"/>
                </a:lnTo>
                <a:lnTo>
                  <a:pt x="0" y="0"/>
                </a:lnTo>
                <a:close/>
              </a:path>
            </a:pathLst>
          </a:custGeom>
          <a:blipFill>
            <a:blip r:embed="rId12">
              <a:extLst>
                <a:ext uri="{96DAC541-7B7A-43D3-8B79-37D633B846F1}">
                  <asvg:svgBlip xmlns:asvg="http://schemas.microsoft.com/office/drawing/2016/SVG/main" r:embed="rId13"/>
                </a:ext>
              </a:extLst>
            </a:blip>
            <a:stretch>
              <a:fillRect t="-12037" b="-12035"/>
            </a:stretch>
          </a:blipFill>
        </p:spPr>
      </p:sp>
      <p:sp>
        <p:nvSpPr>
          <p:cNvPr id="20" name="TextBox 20"/>
          <p:cNvSpPr txBox="1"/>
          <p:nvPr/>
        </p:nvSpPr>
        <p:spPr>
          <a:xfrm>
            <a:off x="1081983" y="8478888"/>
            <a:ext cx="3042342" cy="291703"/>
          </a:xfrm>
          <a:prstGeom prst="rect">
            <a:avLst/>
          </a:prstGeom>
        </p:spPr>
        <p:txBody>
          <a:bodyPr lIns="0" tIns="0" rIns="0" bIns="0" rtlCol="0" anchor="t">
            <a:spAutoFit/>
          </a:bodyPr>
          <a:lstStyle/>
          <a:p>
            <a:pPr algn="l">
              <a:lnSpc>
                <a:spcPts val="2249"/>
              </a:lnSpc>
            </a:pPr>
            <a:r>
              <a:rPr lang="en-US" sz="1812" b="1">
                <a:solidFill>
                  <a:srgbClr val="272525"/>
                </a:solidFill>
                <a:latin typeface="Source Serif Pro Bold"/>
                <a:ea typeface="Source Serif Pro Bold"/>
                <a:cs typeface="Source Serif Pro Bold"/>
                <a:sym typeface="Source Serif Pro Bold"/>
              </a:rPr>
              <a:t>Prediction Logging &amp; Audit</a:t>
            </a:r>
          </a:p>
        </p:txBody>
      </p:sp>
      <p:sp>
        <p:nvSpPr>
          <p:cNvPr id="21" name="TextBox 21"/>
          <p:cNvSpPr txBox="1"/>
          <p:nvPr/>
        </p:nvSpPr>
        <p:spPr>
          <a:xfrm>
            <a:off x="1081983" y="8844553"/>
            <a:ext cx="7935220" cy="696516"/>
          </a:xfrm>
          <a:prstGeom prst="rect">
            <a:avLst/>
          </a:prstGeom>
        </p:spPr>
        <p:txBody>
          <a:bodyPr lIns="0" tIns="0" rIns="0" bIns="0" rtlCol="0" anchor="t">
            <a:spAutoFit/>
          </a:bodyPr>
          <a:lstStyle/>
          <a:p>
            <a:pPr algn="l">
              <a:lnSpc>
                <a:spcPts val="2499"/>
              </a:lnSpc>
            </a:pPr>
            <a:r>
              <a:rPr lang="en-US" sz="1562">
                <a:solidFill>
                  <a:srgbClr val="272525"/>
                </a:solidFill>
                <a:latin typeface="Source Sans 3"/>
                <a:ea typeface="Source Sans 3"/>
                <a:cs typeface="Source Sans 3"/>
                <a:sym typeface="Source Sans 3"/>
              </a:rPr>
              <a:t>Immutable audit trail captures every prediction with full transaction context, model outputs, timestamps, and operator actions for regulatory compliance and forensic analysis.</a:t>
            </a:r>
          </a:p>
        </p:txBody>
      </p:sp>
      <p:sp>
        <p:nvSpPr>
          <p:cNvPr id="22" name="Freeform 22" descr="preencoded.png"/>
          <p:cNvSpPr/>
          <p:nvPr/>
        </p:nvSpPr>
        <p:spPr>
          <a:xfrm>
            <a:off x="9270797" y="7718079"/>
            <a:ext cx="507206" cy="507206"/>
          </a:xfrm>
          <a:custGeom>
            <a:avLst/>
            <a:gdLst/>
            <a:ahLst/>
            <a:cxnLst/>
            <a:rect l="l" t="t" r="r" b="b"/>
            <a:pathLst>
              <a:path w="507206" h="507206">
                <a:moveTo>
                  <a:pt x="0" y="0"/>
                </a:moveTo>
                <a:lnTo>
                  <a:pt x="507206" y="0"/>
                </a:lnTo>
                <a:lnTo>
                  <a:pt x="507206" y="507206"/>
                </a:lnTo>
                <a:lnTo>
                  <a:pt x="0" y="507206"/>
                </a:lnTo>
                <a:lnTo>
                  <a:pt x="0" y="0"/>
                </a:lnTo>
                <a:close/>
              </a:path>
            </a:pathLst>
          </a:custGeom>
          <a:blipFill>
            <a:blip r:embed="rId14">
              <a:extLst>
                <a:ext uri="{96DAC541-7B7A-43D3-8B79-37D633B846F1}">
                  <asvg:svgBlip xmlns:asvg="http://schemas.microsoft.com/office/drawing/2016/SVG/main" r:embed="rId15"/>
                </a:ext>
              </a:extLst>
            </a:blip>
            <a:stretch>
              <a:fillRect l="-4629" r="-4630"/>
            </a:stretch>
          </a:blipFill>
        </p:spPr>
      </p:sp>
      <p:sp>
        <p:nvSpPr>
          <p:cNvPr id="23" name="TextBox 23"/>
          <p:cNvSpPr txBox="1"/>
          <p:nvPr/>
        </p:nvSpPr>
        <p:spPr>
          <a:xfrm>
            <a:off x="9270797" y="8478888"/>
            <a:ext cx="2690660" cy="291703"/>
          </a:xfrm>
          <a:prstGeom prst="rect">
            <a:avLst/>
          </a:prstGeom>
        </p:spPr>
        <p:txBody>
          <a:bodyPr lIns="0" tIns="0" rIns="0" bIns="0" rtlCol="0" anchor="t">
            <a:spAutoFit/>
          </a:bodyPr>
          <a:lstStyle/>
          <a:p>
            <a:pPr algn="l">
              <a:lnSpc>
                <a:spcPts val="2249"/>
              </a:lnSpc>
            </a:pPr>
            <a:r>
              <a:rPr lang="en-US" sz="1812" b="1">
                <a:solidFill>
                  <a:srgbClr val="272525"/>
                </a:solidFill>
                <a:latin typeface="Source Serif Pro Bold"/>
                <a:ea typeface="Source Serif Pro Bold"/>
                <a:cs typeface="Source Serif Pro Bold"/>
                <a:sym typeface="Source Serif Pro Bold"/>
              </a:rPr>
              <a:t>Analytics &amp; Governance</a:t>
            </a:r>
          </a:p>
        </p:txBody>
      </p:sp>
      <p:sp>
        <p:nvSpPr>
          <p:cNvPr id="24" name="TextBox 24"/>
          <p:cNvSpPr txBox="1"/>
          <p:nvPr/>
        </p:nvSpPr>
        <p:spPr>
          <a:xfrm>
            <a:off x="9270797" y="8844553"/>
            <a:ext cx="7935220" cy="696516"/>
          </a:xfrm>
          <a:prstGeom prst="rect">
            <a:avLst/>
          </a:prstGeom>
        </p:spPr>
        <p:txBody>
          <a:bodyPr lIns="0" tIns="0" rIns="0" bIns="0" rtlCol="0" anchor="t">
            <a:spAutoFit/>
          </a:bodyPr>
          <a:lstStyle/>
          <a:p>
            <a:pPr algn="l">
              <a:lnSpc>
                <a:spcPts val="2499"/>
              </a:lnSpc>
            </a:pPr>
            <a:r>
              <a:rPr lang="en-US" sz="1562">
                <a:solidFill>
                  <a:srgbClr val="272525"/>
                </a:solidFill>
                <a:latin typeface="Source Sans 3"/>
                <a:ea typeface="Source Sans 3"/>
                <a:cs typeface="Source Sans 3"/>
                <a:sym typeface="Source Sans 3"/>
              </a:rPr>
              <a:t>Executive dashboards provide real-time fraud metrics, model performance monitoring, pattern analysis, and compliance reporting for strategic decision-making.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13855"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a:ln w="12700">
              <a:solidFill>
                <a:srgbClr val="000000"/>
              </a:solidFill>
            </a:ln>
          </p:spPr>
        </p:sp>
      </p:grpSp>
      <p:sp>
        <p:nvSpPr>
          <p:cNvPr id="5" name="TextBox 5"/>
          <p:cNvSpPr txBox="1"/>
          <p:nvPr/>
        </p:nvSpPr>
        <p:spPr>
          <a:xfrm>
            <a:off x="706260" y="458391"/>
            <a:ext cx="3391795" cy="309267"/>
          </a:xfrm>
          <a:prstGeom prst="rect">
            <a:avLst/>
          </a:prstGeom>
        </p:spPr>
        <p:txBody>
          <a:bodyPr lIns="0" tIns="0" rIns="0" bIns="0" rtlCol="0" anchor="t">
            <a:spAutoFit/>
          </a:bodyPr>
          <a:lstStyle/>
          <a:p>
            <a:pPr algn="l">
              <a:lnSpc>
                <a:spcPts val="2375"/>
              </a:lnSpc>
            </a:pPr>
            <a:r>
              <a:rPr lang="en-US" sz="2000" b="1">
                <a:solidFill>
                  <a:srgbClr val="000000"/>
                </a:solidFill>
                <a:latin typeface="Source Serif Pro Bold"/>
                <a:ea typeface="Source Serif Pro Bold"/>
                <a:cs typeface="Source Serif Pro Bold"/>
                <a:sym typeface="Source Serif Pro Bold"/>
              </a:rPr>
              <a:t>Machine Learning Approach</a:t>
            </a:r>
          </a:p>
        </p:txBody>
      </p:sp>
      <p:sp>
        <p:nvSpPr>
          <p:cNvPr id="6" name="TextBox 6"/>
          <p:cNvSpPr txBox="1"/>
          <p:nvPr/>
        </p:nvSpPr>
        <p:spPr>
          <a:xfrm>
            <a:off x="793109" y="1184634"/>
            <a:ext cx="7489479" cy="177108"/>
          </a:xfrm>
          <a:prstGeom prst="rect">
            <a:avLst/>
          </a:prstGeom>
        </p:spPr>
        <p:txBody>
          <a:bodyPr lIns="0" tIns="0" rIns="0" bIns="0" rtlCol="0" anchor="t">
            <a:spAutoFit/>
          </a:bodyPr>
          <a:lstStyle/>
          <a:p>
            <a:pPr algn="l">
              <a:lnSpc>
                <a:spcPts val="1687"/>
              </a:lnSpc>
            </a:pPr>
            <a:r>
              <a:rPr lang="en-US" sz="1750">
                <a:solidFill>
                  <a:srgbClr val="272525"/>
                </a:solidFill>
                <a:latin typeface="Source Sans 3"/>
                <a:ea typeface="Source Sans 3"/>
                <a:cs typeface="Source Sans 3"/>
                <a:sym typeface="Source Sans 3"/>
              </a:rPr>
              <a:t>Stacking Ensemble Architecture</a:t>
            </a:r>
          </a:p>
        </p:txBody>
      </p:sp>
      <p:sp>
        <p:nvSpPr>
          <p:cNvPr id="7" name="TextBox 7"/>
          <p:cNvSpPr txBox="1"/>
          <p:nvPr/>
        </p:nvSpPr>
        <p:spPr>
          <a:xfrm>
            <a:off x="793109" y="1649330"/>
            <a:ext cx="7489479" cy="392316"/>
          </a:xfrm>
          <a:prstGeom prst="rect">
            <a:avLst/>
          </a:prstGeom>
        </p:spPr>
        <p:txBody>
          <a:bodyPr lIns="0" tIns="0" rIns="0" bIns="0" rtlCol="0" anchor="t">
            <a:spAutoFit/>
          </a:bodyPr>
          <a:lstStyle/>
          <a:p>
            <a:pPr algn="just">
              <a:lnSpc>
                <a:spcPts val="1687"/>
              </a:lnSpc>
            </a:pPr>
            <a:r>
              <a:rPr lang="en-US" sz="1750">
                <a:solidFill>
                  <a:srgbClr val="272525"/>
                </a:solidFill>
                <a:latin typeface="Source Sans 3"/>
                <a:ea typeface="Source Sans 3"/>
                <a:cs typeface="Source Sans 3"/>
                <a:sym typeface="Source Sans 3"/>
              </a:rPr>
              <a:t>Fraud Pulse implements a sophisticated stacking ensemble that combines multiple complementary learners to achieve superior fraud detection performance. This architecture leverages the strengths of each algorithm while mitigating individual weaknesses.</a:t>
            </a:r>
          </a:p>
        </p:txBody>
      </p:sp>
      <p:sp>
        <p:nvSpPr>
          <p:cNvPr id="8" name="TextBox 8"/>
          <p:cNvSpPr txBox="1"/>
          <p:nvPr/>
        </p:nvSpPr>
        <p:spPr>
          <a:xfrm>
            <a:off x="793109" y="3099311"/>
            <a:ext cx="7489479" cy="392316"/>
          </a:xfrm>
          <a:prstGeom prst="rect">
            <a:avLst/>
          </a:prstGeom>
        </p:spPr>
        <p:txBody>
          <a:bodyPr lIns="0" tIns="0" rIns="0" bIns="0" rtlCol="0" anchor="t">
            <a:spAutoFit/>
          </a:bodyPr>
          <a:lstStyle/>
          <a:p>
            <a:pPr algn="just">
              <a:lnSpc>
                <a:spcPts val="1687"/>
              </a:lnSpc>
            </a:pPr>
            <a:r>
              <a:rPr lang="en-US" sz="1750">
                <a:solidFill>
                  <a:srgbClr val="272525"/>
                </a:solidFill>
                <a:latin typeface="Source Sans 3"/>
                <a:ea typeface="Source Sans 3"/>
                <a:cs typeface="Source Sans 3"/>
                <a:sym typeface="Source Sans 3"/>
              </a:rPr>
              <a:t>The ensemble handles severe class imbalance inherent in fraud detection datasets and captures non-linear behavioral anomalies that single-model approaches consistently miss.</a:t>
            </a:r>
          </a:p>
        </p:txBody>
      </p:sp>
      <p:sp>
        <p:nvSpPr>
          <p:cNvPr id="9" name="Freeform 9" descr="preencoded.png"/>
          <p:cNvSpPr/>
          <p:nvPr/>
        </p:nvSpPr>
        <p:spPr>
          <a:xfrm>
            <a:off x="11602603" y="793699"/>
            <a:ext cx="4663488" cy="4663488"/>
          </a:xfrm>
          <a:custGeom>
            <a:avLst/>
            <a:gdLst/>
            <a:ahLst/>
            <a:cxnLst/>
            <a:rect l="l" t="t" r="r" b="b"/>
            <a:pathLst>
              <a:path w="4663488" h="4663488">
                <a:moveTo>
                  <a:pt x="0" y="0"/>
                </a:moveTo>
                <a:lnTo>
                  <a:pt x="4663487" y="0"/>
                </a:lnTo>
                <a:lnTo>
                  <a:pt x="4663487" y="4663488"/>
                </a:lnTo>
                <a:lnTo>
                  <a:pt x="0" y="4663488"/>
                </a:lnTo>
                <a:lnTo>
                  <a:pt x="0" y="0"/>
                </a:lnTo>
                <a:close/>
              </a:path>
            </a:pathLst>
          </a:custGeom>
          <a:blipFill>
            <a:blip r:embed="rId4"/>
            <a:stretch>
              <a:fillRect/>
            </a:stretch>
          </a:blipFill>
        </p:spPr>
      </p:sp>
      <p:grpSp>
        <p:nvGrpSpPr>
          <p:cNvPr id="10" name="Group 10"/>
          <p:cNvGrpSpPr/>
          <p:nvPr/>
        </p:nvGrpSpPr>
        <p:grpSpPr>
          <a:xfrm>
            <a:off x="9174470" y="4936322"/>
            <a:ext cx="9525" cy="2669534"/>
            <a:chOff x="0" y="0"/>
            <a:chExt cx="12700" cy="3559378"/>
          </a:xfrm>
        </p:grpSpPr>
        <p:sp>
          <p:nvSpPr>
            <p:cNvPr id="11" name="Freeform 11"/>
            <p:cNvSpPr/>
            <p:nvPr/>
          </p:nvSpPr>
          <p:spPr>
            <a:xfrm>
              <a:off x="0" y="0"/>
              <a:ext cx="12700" cy="3559429"/>
            </a:xfrm>
            <a:custGeom>
              <a:avLst/>
              <a:gdLst/>
              <a:ahLst/>
              <a:cxnLst/>
              <a:rect l="l" t="t" r="r" b="b"/>
              <a:pathLst>
                <a:path w="12700" h="3559429">
                  <a:moveTo>
                    <a:pt x="0" y="6350"/>
                  </a:moveTo>
                  <a:cubicBezTo>
                    <a:pt x="0" y="2794"/>
                    <a:pt x="2794" y="0"/>
                    <a:pt x="6350" y="0"/>
                  </a:cubicBezTo>
                  <a:cubicBezTo>
                    <a:pt x="9906" y="0"/>
                    <a:pt x="12700" y="2794"/>
                    <a:pt x="12700" y="6350"/>
                  </a:cubicBezTo>
                  <a:lnTo>
                    <a:pt x="12700" y="3553079"/>
                  </a:lnTo>
                  <a:cubicBezTo>
                    <a:pt x="12700" y="3556635"/>
                    <a:pt x="9906" y="3559429"/>
                    <a:pt x="6350" y="3559429"/>
                  </a:cubicBezTo>
                  <a:cubicBezTo>
                    <a:pt x="2794" y="3559429"/>
                    <a:pt x="0" y="3556635"/>
                    <a:pt x="0" y="3553079"/>
                  </a:cubicBezTo>
                  <a:close/>
                </a:path>
              </a:pathLst>
            </a:custGeom>
            <a:solidFill>
              <a:srgbClr val="D6BADD"/>
            </a:solidFill>
            <a:ln w="12700">
              <a:solidFill>
                <a:srgbClr val="000000"/>
              </a:solidFill>
            </a:ln>
          </p:spPr>
        </p:sp>
      </p:grpSp>
      <p:grpSp>
        <p:nvGrpSpPr>
          <p:cNvPr id="12" name="Group 12"/>
          <p:cNvGrpSpPr/>
          <p:nvPr/>
        </p:nvGrpSpPr>
        <p:grpSpPr>
          <a:xfrm>
            <a:off x="657225" y="4677746"/>
            <a:ext cx="8491538" cy="1334795"/>
            <a:chOff x="0" y="0"/>
            <a:chExt cx="11322050" cy="1242022"/>
          </a:xfrm>
        </p:grpSpPr>
        <p:sp>
          <p:nvSpPr>
            <p:cNvPr id="13" name="Freeform 13"/>
            <p:cNvSpPr/>
            <p:nvPr/>
          </p:nvSpPr>
          <p:spPr>
            <a:xfrm>
              <a:off x="6350" y="6350"/>
              <a:ext cx="11309350" cy="1229360"/>
            </a:xfrm>
            <a:custGeom>
              <a:avLst/>
              <a:gdLst/>
              <a:ahLst/>
              <a:cxnLst/>
              <a:rect l="l" t="t" r="r" b="b"/>
              <a:pathLst>
                <a:path w="11309350" h="1229360">
                  <a:moveTo>
                    <a:pt x="0" y="69723"/>
                  </a:moveTo>
                  <a:cubicBezTo>
                    <a:pt x="0" y="31242"/>
                    <a:pt x="31496" y="0"/>
                    <a:pt x="70358" y="0"/>
                  </a:cubicBezTo>
                  <a:lnTo>
                    <a:pt x="11238992" y="0"/>
                  </a:lnTo>
                  <a:cubicBezTo>
                    <a:pt x="11277854" y="0"/>
                    <a:pt x="11309350" y="31242"/>
                    <a:pt x="11309350" y="69723"/>
                  </a:cubicBezTo>
                  <a:lnTo>
                    <a:pt x="11309350" y="1159637"/>
                  </a:lnTo>
                  <a:cubicBezTo>
                    <a:pt x="11309350" y="1198118"/>
                    <a:pt x="11277854" y="1229360"/>
                    <a:pt x="11238992" y="1229360"/>
                  </a:cubicBezTo>
                  <a:lnTo>
                    <a:pt x="70358" y="1229360"/>
                  </a:lnTo>
                  <a:cubicBezTo>
                    <a:pt x="31496" y="1229360"/>
                    <a:pt x="0" y="1198118"/>
                    <a:pt x="0" y="1159637"/>
                  </a:cubicBezTo>
                  <a:close/>
                </a:path>
              </a:pathLst>
            </a:custGeom>
            <a:solidFill>
              <a:srgbClr val="F0D4F7"/>
            </a:solidFill>
            <a:ln w="12700">
              <a:solidFill>
                <a:srgbClr val="000000"/>
              </a:solidFill>
            </a:ln>
          </p:spPr>
        </p:sp>
        <p:sp>
          <p:nvSpPr>
            <p:cNvPr id="14" name="Freeform 14"/>
            <p:cNvSpPr/>
            <p:nvPr/>
          </p:nvSpPr>
          <p:spPr>
            <a:xfrm>
              <a:off x="0" y="0"/>
              <a:ext cx="11322050" cy="1242060"/>
            </a:xfrm>
            <a:custGeom>
              <a:avLst/>
              <a:gdLst/>
              <a:ahLst/>
              <a:cxnLst/>
              <a:rect l="l" t="t" r="r" b="b"/>
              <a:pathLst>
                <a:path w="11322050" h="1242060">
                  <a:moveTo>
                    <a:pt x="0" y="76073"/>
                  </a:moveTo>
                  <a:cubicBezTo>
                    <a:pt x="0" y="34036"/>
                    <a:pt x="34417" y="0"/>
                    <a:pt x="76708" y="0"/>
                  </a:cubicBezTo>
                  <a:lnTo>
                    <a:pt x="11245342" y="0"/>
                  </a:lnTo>
                  <a:lnTo>
                    <a:pt x="11245342" y="6350"/>
                  </a:lnTo>
                  <a:lnTo>
                    <a:pt x="11245342" y="0"/>
                  </a:lnTo>
                  <a:cubicBezTo>
                    <a:pt x="11287633" y="0"/>
                    <a:pt x="11322050" y="34036"/>
                    <a:pt x="11322050" y="76073"/>
                  </a:cubicBezTo>
                  <a:lnTo>
                    <a:pt x="11315700" y="76073"/>
                  </a:lnTo>
                  <a:lnTo>
                    <a:pt x="11322050" y="76073"/>
                  </a:lnTo>
                  <a:lnTo>
                    <a:pt x="11322050" y="1165987"/>
                  </a:lnTo>
                  <a:lnTo>
                    <a:pt x="11315700" y="1165987"/>
                  </a:lnTo>
                  <a:lnTo>
                    <a:pt x="11322050" y="1165987"/>
                  </a:lnTo>
                  <a:cubicBezTo>
                    <a:pt x="11322050" y="1208024"/>
                    <a:pt x="11287633" y="1242060"/>
                    <a:pt x="11245342" y="1242060"/>
                  </a:cubicBezTo>
                  <a:lnTo>
                    <a:pt x="11245342" y="1235710"/>
                  </a:lnTo>
                  <a:lnTo>
                    <a:pt x="11245342" y="1242060"/>
                  </a:lnTo>
                  <a:lnTo>
                    <a:pt x="76708" y="1242060"/>
                  </a:lnTo>
                  <a:lnTo>
                    <a:pt x="76708" y="1235710"/>
                  </a:lnTo>
                  <a:lnTo>
                    <a:pt x="76708" y="1242060"/>
                  </a:lnTo>
                  <a:cubicBezTo>
                    <a:pt x="34417" y="1242060"/>
                    <a:pt x="0" y="1208024"/>
                    <a:pt x="0" y="1165987"/>
                  </a:cubicBezTo>
                  <a:lnTo>
                    <a:pt x="0" y="76073"/>
                  </a:lnTo>
                  <a:lnTo>
                    <a:pt x="6350" y="76073"/>
                  </a:lnTo>
                  <a:lnTo>
                    <a:pt x="0" y="76073"/>
                  </a:lnTo>
                  <a:moveTo>
                    <a:pt x="12700" y="76073"/>
                  </a:moveTo>
                  <a:lnTo>
                    <a:pt x="12700" y="1165987"/>
                  </a:lnTo>
                  <a:lnTo>
                    <a:pt x="6350" y="1165987"/>
                  </a:lnTo>
                  <a:lnTo>
                    <a:pt x="12700" y="1165987"/>
                  </a:lnTo>
                  <a:cubicBezTo>
                    <a:pt x="12700" y="1200912"/>
                    <a:pt x="41275" y="1229360"/>
                    <a:pt x="76708" y="1229360"/>
                  </a:cubicBezTo>
                  <a:lnTo>
                    <a:pt x="11245342" y="1229360"/>
                  </a:lnTo>
                  <a:cubicBezTo>
                    <a:pt x="11280775" y="1229360"/>
                    <a:pt x="11309350" y="1200912"/>
                    <a:pt x="11309350" y="1165987"/>
                  </a:cubicBezTo>
                  <a:lnTo>
                    <a:pt x="11309350" y="76073"/>
                  </a:lnTo>
                  <a:cubicBezTo>
                    <a:pt x="11309350" y="41148"/>
                    <a:pt x="11280775" y="12700"/>
                    <a:pt x="11245342" y="12700"/>
                  </a:cubicBezTo>
                  <a:lnTo>
                    <a:pt x="76708" y="12700"/>
                  </a:lnTo>
                  <a:lnTo>
                    <a:pt x="76708" y="6350"/>
                  </a:lnTo>
                  <a:lnTo>
                    <a:pt x="76708" y="12700"/>
                  </a:lnTo>
                  <a:cubicBezTo>
                    <a:pt x="41275" y="12700"/>
                    <a:pt x="12700" y="41148"/>
                    <a:pt x="12700" y="76073"/>
                  </a:cubicBezTo>
                  <a:close/>
                </a:path>
              </a:pathLst>
            </a:custGeom>
            <a:solidFill>
              <a:srgbClr val="D6BADD"/>
            </a:solidFill>
            <a:ln w="12700">
              <a:solidFill>
                <a:srgbClr val="000000"/>
              </a:solidFill>
            </a:ln>
          </p:spPr>
        </p:sp>
      </p:grpSp>
      <p:sp>
        <p:nvSpPr>
          <p:cNvPr id="15" name="TextBox 15"/>
          <p:cNvSpPr txBox="1"/>
          <p:nvPr/>
        </p:nvSpPr>
        <p:spPr>
          <a:xfrm>
            <a:off x="6096000" y="4936322"/>
            <a:ext cx="2926175" cy="182742"/>
          </a:xfrm>
          <a:prstGeom prst="rect">
            <a:avLst/>
          </a:prstGeom>
        </p:spPr>
        <p:txBody>
          <a:bodyPr wrap="square" lIns="0" tIns="0" rIns="0" bIns="0" rtlCol="0" anchor="t">
            <a:spAutoFit/>
          </a:bodyPr>
          <a:lstStyle/>
          <a:p>
            <a:pPr algn="r">
              <a:lnSpc>
                <a:spcPts val="1187"/>
              </a:lnSpc>
            </a:pPr>
            <a:r>
              <a:rPr lang="en-US" sz="1750" b="1" dirty="0" err="1">
                <a:solidFill>
                  <a:srgbClr val="272525"/>
                </a:solidFill>
                <a:latin typeface="Source Serif Pro Bold"/>
                <a:ea typeface="Source Serif Pro Bold"/>
                <a:cs typeface="Source Serif Pro Bold"/>
                <a:sym typeface="Source Serif Pro Bold"/>
              </a:rPr>
              <a:t>XGBoost</a:t>
            </a:r>
            <a:r>
              <a:rPr lang="en-US" sz="1750" b="1" dirty="0">
                <a:solidFill>
                  <a:srgbClr val="272525"/>
                </a:solidFill>
                <a:latin typeface="Source Serif Pro Bold"/>
                <a:ea typeface="Source Serif Pro Bold"/>
                <a:cs typeface="Source Serif Pro Bold"/>
                <a:sym typeface="Source Serif Pro Bold"/>
              </a:rPr>
              <a:t> (Primary Learner)</a:t>
            </a:r>
          </a:p>
        </p:txBody>
      </p:sp>
      <p:sp>
        <p:nvSpPr>
          <p:cNvPr id="16" name="TextBox 16"/>
          <p:cNvSpPr txBox="1"/>
          <p:nvPr/>
        </p:nvSpPr>
        <p:spPr>
          <a:xfrm>
            <a:off x="746493" y="5306696"/>
            <a:ext cx="8257584" cy="277416"/>
          </a:xfrm>
          <a:prstGeom prst="rect">
            <a:avLst/>
          </a:prstGeom>
        </p:spPr>
        <p:txBody>
          <a:bodyPr lIns="0" tIns="0" rIns="0" bIns="0" rtlCol="0" anchor="t">
            <a:spAutoFit/>
          </a:bodyPr>
          <a:lstStyle/>
          <a:p>
            <a:pPr algn="r">
              <a:lnSpc>
                <a:spcPts val="1312"/>
              </a:lnSpc>
            </a:pPr>
            <a:r>
              <a:rPr lang="en-US" sz="1750" dirty="0">
                <a:solidFill>
                  <a:srgbClr val="272525"/>
                </a:solidFill>
                <a:latin typeface="Source Sans 3"/>
                <a:ea typeface="Source Sans 3"/>
                <a:cs typeface="Source Sans 3"/>
                <a:sym typeface="Source Sans 3"/>
              </a:rPr>
              <a:t>Gradient boosting framework excels at capturing complex feature interactions and non-linear decision boundaries. Handles high-dimensional feature spaces efficiently while maintaining inference speed.</a:t>
            </a:r>
          </a:p>
        </p:txBody>
      </p:sp>
      <p:grpSp>
        <p:nvGrpSpPr>
          <p:cNvPr id="17" name="Group 17"/>
          <p:cNvGrpSpPr/>
          <p:nvPr/>
        </p:nvGrpSpPr>
        <p:grpSpPr>
          <a:xfrm>
            <a:off x="9179233" y="5794715"/>
            <a:ext cx="8491538" cy="1177270"/>
            <a:chOff x="0" y="0"/>
            <a:chExt cx="11322050" cy="1254582"/>
          </a:xfrm>
        </p:grpSpPr>
        <p:sp>
          <p:nvSpPr>
            <p:cNvPr id="18" name="Freeform 18"/>
            <p:cNvSpPr/>
            <p:nvPr/>
          </p:nvSpPr>
          <p:spPr>
            <a:xfrm>
              <a:off x="6350" y="6350"/>
              <a:ext cx="11309350" cy="1241933"/>
            </a:xfrm>
            <a:custGeom>
              <a:avLst/>
              <a:gdLst/>
              <a:ahLst/>
              <a:cxnLst/>
              <a:rect l="l" t="t" r="r" b="b"/>
              <a:pathLst>
                <a:path w="11309350" h="1241933">
                  <a:moveTo>
                    <a:pt x="0" y="0"/>
                  </a:moveTo>
                  <a:lnTo>
                    <a:pt x="11309350" y="0"/>
                  </a:lnTo>
                  <a:lnTo>
                    <a:pt x="11309350" y="1241933"/>
                  </a:lnTo>
                  <a:lnTo>
                    <a:pt x="0" y="1241933"/>
                  </a:lnTo>
                  <a:close/>
                </a:path>
              </a:pathLst>
            </a:custGeom>
            <a:solidFill>
              <a:srgbClr val="F0D4F7"/>
            </a:solidFill>
            <a:ln w="12700">
              <a:solidFill>
                <a:srgbClr val="000000"/>
              </a:solidFill>
            </a:ln>
          </p:spPr>
        </p:sp>
        <p:sp>
          <p:nvSpPr>
            <p:cNvPr id="19" name="Freeform 19"/>
            <p:cNvSpPr/>
            <p:nvPr/>
          </p:nvSpPr>
          <p:spPr>
            <a:xfrm>
              <a:off x="0" y="0"/>
              <a:ext cx="11322050" cy="1254633"/>
            </a:xfrm>
            <a:custGeom>
              <a:avLst/>
              <a:gdLst/>
              <a:ahLst/>
              <a:cxnLst/>
              <a:rect l="l" t="t" r="r" b="b"/>
              <a:pathLst>
                <a:path w="11322050" h="1254633">
                  <a:moveTo>
                    <a:pt x="6350" y="0"/>
                  </a:moveTo>
                  <a:lnTo>
                    <a:pt x="11315700" y="0"/>
                  </a:lnTo>
                  <a:cubicBezTo>
                    <a:pt x="11319256" y="0"/>
                    <a:pt x="11322050" y="2794"/>
                    <a:pt x="11322050" y="6350"/>
                  </a:cubicBezTo>
                  <a:lnTo>
                    <a:pt x="11322050" y="1248283"/>
                  </a:lnTo>
                  <a:cubicBezTo>
                    <a:pt x="11322050" y="1251839"/>
                    <a:pt x="11319256" y="1254633"/>
                    <a:pt x="11315700" y="1254633"/>
                  </a:cubicBezTo>
                  <a:lnTo>
                    <a:pt x="6350" y="1254633"/>
                  </a:lnTo>
                  <a:cubicBezTo>
                    <a:pt x="2794" y="1254633"/>
                    <a:pt x="0" y="1251839"/>
                    <a:pt x="0" y="1248283"/>
                  </a:cubicBezTo>
                  <a:lnTo>
                    <a:pt x="0" y="6350"/>
                  </a:lnTo>
                  <a:cubicBezTo>
                    <a:pt x="0" y="2794"/>
                    <a:pt x="2794" y="0"/>
                    <a:pt x="6350" y="0"/>
                  </a:cubicBezTo>
                  <a:moveTo>
                    <a:pt x="6350" y="12700"/>
                  </a:moveTo>
                  <a:lnTo>
                    <a:pt x="6350" y="6350"/>
                  </a:lnTo>
                  <a:lnTo>
                    <a:pt x="12700" y="6350"/>
                  </a:lnTo>
                  <a:lnTo>
                    <a:pt x="12700" y="1248283"/>
                  </a:lnTo>
                  <a:lnTo>
                    <a:pt x="6350" y="1248283"/>
                  </a:lnTo>
                  <a:lnTo>
                    <a:pt x="6350" y="1241933"/>
                  </a:lnTo>
                  <a:lnTo>
                    <a:pt x="11315700" y="1241933"/>
                  </a:lnTo>
                  <a:lnTo>
                    <a:pt x="11315700" y="1248283"/>
                  </a:lnTo>
                  <a:lnTo>
                    <a:pt x="11309350" y="1248283"/>
                  </a:lnTo>
                  <a:lnTo>
                    <a:pt x="11309350" y="6350"/>
                  </a:lnTo>
                  <a:lnTo>
                    <a:pt x="11315700" y="6350"/>
                  </a:lnTo>
                  <a:lnTo>
                    <a:pt x="11315700" y="12700"/>
                  </a:lnTo>
                  <a:lnTo>
                    <a:pt x="6350" y="12700"/>
                  </a:lnTo>
                  <a:close/>
                </a:path>
              </a:pathLst>
            </a:custGeom>
            <a:solidFill>
              <a:srgbClr val="D6BADD"/>
            </a:solidFill>
            <a:ln w="12700">
              <a:solidFill>
                <a:srgbClr val="000000"/>
              </a:solidFill>
            </a:ln>
          </p:spPr>
        </p:sp>
      </p:grpSp>
      <p:sp>
        <p:nvSpPr>
          <p:cNvPr id="20" name="TextBox 20"/>
          <p:cNvSpPr txBox="1"/>
          <p:nvPr/>
        </p:nvSpPr>
        <p:spPr>
          <a:xfrm>
            <a:off x="9244338" y="5946520"/>
            <a:ext cx="3633462" cy="182742"/>
          </a:xfrm>
          <a:prstGeom prst="rect">
            <a:avLst/>
          </a:prstGeom>
        </p:spPr>
        <p:txBody>
          <a:bodyPr wrap="square" lIns="0" tIns="0" rIns="0" bIns="0" rtlCol="0" anchor="t">
            <a:spAutoFit/>
          </a:bodyPr>
          <a:lstStyle/>
          <a:p>
            <a:pPr algn="l">
              <a:lnSpc>
                <a:spcPts val="1187"/>
              </a:lnSpc>
            </a:pPr>
            <a:r>
              <a:rPr lang="en-US" sz="1750" b="1" dirty="0">
                <a:solidFill>
                  <a:srgbClr val="272525"/>
                </a:solidFill>
                <a:latin typeface="Source Serif Pro Bold"/>
                <a:ea typeface="Source Serif Pro Bold"/>
                <a:cs typeface="Source Serif Pro Bold"/>
                <a:sym typeface="Source Serif Pro Bold"/>
              </a:rPr>
              <a:t>Random Forest (Stability Learner)</a:t>
            </a:r>
          </a:p>
        </p:txBody>
      </p:sp>
      <p:sp>
        <p:nvSpPr>
          <p:cNvPr id="21" name="TextBox 21"/>
          <p:cNvSpPr txBox="1"/>
          <p:nvPr/>
        </p:nvSpPr>
        <p:spPr>
          <a:xfrm>
            <a:off x="9256214" y="6312513"/>
            <a:ext cx="8257584" cy="277416"/>
          </a:xfrm>
          <a:prstGeom prst="rect">
            <a:avLst/>
          </a:prstGeom>
        </p:spPr>
        <p:txBody>
          <a:bodyPr lIns="0" tIns="0" rIns="0" bIns="0" rtlCol="0" anchor="t">
            <a:spAutoFit/>
          </a:bodyPr>
          <a:lstStyle/>
          <a:p>
            <a:pPr algn="l">
              <a:lnSpc>
                <a:spcPts val="1312"/>
              </a:lnSpc>
            </a:pPr>
            <a:r>
              <a:rPr lang="en-US" sz="1750" dirty="0">
                <a:solidFill>
                  <a:srgbClr val="272525"/>
                </a:solidFill>
                <a:latin typeface="Source Sans 3"/>
                <a:ea typeface="Source Sans 3"/>
                <a:cs typeface="Source Sans 3"/>
                <a:sym typeface="Source Sans 3"/>
              </a:rPr>
              <a:t>Ensemble of decision trees provides robust predictions resistant to overfitting. Offers interpretability through feature importance analysis and maintains consistent performance across diverse fraud patterns.</a:t>
            </a:r>
          </a:p>
        </p:txBody>
      </p:sp>
      <p:grpSp>
        <p:nvGrpSpPr>
          <p:cNvPr id="22" name="Group 22"/>
          <p:cNvGrpSpPr/>
          <p:nvPr/>
        </p:nvGrpSpPr>
        <p:grpSpPr>
          <a:xfrm>
            <a:off x="687695" y="6976748"/>
            <a:ext cx="8491538" cy="1368105"/>
            <a:chOff x="0" y="0"/>
            <a:chExt cx="11322050" cy="1369543"/>
          </a:xfrm>
        </p:grpSpPr>
        <p:sp>
          <p:nvSpPr>
            <p:cNvPr id="23" name="Freeform 23"/>
            <p:cNvSpPr/>
            <p:nvPr/>
          </p:nvSpPr>
          <p:spPr>
            <a:xfrm>
              <a:off x="6350" y="6350"/>
              <a:ext cx="11309350" cy="1356868"/>
            </a:xfrm>
            <a:custGeom>
              <a:avLst/>
              <a:gdLst/>
              <a:ahLst/>
              <a:cxnLst/>
              <a:rect l="l" t="t" r="r" b="b"/>
              <a:pathLst>
                <a:path w="11309350" h="1356868">
                  <a:moveTo>
                    <a:pt x="0" y="94996"/>
                  </a:moveTo>
                  <a:cubicBezTo>
                    <a:pt x="0" y="42545"/>
                    <a:pt x="42926" y="0"/>
                    <a:pt x="95758" y="0"/>
                  </a:cubicBezTo>
                  <a:lnTo>
                    <a:pt x="11213592" y="0"/>
                  </a:lnTo>
                  <a:cubicBezTo>
                    <a:pt x="11266424" y="0"/>
                    <a:pt x="11309350" y="42545"/>
                    <a:pt x="11309350" y="94996"/>
                  </a:cubicBezTo>
                  <a:lnTo>
                    <a:pt x="11309350" y="1261872"/>
                  </a:lnTo>
                  <a:cubicBezTo>
                    <a:pt x="11309350" y="1314323"/>
                    <a:pt x="11266424" y="1356868"/>
                    <a:pt x="11213592" y="1356868"/>
                  </a:cubicBezTo>
                  <a:lnTo>
                    <a:pt x="95758" y="1356868"/>
                  </a:lnTo>
                  <a:cubicBezTo>
                    <a:pt x="42926" y="1356868"/>
                    <a:pt x="0" y="1314323"/>
                    <a:pt x="0" y="1261872"/>
                  </a:cubicBezTo>
                  <a:close/>
                </a:path>
              </a:pathLst>
            </a:custGeom>
            <a:solidFill>
              <a:srgbClr val="F0D4F7"/>
            </a:solidFill>
            <a:ln w="12700">
              <a:solidFill>
                <a:srgbClr val="000000"/>
              </a:solidFill>
            </a:ln>
          </p:spPr>
        </p:sp>
        <p:sp>
          <p:nvSpPr>
            <p:cNvPr id="24" name="Freeform 24"/>
            <p:cNvSpPr/>
            <p:nvPr/>
          </p:nvSpPr>
          <p:spPr>
            <a:xfrm>
              <a:off x="0" y="0"/>
              <a:ext cx="11322050" cy="1369568"/>
            </a:xfrm>
            <a:custGeom>
              <a:avLst/>
              <a:gdLst/>
              <a:ahLst/>
              <a:cxnLst/>
              <a:rect l="l" t="t" r="r" b="b"/>
              <a:pathLst>
                <a:path w="11322050" h="1369568">
                  <a:moveTo>
                    <a:pt x="0" y="101346"/>
                  </a:moveTo>
                  <a:cubicBezTo>
                    <a:pt x="0" y="45339"/>
                    <a:pt x="45720" y="0"/>
                    <a:pt x="102108" y="0"/>
                  </a:cubicBezTo>
                  <a:lnTo>
                    <a:pt x="11219942" y="0"/>
                  </a:lnTo>
                  <a:lnTo>
                    <a:pt x="11219942" y="6350"/>
                  </a:lnTo>
                  <a:lnTo>
                    <a:pt x="11219942" y="0"/>
                  </a:lnTo>
                  <a:cubicBezTo>
                    <a:pt x="11276330" y="0"/>
                    <a:pt x="11322050" y="45339"/>
                    <a:pt x="11322050" y="101346"/>
                  </a:cubicBezTo>
                  <a:lnTo>
                    <a:pt x="11315700" y="101346"/>
                  </a:lnTo>
                  <a:lnTo>
                    <a:pt x="11322050" y="101346"/>
                  </a:lnTo>
                  <a:lnTo>
                    <a:pt x="11322050" y="1268222"/>
                  </a:lnTo>
                  <a:lnTo>
                    <a:pt x="11315700" y="1268222"/>
                  </a:lnTo>
                  <a:lnTo>
                    <a:pt x="11322050" y="1268222"/>
                  </a:lnTo>
                  <a:cubicBezTo>
                    <a:pt x="11322050" y="1324229"/>
                    <a:pt x="11276330" y="1369568"/>
                    <a:pt x="11219942" y="1369568"/>
                  </a:cubicBezTo>
                  <a:lnTo>
                    <a:pt x="11219942" y="1363218"/>
                  </a:lnTo>
                  <a:lnTo>
                    <a:pt x="11219942" y="1369568"/>
                  </a:lnTo>
                  <a:lnTo>
                    <a:pt x="102108" y="1369568"/>
                  </a:lnTo>
                  <a:lnTo>
                    <a:pt x="102108" y="1363218"/>
                  </a:lnTo>
                  <a:lnTo>
                    <a:pt x="102108" y="1369568"/>
                  </a:lnTo>
                  <a:cubicBezTo>
                    <a:pt x="45720" y="1369568"/>
                    <a:pt x="0" y="1324229"/>
                    <a:pt x="0" y="1268222"/>
                  </a:cubicBezTo>
                  <a:lnTo>
                    <a:pt x="0" y="101346"/>
                  </a:lnTo>
                  <a:lnTo>
                    <a:pt x="6350" y="101346"/>
                  </a:lnTo>
                  <a:lnTo>
                    <a:pt x="0" y="101346"/>
                  </a:lnTo>
                  <a:moveTo>
                    <a:pt x="12700" y="101346"/>
                  </a:moveTo>
                  <a:lnTo>
                    <a:pt x="12700" y="1268222"/>
                  </a:lnTo>
                  <a:lnTo>
                    <a:pt x="6350" y="1268222"/>
                  </a:lnTo>
                  <a:lnTo>
                    <a:pt x="12700" y="1268222"/>
                  </a:lnTo>
                  <a:cubicBezTo>
                    <a:pt x="12700" y="1317117"/>
                    <a:pt x="52705" y="1356868"/>
                    <a:pt x="102108" y="1356868"/>
                  </a:cubicBezTo>
                  <a:lnTo>
                    <a:pt x="11219942" y="1356868"/>
                  </a:lnTo>
                  <a:cubicBezTo>
                    <a:pt x="11269345" y="1356868"/>
                    <a:pt x="11309350" y="1317117"/>
                    <a:pt x="11309350" y="1268222"/>
                  </a:cubicBezTo>
                  <a:lnTo>
                    <a:pt x="11309350" y="101346"/>
                  </a:lnTo>
                  <a:cubicBezTo>
                    <a:pt x="11309350" y="52451"/>
                    <a:pt x="11269345" y="12700"/>
                    <a:pt x="11219942" y="12700"/>
                  </a:cubicBezTo>
                  <a:lnTo>
                    <a:pt x="102108" y="12700"/>
                  </a:lnTo>
                  <a:lnTo>
                    <a:pt x="102108" y="6350"/>
                  </a:lnTo>
                  <a:lnTo>
                    <a:pt x="102108" y="12700"/>
                  </a:lnTo>
                  <a:cubicBezTo>
                    <a:pt x="52705" y="12700"/>
                    <a:pt x="12700" y="52451"/>
                    <a:pt x="12700" y="101346"/>
                  </a:cubicBezTo>
                  <a:close/>
                </a:path>
              </a:pathLst>
            </a:custGeom>
            <a:solidFill>
              <a:srgbClr val="D6BADD"/>
            </a:solidFill>
            <a:ln w="12700">
              <a:solidFill>
                <a:srgbClr val="000000"/>
              </a:solidFill>
            </a:ln>
          </p:spPr>
        </p:sp>
      </p:grpSp>
      <p:sp>
        <p:nvSpPr>
          <p:cNvPr id="25" name="TextBox 25"/>
          <p:cNvSpPr txBox="1"/>
          <p:nvPr/>
        </p:nvSpPr>
        <p:spPr>
          <a:xfrm>
            <a:off x="5257801" y="7189364"/>
            <a:ext cx="3805332" cy="182742"/>
          </a:xfrm>
          <a:prstGeom prst="rect">
            <a:avLst/>
          </a:prstGeom>
        </p:spPr>
        <p:txBody>
          <a:bodyPr wrap="square" lIns="0" tIns="0" rIns="0" bIns="0" rtlCol="0" anchor="t">
            <a:spAutoFit/>
          </a:bodyPr>
          <a:lstStyle/>
          <a:p>
            <a:pPr algn="r">
              <a:lnSpc>
                <a:spcPts val="1187"/>
              </a:lnSpc>
            </a:pPr>
            <a:r>
              <a:rPr lang="en-US" sz="1750" b="1" dirty="0">
                <a:solidFill>
                  <a:srgbClr val="272525"/>
                </a:solidFill>
                <a:latin typeface="Source Serif Pro Bold"/>
                <a:ea typeface="Source Serif Pro Bold"/>
                <a:cs typeface="Source Serif Pro Bold"/>
                <a:sym typeface="Source Serif Pro Bold"/>
              </a:rPr>
              <a:t>Logistic Regression (Meta-Classifier)</a:t>
            </a:r>
          </a:p>
        </p:txBody>
      </p:sp>
      <p:sp>
        <p:nvSpPr>
          <p:cNvPr id="26" name="TextBox 26"/>
          <p:cNvSpPr txBox="1"/>
          <p:nvPr/>
        </p:nvSpPr>
        <p:spPr>
          <a:xfrm>
            <a:off x="855947" y="7525696"/>
            <a:ext cx="8257584" cy="105366"/>
          </a:xfrm>
          <a:prstGeom prst="rect">
            <a:avLst/>
          </a:prstGeom>
        </p:spPr>
        <p:txBody>
          <a:bodyPr lIns="0" tIns="0" rIns="0" bIns="0" rtlCol="0" anchor="t">
            <a:spAutoFit/>
          </a:bodyPr>
          <a:lstStyle/>
          <a:p>
            <a:pPr algn="r">
              <a:lnSpc>
                <a:spcPts val="1312"/>
              </a:lnSpc>
            </a:pPr>
            <a:r>
              <a:rPr lang="en-US" sz="1750" dirty="0">
                <a:solidFill>
                  <a:srgbClr val="272525"/>
                </a:solidFill>
                <a:latin typeface="Source Sans 3"/>
                <a:ea typeface="Source Sans 3"/>
                <a:cs typeface="Source Sans 3"/>
                <a:sym typeface="Source Sans 3"/>
              </a:rPr>
              <a:t>Final layer synthesizes predictions from base learners into optimized fraud probability </a:t>
            </a:r>
          </a:p>
          <a:p>
            <a:pPr algn="r">
              <a:lnSpc>
                <a:spcPts val="1312"/>
              </a:lnSpc>
            </a:pPr>
            <a:r>
              <a:rPr lang="en-US" sz="1750" dirty="0">
                <a:solidFill>
                  <a:srgbClr val="272525"/>
                </a:solidFill>
                <a:latin typeface="Source Sans 3"/>
                <a:ea typeface="Source Sans 3"/>
                <a:cs typeface="Source Sans 3"/>
                <a:sym typeface="Source Sans 3"/>
              </a:rPr>
              <a:t>scores. </a:t>
            </a:r>
          </a:p>
          <a:p>
            <a:pPr algn="r">
              <a:lnSpc>
                <a:spcPts val="1312"/>
              </a:lnSpc>
            </a:pPr>
            <a:r>
              <a:rPr lang="en-US" sz="1750" dirty="0">
                <a:solidFill>
                  <a:srgbClr val="272525"/>
                </a:solidFill>
                <a:latin typeface="Source Sans 3"/>
                <a:ea typeface="Source Sans 3"/>
                <a:cs typeface="Source Sans 3"/>
                <a:sym typeface="Source Sans 3"/>
              </a:rPr>
              <a:t>Calibrated outputs enable precise risk thresholding and interpretable decision boundaries.</a:t>
            </a:r>
          </a:p>
        </p:txBody>
      </p:sp>
      <p:sp>
        <p:nvSpPr>
          <p:cNvPr id="27" name="TextBox 27"/>
          <p:cNvSpPr txBox="1"/>
          <p:nvPr/>
        </p:nvSpPr>
        <p:spPr>
          <a:xfrm>
            <a:off x="774202" y="8535256"/>
            <a:ext cx="2349998" cy="201978"/>
          </a:xfrm>
          <a:prstGeom prst="rect">
            <a:avLst/>
          </a:prstGeom>
        </p:spPr>
        <p:txBody>
          <a:bodyPr wrap="square" lIns="0" tIns="0" rIns="0" bIns="0" rtlCol="0" anchor="t">
            <a:spAutoFit/>
          </a:bodyPr>
          <a:lstStyle/>
          <a:p>
            <a:pPr algn="l">
              <a:lnSpc>
                <a:spcPts val="1437"/>
              </a:lnSpc>
            </a:pPr>
            <a:r>
              <a:rPr lang="en-US" sz="1750" b="1" dirty="0">
                <a:solidFill>
                  <a:srgbClr val="000000"/>
                </a:solidFill>
                <a:latin typeface="Source Serif Pro Bold"/>
                <a:ea typeface="Source Serif Pro Bold"/>
                <a:cs typeface="Source Serif Pro Bold"/>
                <a:sym typeface="Source Serif Pro Bold"/>
              </a:rPr>
              <a:t>Model Outputs</a:t>
            </a:r>
          </a:p>
        </p:txBody>
      </p:sp>
      <p:sp>
        <p:nvSpPr>
          <p:cNvPr id="28" name="TextBox 28"/>
          <p:cNvSpPr txBox="1"/>
          <p:nvPr/>
        </p:nvSpPr>
        <p:spPr>
          <a:xfrm>
            <a:off x="661988" y="8968130"/>
            <a:ext cx="2843212" cy="182742"/>
          </a:xfrm>
          <a:prstGeom prst="rect">
            <a:avLst/>
          </a:prstGeom>
        </p:spPr>
        <p:txBody>
          <a:bodyPr wrap="square" lIns="0" tIns="0" rIns="0" bIns="0" rtlCol="0" anchor="t">
            <a:spAutoFit/>
          </a:bodyPr>
          <a:lstStyle/>
          <a:p>
            <a:pPr algn="l">
              <a:lnSpc>
                <a:spcPts val="1187"/>
              </a:lnSpc>
            </a:pPr>
            <a:r>
              <a:rPr lang="en-US" sz="1750" b="1" dirty="0">
                <a:solidFill>
                  <a:srgbClr val="97B8FF"/>
                </a:solidFill>
                <a:latin typeface="Source Serif Pro Bold"/>
                <a:ea typeface="Source Serif Pro Bold"/>
                <a:cs typeface="Source Serif Pro Bold"/>
                <a:sym typeface="Source Serif Pro Bold"/>
              </a:rPr>
              <a:t>Classification Decision</a:t>
            </a:r>
          </a:p>
        </p:txBody>
      </p:sp>
      <p:sp>
        <p:nvSpPr>
          <p:cNvPr id="29" name="TextBox 29"/>
          <p:cNvSpPr txBox="1"/>
          <p:nvPr/>
        </p:nvSpPr>
        <p:spPr>
          <a:xfrm>
            <a:off x="729929" y="9393126"/>
            <a:ext cx="8350891" cy="105366"/>
          </a:xfrm>
          <a:prstGeom prst="rect">
            <a:avLst/>
          </a:prstGeom>
        </p:spPr>
        <p:txBody>
          <a:bodyPr lIns="0" tIns="0" rIns="0" bIns="0" rtlCol="0" anchor="t">
            <a:spAutoFit/>
          </a:bodyPr>
          <a:lstStyle/>
          <a:p>
            <a:pPr algn="l">
              <a:lnSpc>
                <a:spcPts val="1312"/>
              </a:lnSpc>
            </a:pPr>
            <a:r>
              <a:rPr lang="en-US" sz="1750" dirty="0">
                <a:solidFill>
                  <a:srgbClr val="272525"/>
                </a:solidFill>
                <a:latin typeface="Source Sans 3"/>
                <a:ea typeface="Source Sans 3"/>
                <a:cs typeface="Source Sans 3"/>
                <a:sym typeface="Source Sans 3"/>
              </a:rPr>
              <a:t>Binary fraud/safe prediction based on optimized probability threshold, enabling immediate transaction approval or referral decisions</a:t>
            </a:r>
          </a:p>
        </p:txBody>
      </p:sp>
      <p:sp>
        <p:nvSpPr>
          <p:cNvPr id="30" name="TextBox 30"/>
          <p:cNvSpPr txBox="1"/>
          <p:nvPr/>
        </p:nvSpPr>
        <p:spPr>
          <a:xfrm>
            <a:off x="9508061" y="8816357"/>
            <a:ext cx="2763222" cy="182742"/>
          </a:xfrm>
          <a:prstGeom prst="rect">
            <a:avLst/>
          </a:prstGeom>
        </p:spPr>
        <p:txBody>
          <a:bodyPr wrap="square" lIns="0" tIns="0" rIns="0" bIns="0" rtlCol="0" anchor="t">
            <a:spAutoFit/>
          </a:bodyPr>
          <a:lstStyle/>
          <a:p>
            <a:pPr algn="l">
              <a:lnSpc>
                <a:spcPts val="1187"/>
              </a:lnSpc>
            </a:pPr>
            <a:r>
              <a:rPr lang="en-US" sz="1750" b="1" dirty="0">
                <a:solidFill>
                  <a:srgbClr val="7AF0FF"/>
                </a:solidFill>
                <a:latin typeface="Source Serif Pro Bold"/>
                <a:ea typeface="Source Serif Pro Bold"/>
                <a:cs typeface="Source Serif Pro Bold"/>
                <a:sym typeface="Source Serif Pro Bold"/>
              </a:rPr>
              <a:t>Risk Probability Score</a:t>
            </a:r>
          </a:p>
        </p:txBody>
      </p:sp>
      <p:sp>
        <p:nvSpPr>
          <p:cNvPr id="31" name="TextBox 31"/>
          <p:cNvSpPr txBox="1"/>
          <p:nvPr/>
        </p:nvSpPr>
        <p:spPr>
          <a:xfrm>
            <a:off x="9488182" y="9327589"/>
            <a:ext cx="8350891" cy="105366"/>
          </a:xfrm>
          <a:prstGeom prst="rect">
            <a:avLst/>
          </a:prstGeom>
        </p:spPr>
        <p:txBody>
          <a:bodyPr lIns="0" tIns="0" rIns="0" bIns="0" rtlCol="0" anchor="t">
            <a:spAutoFit/>
          </a:bodyPr>
          <a:lstStyle/>
          <a:p>
            <a:pPr algn="l">
              <a:lnSpc>
                <a:spcPts val="1312"/>
              </a:lnSpc>
            </a:pPr>
            <a:r>
              <a:rPr lang="en-US" sz="1750" dirty="0">
                <a:solidFill>
                  <a:srgbClr val="272525"/>
                </a:solidFill>
                <a:latin typeface="Source Sans 3"/>
                <a:ea typeface="Source Sans 3"/>
                <a:cs typeface="Source Sans 3"/>
                <a:sym typeface="Source Sans 3"/>
              </a:rPr>
              <a:t>Calibrated fraud likelihood score (0-100%) supporting risk-based decisioning, case prioritization, and human review workflows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a:ln w="12700">
              <a:solidFill>
                <a:srgbClr val="000000"/>
              </a:solidFill>
            </a:ln>
          </p:spPr>
        </p:sp>
      </p:grpSp>
      <p:sp>
        <p:nvSpPr>
          <p:cNvPr id="5" name="TextBox 5"/>
          <p:cNvSpPr txBox="1"/>
          <p:nvPr/>
        </p:nvSpPr>
        <p:spPr>
          <a:xfrm>
            <a:off x="1022899" y="676123"/>
            <a:ext cx="7459266" cy="653358"/>
          </a:xfrm>
          <a:prstGeom prst="rect">
            <a:avLst/>
          </a:prstGeom>
        </p:spPr>
        <p:txBody>
          <a:bodyPr lIns="0" tIns="0" rIns="0" bIns="0" rtlCol="0" anchor="t">
            <a:spAutoFit/>
          </a:bodyPr>
          <a:lstStyle/>
          <a:p>
            <a:pPr algn="l">
              <a:lnSpc>
                <a:spcPts val="4875"/>
              </a:lnSpc>
            </a:pPr>
            <a:r>
              <a:rPr lang="en-US" sz="3875" b="1">
                <a:solidFill>
                  <a:srgbClr val="000000"/>
                </a:solidFill>
                <a:latin typeface="Source Serif Pro Bold"/>
                <a:ea typeface="Source Serif Pro Bold"/>
                <a:cs typeface="Source Serif Pro Bold"/>
                <a:sym typeface="Source Serif Pro Bold"/>
              </a:rPr>
              <a:t>Database &amp; Compliance Design</a:t>
            </a:r>
          </a:p>
        </p:txBody>
      </p:sp>
      <p:sp>
        <p:nvSpPr>
          <p:cNvPr id="6" name="TextBox 6"/>
          <p:cNvSpPr txBox="1"/>
          <p:nvPr/>
        </p:nvSpPr>
        <p:spPr>
          <a:xfrm>
            <a:off x="1022899" y="1707061"/>
            <a:ext cx="16242211" cy="752770"/>
          </a:xfrm>
          <a:prstGeom prst="rect">
            <a:avLst/>
          </a:prstGeom>
        </p:spPr>
        <p:txBody>
          <a:bodyPr lIns="0" tIns="0" rIns="0" bIns="0" rtlCol="0" anchor="t">
            <a:spAutoFit/>
          </a:bodyPr>
          <a:lstStyle/>
          <a:p>
            <a:pPr algn="l">
              <a:lnSpc>
                <a:spcPts val="2687"/>
              </a:lnSpc>
            </a:pPr>
            <a:r>
              <a:rPr lang="en-US" sz="1687">
                <a:solidFill>
                  <a:srgbClr val="272525"/>
                </a:solidFill>
                <a:latin typeface="Source Sans 3"/>
                <a:ea typeface="Source Sans 3"/>
                <a:cs typeface="Source Sans 3"/>
                <a:sym typeface="Source Sans 3"/>
              </a:rPr>
              <a:t>The data architecture implements comprehensive audit trail capabilities and regulatory compliance mechanisms through carefully designed relational schemas and transaction management protocols. The database layer supports both operational fraud detection and long-term forensic analysis requirements.</a:t>
            </a:r>
          </a:p>
        </p:txBody>
      </p:sp>
      <p:grpSp>
        <p:nvGrpSpPr>
          <p:cNvPr id="7" name="Group 7"/>
          <p:cNvGrpSpPr/>
          <p:nvPr/>
        </p:nvGrpSpPr>
        <p:grpSpPr>
          <a:xfrm>
            <a:off x="1022899" y="3030293"/>
            <a:ext cx="5269116" cy="2275580"/>
            <a:chOff x="0" y="0"/>
            <a:chExt cx="7025488" cy="3034106"/>
          </a:xfrm>
        </p:grpSpPr>
        <p:sp>
          <p:nvSpPr>
            <p:cNvPr id="8" name="Freeform 8"/>
            <p:cNvSpPr/>
            <p:nvPr/>
          </p:nvSpPr>
          <p:spPr>
            <a:xfrm>
              <a:off x="0" y="0"/>
              <a:ext cx="7025513" cy="3034157"/>
            </a:xfrm>
            <a:custGeom>
              <a:avLst/>
              <a:gdLst/>
              <a:ahLst/>
              <a:cxnLst/>
              <a:rect l="l" t="t" r="r" b="b"/>
              <a:pathLst>
                <a:path w="7025513" h="3034157">
                  <a:moveTo>
                    <a:pt x="0" y="182880"/>
                  </a:moveTo>
                  <a:cubicBezTo>
                    <a:pt x="0" y="81915"/>
                    <a:pt x="81915" y="0"/>
                    <a:pt x="182880" y="0"/>
                  </a:cubicBezTo>
                  <a:lnTo>
                    <a:pt x="6842633" y="0"/>
                  </a:lnTo>
                  <a:cubicBezTo>
                    <a:pt x="6943598" y="0"/>
                    <a:pt x="7025513" y="81915"/>
                    <a:pt x="7025513" y="182880"/>
                  </a:cubicBezTo>
                  <a:lnTo>
                    <a:pt x="7025513" y="2851277"/>
                  </a:lnTo>
                  <a:cubicBezTo>
                    <a:pt x="7025513" y="2952242"/>
                    <a:pt x="6943598" y="3034157"/>
                    <a:pt x="6842633" y="3034157"/>
                  </a:cubicBezTo>
                  <a:lnTo>
                    <a:pt x="182880" y="3034157"/>
                  </a:lnTo>
                  <a:cubicBezTo>
                    <a:pt x="81915" y="3034157"/>
                    <a:pt x="0" y="2952242"/>
                    <a:pt x="0" y="2851277"/>
                  </a:cubicBezTo>
                  <a:close/>
                </a:path>
              </a:pathLst>
            </a:custGeom>
            <a:solidFill>
              <a:srgbClr val="FFFFFF">
                <a:alpha val="90196"/>
              </a:srgbClr>
            </a:solidFill>
            <a:ln w="12700">
              <a:solidFill>
                <a:srgbClr val="000000"/>
              </a:solidFill>
            </a:ln>
          </p:spPr>
        </p:sp>
      </p:grpSp>
      <p:grpSp>
        <p:nvGrpSpPr>
          <p:cNvPr id="9" name="Group 9"/>
          <p:cNvGrpSpPr/>
          <p:nvPr/>
        </p:nvGrpSpPr>
        <p:grpSpPr>
          <a:xfrm>
            <a:off x="1022899" y="3001718"/>
            <a:ext cx="5269116" cy="114300"/>
            <a:chOff x="0" y="0"/>
            <a:chExt cx="7025488" cy="152400"/>
          </a:xfrm>
        </p:grpSpPr>
        <p:sp>
          <p:nvSpPr>
            <p:cNvPr id="10" name="Freeform 10"/>
            <p:cNvSpPr/>
            <p:nvPr/>
          </p:nvSpPr>
          <p:spPr>
            <a:xfrm>
              <a:off x="0" y="0"/>
              <a:ext cx="7025513" cy="152400"/>
            </a:xfrm>
            <a:custGeom>
              <a:avLst/>
              <a:gdLst/>
              <a:ahLst/>
              <a:cxnLst/>
              <a:rect l="l" t="t" r="r" b="b"/>
              <a:pathLst>
                <a:path w="7025513" h="152400">
                  <a:moveTo>
                    <a:pt x="0" y="76200"/>
                  </a:moveTo>
                  <a:cubicBezTo>
                    <a:pt x="0" y="34163"/>
                    <a:pt x="34163" y="0"/>
                    <a:pt x="76200" y="0"/>
                  </a:cubicBezTo>
                  <a:lnTo>
                    <a:pt x="6949313" y="0"/>
                  </a:lnTo>
                  <a:cubicBezTo>
                    <a:pt x="6991350" y="0"/>
                    <a:pt x="7025513" y="34163"/>
                    <a:pt x="7025513" y="76200"/>
                  </a:cubicBezTo>
                  <a:cubicBezTo>
                    <a:pt x="7025513" y="118237"/>
                    <a:pt x="6991350" y="152400"/>
                    <a:pt x="6949313" y="152400"/>
                  </a:cubicBezTo>
                  <a:lnTo>
                    <a:pt x="76200" y="152400"/>
                  </a:lnTo>
                  <a:cubicBezTo>
                    <a:pt x="34163" y="152400"/>
                    <a:pt x="0" y="118237"/>
                    <a:pt x="0" y="76200"/>
                  </a:cubicBezTo>
                  <a:close/>
                </a:path>
              </a:pathLst>
            </a:custGeom>
            <a:solidFill>
              <a:srgbClr val="BE49DF"/>
            </a:solidFill>
            <a:ln w="12700">
              <a:solidFill>
                <a:srgbClr val="000000"/>
              </a:solidFill>
            </a:ln>
          </p:spPr>
        </p:sp>
      </p:grpSp>
      <p:grpSp>
        <p:nvGrpSpPr>
          <p:cNvPr id="11" name="Group 11"/>
          <p:cNvGrpSpPr/>
          <p:nvPr/>
        </p:nvGrpSpPr>
        <p:grpSpPr>
          <a:xfrm>
            <a:off x="3331445" y="2704357"/>
            <a:ext cx="652015" cy="652015"/>
            <a:chOff x="0" y="0"/>
            <a:chExt cx="869353" cy="869353"/>
          </a:xfrm>
        </p:grpSpPr>
        <p:sp>
          <p:nvSpPr>
            <p:cNvPr id="12" name="Freeform 12"/>
            <p:cNvSpPr/>
            <p:nvPr/>
          </p:nvSpPr>
          <p:spPr>
            <a:xfrm>
              <a:off x="0" y="0"/>
              <a:ext cx="869315" cy="869315"/>
            </a:xfrm>
            <a:custGeom>
              <a:avLst/>
              <a:gdLst/>
              <a:ahLst/>
              <a:cxnLst/>
              <a:rect l="l" t="t" r="r" b="b"/>
              <a:pathLst>
                <a:path w="869315" h="869315">
                  <a:moveTo>
                    <a:pt x="0" y="434721"/>
                  </a:moveTo>
                  <a:cubicBezTo>
                    <a:pt x="0" y="194564"/>
                    <a:pt x="194564" y="0"/>
                    <a:pt x="434721" y="0"/>
                  </a:cubicBezTo>
                  <a:cubicBezTo>
                    <a:pt x="674878" y="0"/>
                    <a:pt x="869315" y="194564"/>
                    <a:pt x="869315" y="434721"/>
                  </a:cubicBezTo>
                  <a:cubicBezTo>
                    <a:pt x="869315" y="674878"/>
                    <a:pt x="674751" y="869315"/>
                    <a:pt x="434721" y="869315"/>
                  </a:cubicBezTo>
                  <a:cubicBezTo>
                    <a:pt x="194691" y="869315"/>
                    <a:pt x="0" y="674751"/>
                    <a:pt x="0" y="434721"/>
                  </a:cubicBezTo>
                  <a:close/>
                </a:path>
              </a:pathLst>
            </a:custGeom>
            <a:solidFill>
              <a:srgbClr val="BE49DF"/>
            </a:solidFill>
            <a:ln w="12700">
              <a:solidFill>
                <a:srgbClr val="000000"/>
              </a:solidFill>
            </a:ln>
          </p:spPr>
        </p:sp>
      </p:grpSp>
      <p:sp>
        <p:nvSpPr>
          <p:cNvPr id="13" name="TextBox 13"/>
          <p:cNvSpPr txBox="1"/>
          <p:nvPr/>
        </p:nvSpPr>
        <p:spPr>
          <a:xfrm>
            <a:off x="3527003" y="2781595"/>
            <a:ext cx="260747" cy="411661"/>
          </a:xfrm>
          <a:prstGeom prst="rect">
            <a:avLst/>
          </a:prstGeom>
        </p:spPr>
        <p:txBody>
          <a:bodyPr lIns="0" tIns="0" rIns="0" bIns="0" rtlCol="0" anchor="t">
            <a:spAutoFit/>
          </a:bodyPr>
          <a:lstStyle/>
          <a:p>
            <a:pPr algn="l">
              <a:lnSpc>
                <a:spcPts val="3250"/>
              </a:lnSpc>
            </a:pPr>
            <a:r>
              <a:rPr lang="en-US" sz="2000" b="1">
                <a:solidFill>
                  <a:srgbClr val="FFFFFF"/>
                </a:solidFill>
                <a:latin typeface="Source Serif Pro Bold"/>
                <a:ea typeface="Source Serif Pro Bold"/>
                <a:cs typeface="Source Serif Pro Bold"/>
                <a:sym typeface="Source Serif Pro Bold"/>
              </a:rPr>
              <a:t>1</a:t>
            </a:r>
          </a:p>
        </p:txBody>
      </p:sp>
      <p:sp>
        <p:nvSpPr>
          <p:cNvPr id="14" name="TextBox 14"/>
          <p:cNvSpPr txBox="1"/>
          <p:nvPr/>
        </p:nvSpPr>
        <p:spPr>
          <a:xfrm>
            <a:off x="1268759" y="3554616"/>
            <a:ext cx="2818505" cy="331584"/>
          </a:xfrm>
          <a:prstGeom prst="rect">
            <a:avLst/>
          </a:prstGeom>
        </p:spPr>
        <p:txBody>
          <a:bodyPr lIns="0" tIns="0" rIns="0" bIns="0" rtlCol="0" anchor="t">
            <a:spAutoFit/>
          </a:bodyPr>
          <a:lstStyle/>
          <a:p>
            <a:pPr algn="l">
              <a:lnSpc>
                <a:spcPts val="2437"/>
              </a:lnSpc>
            </a:pPr>
            <a:r>
              <a:rPr lang="en-US" sz="1937" b="1">
                <a:solidFill>
                  <a:srgbClr val="272525"/>
                </a:solidFill>
                <a:latin typeface="Source Serif Pro Bold"/>
                <a:ea typeface="Source Serif Pro Bold"/>
                <a:cs typeface="Source Serif Pro Bold"/>
                <a:sym typeface="Source Serif Pro Bold"/>
              </a:rPr>
              <a:t>Employee Management</a:t>
            </a:r>
          </a:p>
        </p:txBody>
      </p:sp>
      <p:sp>
        <p:nvSpPr>
          <p:cNvPr id="15" name="TextBox 15"/>
          <p:cNvSpPr txBox="1"/>
          <p:nvPr/>
        </p:nvSpPr>
        <p:spPr>
          <a:xfrm>
            <a:off x="1268759" y="3959428"/>
            <a:ext cx="4777378" cy="1100585"/>
          </a:xfrm>
          <a:prstGeom prst="rect">
            <a:avLst/>
          </a:prstGeom>
        </p:spPr>
        <p:txBody>
          <a:bodyPr lIns="0" tIns="0" rIns="0" bIns="0" rtlCol="0" anchor="t">
            <a:spAutoFit/>
          </a:bodyPr>
          <a:lstStyle/>
          <a:p>
            <a:pPr algn="l">
              <a:lnSpc>
                <a:spcPts val="2687"/>
              </a:lnSpc>
            </a:pPr>
            <a:r>
              <a:rPr lang="en-US" sz="1687">
                <a:solidFill>
                  <a:srgbClr val="272525"/>
                </a:solidFill>
                <a:latin typeface="Source Sans 3"/>
                <a:ea typeface="Source Sans 3"/>
                <a:cs typeface="Source Sans 3"/>
                <a:sym typeface="Source Sans 3"/>
              </a:rPr>
              <a:t>Stores user credentials, roles, permissions, and access history with encrypted password storage using Bcrypt hashing algorithms</a:t>
            </a:r>
          </a:p>
        </p:txBody>
      </p:sp>
      <p:grpSp>
        <p:nvGrpSpPr>
          <p:cNvPr id="16" name="Group 16"/>
          <p:cNvGrpSpPr/>
          <p:nvPr/>
        </p:nvGrpSpPr>
        <p:grpSpPr>
          <a:xfrm>
            <a:off x="6509299" y="3030293"/>
            <a:ext cx="5269259" cy="2275580"/>
            <a:chOff x="0" y="0"/>
            <a:chExt cx="7025678" cy="3034106"/>
          </a:xfrm>
        </p:grpSpPr>
        <p:sp>
          <p:nvSpPr>
            <p:cNvPr id="17" name="Freeform 17"/>
            <p:cNvSpPr/>
            <p:nvPr/>
          </p:nvSpPr>
          <p:spPr>
            <a:xfrm>
              <a:off x="0" y="0"/>
              <a:ext cx="7025640" cy="3034157"/>
            </a:xfrm>
            <a:custGeom>
              <a:avLst/>
              <a:gdLst/>
              <a:ahLst/>
              <a:cxnLst/>
              <a:rect l="l" t="t" r="r" b="b"/>
              <a:pathLst>
                <a:path w="7025640" h="3034157">
                  <a:moveTo>
                    <a:pt x="0" y="182880"/>
                  </a:moveTo>
                  <a:cubicBezTo>
                    <a:pt x="0" y="81915"/>
                    <a:pt x="81915" y="0"/>
                    <a:pt x="182880" y="0"/>
                  </a:cubicBezTo>
                  <a:lnTo>
                    <a:pt x="6842760" y="0"/>
                  </a:lnTo>
                  <a:cubicBezTo>
                    <a:pt x="6943725" y="0"/>
                    <a:pt x="7025640" y="81915"/>
                    <a:pt x="7025640" y="182880"/>
                  </a:cubicBezTo>
                  <a:lnTo>
                    <a:pt x="7025640" y="2851277"/>
                  </a:lnTo>
                  <a:cubicBezTo>
                    <a:pt x="7025640" y="2952242"/>
                    <a:pt x="6943725" y="3034157"/>
                    <a:pt x="6842760" y="3034157"/>
                  </a:cubicBezTo>
                  <a:lnTo>
                    <a:pt x="182880" y="3034157"/>
                  </a:lnTo>
                  <a:cubicBezTo>
                    <a:pt x="81915" y="3034157"/>
                    <a:pt x="0" y="2952242"/>
                    <a:pt x="0" y="2851277"/>
                  </a:cubicBezTo>
                  <a:close/>
                </a:path>
              </a:pathLst>
            </a:custGeom>
            <a:solidFill>
              <a:srgbClr val="FFFFFF">
                <a:alpha val="90196"/>
              </a:srgbClr>
            </a:solidFill>
            <a:ln w="12700">
              <a:solidFill>
                <a:srgbClr val="000000"/>
              </a:solidFill>
            </a:ln>
          </p:spPr>
        </p:sp>
      </p:grpSp>
      <p:grpSp>
        <p:nvGrpSpPr>
          <p:cNvPr id="18" name="Group 18"/>
          <p:cNvGrpSpPr/>
          <p:nvPr/>
        </p:nvGrpSpPr>
        <p:grpSpPr>
          <a:xfrm>
            <a:off x="6509299" y="3001718"/>
            <a:ext cx="5269259" cy="114300"/>
            <a:chOff x="0" y="0"/>
            <a:chExt cx="7025678" cy="152400"/>
          </a:xfrm>
        </p:grpSpPr>
        <p:sp>
          <p:nvSpPr>
            <p:cNvPr id="19" name="Freeform 19"/>
            <p:cNvSpPr/>
            <p:nvPr/>
          </p:nvSpPr>
          <p:spPr>
            <a:xfrm>
              <a:off x="0" y="0"/>
              <a:ext cx="7025640" cy="152400"/>
            </a:xfrm>
            <a:custGeom>
              <a:avLst/>
              <a:gdLst/>
              <a:ahLst/>
              <a:cxnLst/>
              <a:rect l="l" t="t" r="r" b="b"/>
              <a:pathLst>
                <a:path w="7025640" h="152400">
                  <a:moveTo>
                    <a:pt x="0" y="76200"/>
                  </a:moveTo>
                  <a:cubicBezTo>
                    <a:pt x="0" y="34163"/>
                    <a:pt x="34163" y="0"/>
                    <a:pt x="76200" y="0"/>
                  </a:cubicBezTo>
                  <a:lnTo>
                    <a:pt x="6949440" y="0"/>
                  </a:lnTo>
                  <a:cubicBezTo>
                    <a:pt x="6991477" y="0"/>
                    <a:pt x="7025640" y="34163"/>
                    <a:pt x="7025640" y="76200"/>
                  </a:cubicBezTo>
                  <a:cubicBezTo>
                    <a:pt x="7025640" y="118237"/>
                    <a:pt x="6991477" y="152400"/>
                    <a:pt x="6949440" y="152400"/>
                  </a:cubicBezTo>
                  <a:lnTo>
                    <a:pt x="76200" y="152400"/>
                  </a:lnTo>
                  <a:cubicBezTo>
                    <a:pt x="34163" y="152400"/>
                    <a:pt x="0" y="118237"/>
                    <a:pt x="0" y="76200"/>
                  </a:cubicBezTo>
                  <a:close/>
                </a:path>
              </a:pathLst>
            </a:custGeom>
            <a:solidFill>
              <a:srgbClr val="BE49DF"/>
            </a:solidFill>
            <a:ln w="12700">
              <a:solidFill>
                <a:srgbClr val="000000"/>
              </a:solidFill>
            </a:ln>
          </p:spPr>
        </p:sp>
      </p:grpSp>
      <p:grpSp>
        <p:nvGrpSpPr>
          <p:cNvPr id="20" name="Group 20"/>
          <p:cNvGrpSpPr/>
          <p:nvPr/>
        </p:nvGrpSpPr>
        <p:grpSpPr>
          <a:xfrm>
            <a:off x="8817845" y="2704357"/>
            <a:ext cx="652015" cy="652015"/>
            <a:chOff x="0" y="0"/>
            <a:chExt cx="869353" cy="869353"/>
          </a:xfrm>
        </p:grpSpPr>
        <p:sp>
          <p:nvSpPr>
            <p:cNvPr id="21" name="Freeform 21"/>
            <p:cNvSpPr/>
            <p:nvPr/>
          </p:nvSpPr>
          <p:spPr>
            <a:xfrm>
              <a:off x="0" y="0"/>
              <a:ext cx="869315" cy="869315"/>
            </a:xfrm>
            <a:custGeom>
              <a:avLst/>
              <a:gdLst/>
              <a:ahLst/>
              <a:cxnLst/>
              <a:rect l="l" t="t" r="r" b="b"/>
              <a:pathLst>
                <a:path w="869315" h="869315">
                  <a:moveTo>
                    <a:pt x="0" y="434721"/>
                  </a:moveTo>
                  <a:cubicBezTo>
                    <a:pt x="0" y="194564"/>
                    <a:pt x="194564" y="0"/>
                    <a:pt x="434721" y="0"/>
                  </a:cubicBezTo>
                  <a:cubicBezTo>
                    <a:pt x="674878" y="0"/>
                    <a:pt x="869315" y="194564"/>
                    <a:pt x="869315" y="434721"/>
                  </a:cubicBezTo>
                  <a:cubicBezTo>
                    <a:pt x="869315" y="674878"/>
                    <a:pt x="674751" y="869315"/>
                    <a:pt x="434721" y="869315"/>
                  </a:cubicBezTo>
                  <a:cubicBezTo>
                    <a:pt x="194691" y="869315"/>
                    <a:pt x="0" y="674751"/>
                    <a:pt x="0" y="434721"/>
                  </a:cubicBezTo>
                  <a:close/>
                </a:path>
              </a:pathLst>
            </a:custGeom>
            <a:solidFill>
              <a:srgbClr val="BE49DF"/>
            </a:solidFill>
            <a:ln w="12700">
              <a:solidFill>
                <a:srgbClr val="000000"/>
              </a:solidFill>
            </a:ln>
          </p:spPr>
        </p:sp>
      </p:grpSp>
      <p:sp>
        <p:nvSpPr>
          <p:cNvPr id="22" name="TextBox 22"/>
          <p:cNvSpPr txBox="1"/>
          <p:nvPr/>
        </p:nvSpPr>
        <p:spPr>
          <a:xfrm>
            <a:off x="9013403" y="2781595"/>
            <a:ext cx="260747" cy="411661"/>
          </a:xfrm>
          <a:prstGeom prst="rect">
            <a:avLst/>
          </a:prstGeom>
        </p:spPr>
        <p:txBody>
          <a:bodyPr lIns="0" tIns="0" rIns="0" bIns="0" rtlCol="0" anchor="t">
            <a:spAutoFit/>
          </a:bodyPr>
          <a:lstStyle/>
          <a:p>
            <a:pPr algn="l">
              <a:lnSpc>
                <a:spcPts val="3250"/>
              </a:lnSpc>
            </a:pPr>
            <a:r>
              <a:rPr lang="en-US" sz="2000" b="1">
                <a:solidFill>
                  <a:srgbClr val="FFFFFF"/>
                </a:solidFill>
                <a:latin typeface="Source Serif Pro Bold"/>
                <a:ea typeface="Source Serif Pro Bold"/>
                <a:cs typeface="Source Serif Pro Bold"/>
                <a:sym typeface="Source Serif Pro Bold"/>
              </a:rPr>
              <a:t>2</a:t>
            </a:r>
          </a:p>
        </p:txBody>
      </p:sp>
      <p:sp>
        <p:nvSpPr>
          <p:cNvPr id="23" name="TextBox 23"/>
          <p:cNvSpPr txBox="1"/>
          <p:nvPr/>
        </p:nvSpPr>
        <p:spPr>
          <a:xfrm>
            <a:off x="6755159" y="3554616"/>
            <a:ext cx="2499865" cy="331584"/>
          </a:xfrm>
          <a:prstGeom prst="rect">
            <a:avLst/>
          </a:prstGeom>
        </p:spPr>
        <p:txBody>
          <a:bodyPr lIns="0" tIns="0" rIns="0" bIns="0" rtlCol="0" anchor="t">
            <a:spAutoFit/>
          </a:bodyPr>
          <a:lstStyle/>
          <a:p>
            <a:pPr algn="l">
              <a:lnSpc>
                <a:spcPts val="2437"/>
              </a:lnSpc>
            </a:pPr>
            <a:r>
              <a:rPr lang="en-US" sz="1937" b="1">
                <a:solidFill>
                  <a:srgbClr val="272525"/>
                </a:solidFill>
                <a:latin typeface="Source Serif Pro Bold"/>
                <a:ea typeface="Source Serif Pro Bold"/>
                <a:cs typeface="Source Serif Pro Bold"/>
                <a:sym typeface="Source Serif Pro Bold"/>
              </a:rPr>
              <a:t>Prediction Logs</a:t>
            </a:r>
          </a:p>
        </p:txBody>
      </p:sp>
      <p:sp>
        <p:nvSpPr>
          <p:cNvPr id="24" name="TextBox 24"/>
          <p:cNvSpPr txBox="1"/>
          <p:nvPr/>
        </p:nvSpPr>
        <p:spPr>
          <a:xfrm>
            <a:off x="6755159" y="3959428"/>
            <a:ext cx="4777530" cy="1100585"/>
          </a:xfrm>
          <a:prstGeom prst="rect">
            <a:avLst/>
          </a:prstGeom>
        </p:spPr>
        <p:txBody>
          <a:bodyPr lIns="0" tIns="0" rIns="0" bIns="0" rtlCol="0" anchor="t">
            <a:spAutoFit/>
          </a:bodyPr>
          <a:lstStyle/>
          <a:p>
            <a:pPr algn="l">
              <a:lnSpc>
                <a:spcPts val="2687"/>
              </a:lnSpc>
            </a:pPr>
            <a:r>
              <a:rPr lang="en-US" sz="1687">
                <a:solidFill>
                  <a:srgbClr val="272525"/>
                </a:solidFill>
                <a:latin typeface="Source Sans 3"/>
                <a:ea typeface="Source Sans 3"/>
                <a:cs typeface="Source Sans 3"/>
                <a:sym typeface="Source Sans 3"/>
              </a:rPr>
              <a:t>Immutable audit trail capturing transaction details, model predictions, probability scores, timestamps, and operator decisions</a:t>
            </a:r>
          </a:p>
        </p:txBody>
      </p:sp>
      <p:grpSp>
        <p:nvGrpSpPr>
          <p:cNvPr id="25" name="Group 25"/>
          <p:cNvGrpSpPr/>
          <p:nvPr/>
        </p:nvGrpSpPr>
        <p:grpSpPr>
          <a:xfrm>
            <a:off x="11995842" y="3030293"/>
            <a:ext cx="5269259" cy="2275580"/>
            <a:chOff x="0" y="0"/>
            <a:chExt cx="7025678" cy="3034106"/>
          </a:xfrm>
        </p:grpSpPr>
        <p:sp>
          <p:nvSpPr>
            <p:cNvPr id="26" name="Freeform 26"/>
            <p:cNvSpPr/>
            <p:nvPr/>
          </p:nvSpPr>
          <p:spPr>
            <a:xfrm>
              <a:off x="0" y="0"/>
              <a:ext cx="7025640" cy="3034157"/>
            </a:xfrm>
            <a:custGeom>
              <a:avLst/>
              <a:gdLst/>
              <a:ahLst/>
              <a:cxnLst/>
              <a:rect l="l" t="t" r="r" b="b"/>
              <a:pathLst>
                <a:path w="7025640" h="3034157">
                  <a:moveTo>
                    <a:pt x="0" y="182880"/>
                  </a:moveTo>
                  <a:cubicBezTo>
                    <a:pt x="0" y="81915"/>
                    <a:pt x="81915" y="0"/>
                    <a:pt x="182880" y="0"/>
                  </a:cubicBezTo>
                  <a:lnTo>
                    <a:pt x="6842760" y="0"/>
                  </a:lnTo>
                  <a:cubicBezTo>
                    <a:pt x="6943725" y="0"/>
                    <a:pt x="7025640" y="81915"/>
                    <a:pt x="7025640" y="182880"/>
                  </a:cubicBezTo>
                  <a:lnTo>
                    <a:pt x="7025640" y="2851277"/>
                  </a:lnTo>
                  <a:cubicBezTo>
                    <a:pt x="7025640" y="2952242"/>
                    <a:pt x="6943725" y="3034157"/>
                    <a:pt x="6842760" y="3034157"/>
                  </a:cubicBezTo>
                  <a:lnTo>
                    <a:pt x="182880" y="3034157"/>
                  </a:lnTo>
                  <a:cubicBezTo>
                    <a:pt x="81915" y="3034157"/>
                    <a:pt x="0" y="2952242"/>
                    <a:pt x="0" y="2851277"/>
                  </a:cubicBezTo>
                  <a:close/>
                </a:path>
              </a:pathLst>
            </a:custGeom>
            <a:solidFill>
              <a:srgbClr val="FFFFFF">
                <a:alpha val="90196"/>
              </a:srgbClr>
            </a:solidFill>
            <a:ln w="12700">
              <a:solidFill>
                <a:srgbClr val="000000"/>
              </a:solidFill>
            </a:ln>
          </p:spPr>
        </p:sp>
      </p:grpSp>
      <p:grpSp>
        <p:nvGrpSpPr>
          <p:cNvPr id="27" name="Group 27"/>
          <p:cNvGrpSpPr/>
          <p:nvPr/>
        </p:nvGrpSpPr>
        <p:grpSpPr>
          <a:xfrm>
            <a:off x="11995842" y="3001718"/>
            <a:ext cx="5269259" cy="114300"/>
            <a:chOff x="0" y="0"/>
            <a:chExt cx="7025678" cy="152400"/>
          </a:xfrm>
        </p:grpSpPr>
        <p:sp>
          <p:nvSpPr>
            <p:cNvPr id="28" name="Freeform 28"/>
            <p:cNvSpPr/>
            <p:nvPr/>
          </p:nvSpPr>
          <p:spPr>
            <a:xfrm>
              <a:off x="0" y="0"/>
              <a:ext cx="7025640" cy="152400"/>
            </a:xfrm>
            <a:custGeom>
              <a:avLst/>
              <a:gdLst/>
              <a:ahLst/>
              <a:cxnLst/>
              <a:rect l="l" t="t" r="r" b="b"/>
              <a:pathLst>
                <a:path w="7025640" h="152400">
                  <a:moveTo>
                    <a:pt x="0" y="76200"/>
                  </a:moveTo>
                  <a:cubicBezTo>
                    <a:pt x="0" y="34163"/>
                    <a:pt x="34163" y="0"/>
                    <a:pt x="76200" y="0"/>
                  </a:cubicBezTo>
                  <a:lnTo>
                    <a:pt x="6949440" y="0"/>
                  </a:lnTo>
                  <a:cubicBezTo>
                    <a:pt x="6991477" y="0"/>
                    <a:pt x="7025640" y="34163"/>
                    <a:pt x="7025640" y="76200"/>
                  </a:cubicBezTo>
                  <a:cubicBezTo>
                    <a:pt x="7025640" y="118237"/>
                    <a:pt x="6991477" y="152400"/>
                    <a:pt x="6949440" y="152400"/>
                  </a:cubicBezTo>
                  <a:lnTo>
                    <a:pt x="76200" y="152400"/>
                  </a:lnTo>
                  <a:cubicBezTo>
                    <a:pt x="34163" y="152400"/>
                    <a:pt x="0" y="118237"/>
                    <a:pt x="0" y="76200"/>
                  </a:cubicBezTo>
                  <a:close/>
                </a:path>
              </a:pathLst>
            </a:custGeom>
            <a:solidFill>
              <a:srgbClr val="BE49DF"/>
            </a:solidFill>
            <a:ln w="12700">
              <a:solidFill>
                <a:srgbClr val="000000"/>
              </a:solidFill>
            </a:ln>
          </p:spPr>
        </p:sp>
      </p:grpSp>
      <p:grpSp>
        <p:nvGrpSpPr>
          <p:cNvPr id="29" name="Group 29"/>
          <p:cNvGrpSpPr/>
          <p:nvPr/>
        </p:nvGrpSpPr>
        <p:grpSpPr>
          <a:xfrm>
            <a:off x="14304388" y="2704357"/>
            <a:ext cx="652015" cy="652015"/>
            <a:chOff x="0" y="0"/>
            <a:chExt cx="869353" cy="869353"/>
          </a:xfrm>
        </p:grpSpPr>
        <p:sp>
          <p:nvSpPr>
            <p:cNvPr id="30" name="Freeform 30"/>
            <p:cNvSpPr/>
            <p:nvPr/>
          </p:nvSpPr>
          <p:spPr>
            <a:xfrm>
              <a:off x="0" y="0"/>
              <a:ext cx="869315" cy="869315"/>
            </a:xfrm>
            <a:custGeom>
              <a:avLst/>
              <a:gdLst/>
              <a:ahLst/>
              <a:cxnLst/>
              <a:rect l="l" t="t" r="r" b="b"/>
              <a:pathLst>
                <a:path w="869315" h="869315">
                  <a:moveTo>
                    <a:pt x="0" y="434721"/>
                  </a:moveTo>
                  <a:cubicBezTo>
                    <a:pt x="0" y="194564"/>
                    <a:pt x="194564" y="0"/>
                    <a:pt x="434721" y="0"/>
                  </a:cubicBezTo>
                  <a:cubicBezTo>
                    <a:pt x="674878" y="0"/>
                    <a:pt x="869315" y="194564"/>
                    <a:pt x="869315" y="434721"/>
                  </a:cubicBezTo>
                  <a:cubicBezTo>
                    <a:pt x="869315" y="674878"/>
                    <a:pt x="674751" y="869315"/>
                    <a:pt x="434721" y="869315"/>
                  </a:cubicBezTo>
                  <a:cubicBezTo>
                    <a:pt x="194691" y="869315"/>
                    <a:pt x="0" y="674751"/>
                    <a:pt x="0" y="434721"/>
                  </a:cubicBezTo>
                  <a:close/>
                </a:path>
              </a:pathLst>
            </a:custGeom>
            <a:solidFill>
              <a:srgbClr val="BE49DF"/>
            </a:solidFill>
            <a:ln w="12700">
              <a:solidFill>
                <a:srgbClr val="000000"/>
              </a:solidFill>
            </a:ln>
          </p:spPr>
        </p:sp>
      </p:grpSp>
      <p:sp>
        <p:nvSpPr>
          <p:cNvPr id="31" name="TextBox 31"/>
          <p:cNvSpPr txBox="1"/>
          <p:nvPr/>
        </p:nvSpPr>
        <p:spPr>
          <a:xfrm>
            <a:off x="14499955" y="2781595"/>
            <a:ext cx="260747" cy="411661"/>
          </a:xfrm>
          <a:prstGeom prst="rect">
            <a:avLst/>
          </a:prstGeom>
        </p:spPr>
        <p:txBody>
          <a:bodyPr lIns="0" tIns="0" rIns="0" bIns="0" rtlCol="0" anchor="t">
            <a:spAutoFit/>
          </a:bodyPr>
          <a:lstStyle/>
          <a:p>
            <a:pPr algn="l">
              <a:lnSpc>
                <a:spcPts val="3250"/>
              </a:lnSpc>
            </a:pPr>
            <a:r>
              <a:rPr lang="en-US" sz="2000" b="1">
                <a:solidFill>
                  <a:srgbClr val="FFFFFF"/>
                </a:solidFill>
                <a:latin typeface="Source Serif Pro Bold"/>
                <a:ea typeface="Source Serif Pro Bold"/>
                <a:cs typeface="Source Serif Pro Bold"/>
                <a:sym typeface="Source Serif Pro Bold"/>
              </a:rPr>
              <a:t>3</a:t>
            </a:r>
          </a:p>
        </p:txBody>
      </p:sp>
      <p:sp>
        <p:nvSpPr>
          <p:cNvPr id="32" name="TextBox 32"/>
          <p:cNvSpPr txBox="1"/>
          <p:nvPr/>
        </p:nvSpPr>
        <p:spPr>
          <a:xfrm>
            <a:off x="12241711" y="3554616"/>
            <a:ext cx="2499865" cy="331584"/>
          </a:xfrm>
          <a:prstGeom prst="rect">
            <a:avLst/>
          </a:prstGeom>
        </p:spPr>
        <p:txBody>
          <a:bodyPr lIns="0" tIns="0" rIns="0" bIns="0" rtlCol="0" anchor="t">
            <a:spAutoFit/>
          </a:bodyPr>
          <a:lstStyle/>
          <a:p>
            <a:pPr algn="l">
              <a:lnSpc>
                <a:spcPts val="2437"/>
              </a:lnSpc>
            </a:pPr>
            <a:r>
              <a:rPr lang="en-US" sz="1937" b="1">
                <a:solidFill>
                  <a:srgbClr val="272525"/>
                </a:solidFill>
                <a:latin typeface="Source Serif Pro Bold"/>
                <a:ea typeface="Source Serif Pro Bold"/>
                <a:cs typeface="Source Serif Pro Bold"/>
                <a:sym typeface="Source Serif Pro Bold"/>
              </a:rPr>
              <a:t>Feature Vectors</a:t>
            </a:r>
          </a:p>
        </p:txBody>
      </p:sp>
      <p:sp>
        <p:nvSpPr>
          <p:cNvPr id="33" name="TextBox 33"/>
          <p:cNvSpPr txBox="1"/>
          <p:nvPr/>
        </p:nvSpPr>
        <p:spPr>
          <a:xfrm>
            <a:off x="12241711" y="3959428"/>
            <a:ext cx="4777530" cy="1100585"/>
          </a:xfrm>
          <a:prstGeom prst="rect">
            <a:avLst/>
          </a:prstGeom>
        </p:spPr>
        <p:txBody>
          <a:bodyPr lIns="0" tIns="0" rIns="0" bIns="0" rtlCol="0" anchor="t">
            <a:spAutoFit/>
          </a:bodyPr>
          <a:lstStyle/>
          <a:p>
            <a:pPr algn="l">
              <a:lnSpc>
                <a:spcPts val="2687"/>
              </a:lnSpc>
            </a:pPr>
            <a:r>
              <a:rPr lang="en-US" sz="1687">
                <a:solidFill>
                  <a:srgbClr val="272525"/>
                </a:solidFill>
                <a:latin typeface="Source Sans 3"/>
                <a:ea typeface="Source Sans 3"/>
                <a:cs typeface="Source Sans 3"/>
                <a:sym typeface="Source Sans 3"/>
              </a:rPr>
              <a:t>Engineered features and raw transaction data archived for model retraining, performance analysis, and regulatory review</a:t>
            </a:r>
          </a:p>
        </p:txBody>
      </p:sp>
      <p:sp>
        <p:nvSpPr>
          <p:cNvPr id="34" name="TextBox 34"/>
          <p:cNvSpPr txBox="1"/>
          <p:nvPr/>
        </p:nvSpPr>
        <p:spPr>
          <a:xfrm>
            <a:off x="1022899" y="5748633"/>
            <a:ext cx="2790234" cy="331584"/>
          </a:xfrm>
          <a:prstGeom prst="rect">
            <a:avLst/>
          </a:prstGeom>
        </p:spPr>
        <p:txBody>
          <a:bodyPr lIns="0" tIns="0" rIns="0" bIns="0" rtlCol="0" anchor="t">
            <a:spAutoFit/>
          </a:bodyPr>
          <a:lstStyle/>
          <a:p>
            <a:pPr algn="l">
              <a:lnSpc>
                <a:spcPts val="2437"/>
              </a:lnSpc>
            </a:pPr>
            <a:r>
              <a:rPr lang="en-US" sz="1937" b="1">
                <a:solidFill>
                  <a:srgbClr val="000000"/>
                </a:solidFill>
                <a:latin typeface="Source Serif Pro Bold"/>
                <a:ea typeface="Source Serif Pro Bold"/>
                <a:cs typeface="Source Serif Pro Bold"/>
                <a:sym typeface="Source Serif Pro Bold"/>
              </a:rPr>
              <a:t>PostgreSQL Production</a:t>
            </a:r>
          </a:p>
        </p:txBody>
      </p:sp>
      <p:sp>
        <p:nvSpPr>
          <p:cNvPr id="35" name="TextBox 35"/>
          <p:cNvSpPr txBox="1"/>
          <p:nvPr/>
        </p:nvSpPr>
        <p:spPr>
          <a:xfrm>
            <a:off x="1022899" y="6240361"/>
            <a:ext cx="5004645" cy="1100585"/>
          </a:xfrm>
          <a:prstGeom prst="rect">
            <a:avLst/>
          </a:prstGeom>
        </p:spPr>
        <p:txBody>
          <a:bodyPr lIns="0" tIns="0" rIns="0" bIns="0" rtlCol="0" anchor="t">
            <a:spAutoFit/>
          </a:bodyPr>
          <a:lstStyle/>
          <a:p>
            <a:pPr algn="l">
              <a:lnSpc>
                <a:spcPts val="2687"/>
              </a:lnSpc>
            </a:pPr>
            <a:r>
              <a:rPr lang="en-US" sz="1687">
                <a:solidFill>
                  <a:srgbClr val="272525"/>
                </a:solidFill>
                <a:latin typeface="Source Sans 3"/>
                <a:ea typeface="Source Sans 3"/>
                <a:cs typeface="Source Sans 3"/>
                <a:sym typeface="Source Sans 3"/>
              </a:rPr>
              <a:t>Enterprise-grade ACID compliance, concurrent transaction handling, and production-scale performance</a:t>
            </a:r>
          </a:p>
        </p:txBody>
      </p:sp>
      <p:sp>
        <p:nvSpPr>
          <p:cNvPr id="36" name="TextBox 36"/>
          <p:cNvSpPr txBox="1"/>
          <p:nvPr/>
        </p:nvSpPr>
        <p:spPr>
          <a:xfrm>
            <a:off x="6567192" y="5748633"/>
            <a:ext cx="2499865" cy="331584"/>
          </a:xfrm>
          <a:prstGeom prst="rect">
            <a:avLst/>
          </a:prstGeom>
        </p:spPr>
        <p:txBody>
          <a:bodyPr lIns="0" tIns="0" rIns="0" bIns="0" rtlCol="0" anchor="t">
            <a:spAutoFit/>
          </a:bodyPr>
          <a:lstStyle/>
          <a:p>
            <a:pPr algn="l">
              <a:lnSpc>
                <a:spcPts val="2437"/>
              </a:lnSpc>
            </a:pPr>
            <a:r>
              <a:rPr lang="en-US" sz="1937" b="1">
                <a:solidFill>
                  <a:srgbClr val="000000"/>
                </a:solidFill>
                <a:latin typeface="Source Serif Pro Bold"/>
                <a:ea typeface="Source Serif Pro Bold"/>
                <a:cs typeface="Source Serif Pro Bold"/>
                <a:sym typeface="Source Serif Pro Bold"/>
              </a:rPr>
              <a:t>SQLite Development</a:t>
            </a:r>
          </a:p>
        </p:txBody>
      </p:sp>
      <p:sp>
        <p:nvSpPr>
          <p:cNvPr id="37" name="TextBox 37"/>
          <p:cNvSpPr txBox="1"/>
          <p:nvPr/>
        </p:nvSpPr>
        <p:spPr>
          <a:xfrm>
            <a:off x="6567192" y="6240361"/>
            <a:ext cx="5004645" cy="1100585"/>
          </a:xfrm>
          <a:prstGeom prst="rect">
            <a:avLst/>
          </a:prstGeom>
        </p:spPr>
        <p:txBody>
          <a:bodyPr lIns="0" tIns="0" rIns="0" bIns="0" rtlCol="0" anchor="t">
            <a:spAutoFit/>
          </a:bodyPr>
          <a:lstStyle/>
          <a:p>
            <a:pPr algn="l">
              <a:lnSpc>
                <a:spcPts val="2687"/>
              </a:lnSpc>
            </a:pPr>
            <a:r>
              <a:rPr lang="en-US" sz="1687">
                <a:solidFill>
                  <a:srgbClr val="272525"/>
                </a:solidFill>
                <a:latin typeface="Source Sans 3"/>
                <a:ea typeface="Source Sans 3"/>
                <a:cs typeface="Source Sans 3"/>
                <a:sym typeface="Source Sans 3"/>
              </a:rPr>
              <a:t>Lightweight development environment enabling rapid prototyping and testing without infrastructure overhead</a:t>
            </a:r>
          </a:p>
        </p:txBody>
      </p:sp>
      <p:sp>
        <p:nvSpPr>
          <p:cNvPr id="38" name="TextBox 38"/>
          <p:cNvSpPr txBox="1"/>
          <p:nvPr/>
        </p:nvSpPr>
        <p:spPr>
          <a:xfrm>
            <a:off x="12111485" y="5748633"/>
            <a:ext cx="2499865" cy="331584"/>
          </a:xfrm>
          <a:prstGeom prst="rect">
            <a:avLst/>
          </a:prstGeom>
        </p:spPr>
        <p:txBody>
          <a:bodyPr lIns="0" tIns="0" rIns="0" bIns="0" rtlCol="0" anchor="t">
            <a:spAutoFit/>
          </a:bodyPr>
          <a:lstStyle/>
          <a:p>
            <a:pPr algn="l">
              <a:lnSpc>
                <a:spcPts val="2437"/>
              </a:lnSpc>
            </a:pPr>
            <a:r>
              <a:rPr lang="en-US" sz="1937" b="1">
                <a:solidFill>
                  <a:srgbClr val="000000"/>
                </a:solidFill>
                <a:latin typeface="Source Serif Pro Bold"/>
                <a:ea typeface="Source Serif Pro Bold"/>
                <a:cs typeface="Source Serif Pro Bold"/>
                <a:sym typeface="Source Serif Pro Bold"/>
              </a:rPr>
              <a:t>Audit Capabilities</a:t>
            </a:r>
          </a:p>
        </p:txBody>
      </p:sp>
      <p:sp>
        <p:nvSpPr>
          <p:cNvPr id="39" name="TextBox 39"/>
          <p:cNvSpPr txBox="1"/>
          <p:nvPr/>
        </p:nvSpPr>
        <p:spPr>
          <a:xfrm>
            <a:off x="12111485" y="6240361"/>
            <a:ext cx="5172370" cy="752770"/>
          </a:xfrm>
          <a:prstGeom prst="rect">
            <a:avLst/>
          </a:prstGeom>
        </p:spPr>
        <p:txBody>
          <a:bodyPr lIns="0" tIns="0" rIns="0" bIns="0" rtlCol="0" anchor="t">
            <a:spAutoFit/>
          </a:bodyPr>
          <a:lstStyle/>
          <a:p>
            <a:pPr algn="l">
              <a:lnSpc>
                <a:spcPts val="2687"/>
              </a:lnSpc>
            </a:pPr>
            <a:r>
              <a:rPr lang="en-US" sz="1687">
                <a:solidFill>
                  <a:srgbClr val="272525"/>
                </a:solidFill>
                <a:latin typeface="Source Sans 3"/>
                <a:ea typeface="Source Sans 3"/>
                <a:cs typeface="Source Sans 3"/>
                <a:sym typeface="Source Sans 3"/>
              </a:rPr>
              <a:t>Complete transaction lineage, model versioning, and decision traceability for regulatory and forensic analysis</a:t>
            </a:r>
          </a:p>
        </p:txBody>
      </p:sp>
      <p:grpSp>
        <p:nvGrpSpPr>
          <p:cNvPr id="40" name="Group 40"/>
          <p:cNvGrpSpPr/>
          <p:nvPr/>
        </p:nvGrpSpPr>
        <p:grpSpPr>
          <a:xfrm>
            <a:off x="1022899" y="7781030"/>
            <a:ext cx="16242211" cy="1801263"/>
            <a:chOff x="0" y="0"/>
            <a:chExt cx="21656281" cy="2401684"/>
          </a:xfrm>
        </p:grpSpPr>
        <p:sp>
          <p:nvSpPr>
            <p:cNvPr id="41" name="Freeform 41"/>
            <p:cNvSpPr/>
            <p:nvPr/>
          </p:nvSpPr>
          <p:spPr>
            <a:xfrm>
              <a:off x="0" y="0"/>
              <a:ext cx="21656294" cy="2401697"/>
            </a:xfrm>
            <a:custGeom>
              <a:avLst/>
              <a:gdLst/>
              <a:ahLst/>
              <a:cxnLst/>
              <a:rect l="l" t="t" r="r" b="b"/>
              <a:pathLst>
                <a:path w="21656294" h="2401697">
                  <a:moveTo>
                    <a:pt x="0" y="121793"/>
                  </a:moveTo>
                  <a:cubicBezTo>
                    <a:pt x="0" y="54483"/>
                    <a:pt x="54483" y="0"/>
                    <a:pt x="121793" y="0"/>
                  </a:cubicBezTo>
                  <a:lnTo>
                    <a:pt x="21534501" y="0"/>
                  </a:lnTo>
                  <a:cubicBezTo>
                    <a:pt x="21601685" y="0"/>
                    <a:pt x="21656294" y="54483"/>
                    <a:pt x="21656294" y="121793"/>
                  </a:cubicBezTo>
                  <a:lnTo>
                    <a:pt x="21656294" y="2279904"/>
                  </a:lnTo>
                  <a:cubicBezTo>
                    <a:pt x="21656294" y="2347087"/>
                    <a:pt x="21601812" y="2401697"/>
                    <a:pt x="21534501" y="2401697"/>
                  </a:cubicBezTo>
                  <a:lnTo>
                    <a:pt x="121793" y="2401697"/>
                  </a:lnTo>
                  <a:cubicBezTo>
                    <a:pt x="54610" y="2401697"/>
                    <a:pt x="0" y="2347214"/>
                    <a:pt x="0" y="2279904"/>
                  </a:cubicBezTo>
                  <a:close/>
                </a:path>
              </a:pathLst>
            </a:custGeom>
            <a:solidFill>
              <a:srgbClr val="E8BEF4"/>
            </a:solidFill>
            <a:ln w="12700">
              <a:solidFill>
                <a:srgbClr val="000000"/>
              </a:solidFill>
            </a:ln>
          </p:spPr>
        </p:sp>
      </p:grpSp>
      <p:sp>
        <p:nvSpPr>
          <p:cNvPr id="42" name="Freeform 42" descr="preencoded.png"/>
          <p:cNvSpPr/>
          <p:nvPr/>
        </p:nvSpPr>
        <p:spPr>
          <a:xfrm>
            <a:off x="1240184" y="8071990"/>
            <a:ext cx="312391" cy="249879"/>
          </a:xfrm>
          <a:custGeom>
            <a:avLst/>
            <a:gdLst/>
            <a:ahLst/>
            <a:cxnLst/>
            <a:rect l="l" t="t" r="r" b="b"/>
            <a:pathLst>
              <a:path w="312391" h="249879">
                <a:moveTo>
                  <a:pt x="0" y="0"/>
                </a:moveTo>
                <a:lnTo>
                  <a:pt x="312391" y="0"/>
                </a:lnTo>
                <a:lnTo>
                  <a:pt x="312391" y="249879"/>
                </a:lnTo>
                <a:lnTo>
                  <a:pt x="0" y="249879"/>
                </a:lnTo>
                <a:lnTo>
                  <a:pt x="0" y="0"/>
                </a:lnTo>
                <a:close/>
              </a:path>
            </a:pathLst>
          </a:custGeom>
          <a:blipFill>
            <a:blip r:embed="rId4"/>
            <a:stretch>
              <a:fillRect l="-762" r="-762"/>
            </a:stretch>
          </a:blipFill>
        </p:spPr>
      </p:sp>
      <p:sp>
        <p:nvSpPr>
          <p:cNvPr id="43" name="TextBox 43"/>
          <p:cNvSpPr txBox="1"/>
          <p:nvPr/>
        </p:nvSpPr>
        <p:spPr>
          <a:xfrm>
            <a:off x="1769859" y="8033595"/>
            <a:ext cx="2840679" cy="331584"/>
          </a:xfrm>
          <a:prstGeom prst="rect">
            <a:avLst/>
          </a:prstGeom>
        </p:spPr>
        <p:txBody>
          <a:bodyPr lIns="0" tIns="0" rIns="0" bIns="0" rtlCol="0" anchor="t">
            <a:spAutoFit/>
          </a:bodyPr>
          <a:lstStyle/>
          <a:p>
            <a:pPr algn="l">
              <a:lnSpc>
                <a:spcPts val="2437"/>
              </a:lnSpc>
            </a:pPr>
            <a:r>
              <a:rPr lang="en-US" sz="1937" b="1">
                <a:solidFill>
                  <a:srgbClr val="000000"/>
                </a:solidFill>
                <a:latin typeface="Source Serif Pro Bold"/>
                <a:ea typeface="Source Serif Pro Bold"/>
                <a:cs typeface="Source Serif Pro Bold"/>
                <a:sym typeface="Source Serif Pro Bold"/>
              </a:rPr>
              <a:t>Regulatory Compliance</a:t>
            </a:r>
          </a:p>
        </p:txBody>
      </p:sp>
      <p:sp>
        <p:nvSpPr>
          <p:cNvPr id="44" name="TextBox 44"/>
          <p:cNvSpPr txBox="1"/>
          <p:nvPr/>
        </p:nvSpPr>
        <p:spPr>
          <a:xfrm>
            <a:off x="1769859" y="8525323"/>
            <a:ext cx="15277948" cy="752770"/>
          </a:xfrm>
          <a:prstGeom prst="rect">
            <a:avLst/>
          </a:prstGeom>
        </p:spPr>
        <p:txBody>
          <a:bodyPr lIns="0" tIns="0" rIns="0" bIns="0" rtlCol="0" anchor="t">
            <a:spAutoFit/>
          </a:bodyPr>
          <a:lstStyle/>
          <a:p>
            <a:pPr algn="l">
              <a:lnSpc>
                <a:spcPts val="2687"/>
              </a:lnSpc>
            </a:pPr>
            <a:r>
              <a:rPr lang="en-US" sz="1687">
                <a:solidFill>
                  <a:srgbClr val="000000"/>
                </a:solidFill>
                <a:latin typeface="Source Sans 3"/>
                <a:ea typeface="Source Sans 3"/>
                <a:cs typeface="Source Sans 3"/>
                <a:sym typeface="Source Sans 3"/>
              </a:rPr>
              <a:t>The database architecture ensures full compliance with financial services regulations including data retention requirements, audit trail mandates, and accountability frameworks. Every fraud detection decision is fully traceable with complete context preservation.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a:ln w="12700">
              <a:solidFill>
                <a:srgbClr val="000000"/>
              </a:solidFill>
            </a:ln>
          </p:spPr>
        </p:sp>
      </p:grpSp>
      <p:sp>
        <p:nvSpPr>
          <p:cNvPr id="5" name="TextBox 5"/>
          <p:cNvSpPr txBox="1"/>
          <p:nvPr/>
        </p:nvSpPr>
        <p:spPr>
          <a:xfrm>
            <a:off x="1098499" y="728072"/>
            <a:ext cx="7893691" cy="739226"/>
          </a:xfrm>
          <a:prstGeom prst="rect">
            <a:avLst/>
          </a:prstGeom>
        </p:spPr>
        <p:txBody>
          <a:bodyPr lIns="0" tIns="0" rIns="0" bIns="0" rtlCol="0" anchor="t">
            <a:spAutoFit/>
          </a:bodyPr>
          <a:lstStyle/>
          <a:p>
            <a:pPr algn="l">
              <a:lnSpc>
                <a:spcPts val="5562"/>
              </a:lnSpc>
            </a:pPr>
            <a:r>
              <a:rPr lang="en-US" sz="4437" b="1">
                <a:solidFill>
                  <a:srgbClr val="000000"/>
                </a:solidFill>
                <a:latin typeface="Source Serif Pro Bold"/>
                <a:ea typeface="Source Serif Pro Bold"/>
                <a:cs typeface="Source Serif Pro Bold"/>
                <a:sym typeface="Source Serif Pro Bold"/>
              </a:rPr>
              <a:t>Results, Benefits &amp; Use Cases</a:t>
            </a:r>
          </a:p>
        </p:txBody>
      </p:sp>
      <p:sp>
        <p:nvSpPr>
          <p:cNvPr id="6" name="TextBox 6"/>
          <p:cNvSpPr txBox="1"/>
          <p:nvPr/>
        </p:nvSpPr>
        <p:spPr>
          <a:xfrm>
            <a:off x="1098499" y="1885359"/>
            <a:ext cx="16091002" cy="867070"/>
          </a:xfrm>
          <a:prstGeom prst="rect">
            <a:avLst/>
          </a:prstGeom>
        </p:spPr>
        <p:txBody>
          <a:bodyPr lIns="0" tIns="0" rIns="0" bIns="0" rtlCol="0" anchor="t">
            <a:spAutoFit/>
          </a:bodyPr>
          <a:lstStyle/>
          <a:p>
            <a:pPr algn="l">
              <a:lnSpc>
                <a:spcPts val="3062"/>
              </a:lnSpc>
            </a:pPr>
            <a:r>
              <a:rPr lang="en-US" sz="1937">
                <a:solidFill>
                  <a:srgbClr val="272525"/>
                </a:solidFill>
                <a:latin typeface="Source Sans 3"/>
                <a:ea typeface="Source Sans 3"/>
                <a:cs typeface="Source Sans 3"/>
                <a:sym typeface="Source Sans 3"/>
              </a:rPr>
              <a:t>Fraud Pulse delivers measurable improvements across operational efficiency, financial protection, and customer experience dimensions. The platform transforms fraud detection from a reactive cost center into a proactive value driver for financial institutions.</a:t>
            </a:r>
          </a:p>
        </p:txBody>
      </p:sp>
      <p:sp>
        <p:nvSpPr>
          <p:cNvPr id="7" name="TextBox 7"/>
          <p:cNvSpPr txBox="1"/>
          <p:nvPr/>
        </p:nvSpPr>
        <p:spPr>
          <a:xfrm>
            <a:off x="2235013" y="3314776"/>
            <a:ext cx="3790950" cy="691906"/>
          </a:xfrm>
          <a:prstGeom prst="rect">
            <a:avLst/>
          </a:prstGeom>
        </p:spPr>
        <p:txBody>
          <a:bodyPr lIns="0" tIns="0" rIns="0" bIns="0" rtlCol="0" anchor="t">
            <a:spAutoFit/>
          </a:bodyPr>
          <a:lstStyle/>
          <a:p>
            <a:pPr algn="ctr">
              <a:lnSpc>
                <a:spcPts val="6374"/>
              </a:lnSpc>
            </a:pPr>
            <a:r>
              <a:rPr lang="en-US" sz="6374" b="1">
                <a:solidFill>
                  <a:srgbClr val="272525"/>
                </a:solidFill>
                <a:latin typeface="Source Serif Pro Bold"/>
                <a:ea typeface="Source Serif Pro Bold"/>
                <a:cs typeface="Source Serif Pro Bold"/>
                <a:sym typeface="Source Serif Pro Bold"/>
              </a:rPr>
              <a:t>&lt;100ms</a:t>
            </a:r>
          </a:p>
        </p:txBody>
      </p:sp>
      <p:sp>
        <p:nvSpPr>
          <p:cNvPr id="8" name="TextBox 8"/>
          <p:cNvSpPr txBox="1"/>
          <p:nvPr/>
        </p:nvSpPr>
        <p:spPr>
          <a:xfrm>
            <a:off x="2602116" y="4057860"/>
            <a:ext cx="2842622" cy="364779"/>
          </a:xfrm>
          <a:prstGeom prst="rect">
            <a:avLst/>
          </a:prstGeom>
        </p:spPr>
        <p:txBody>
          <a:bodyPr lIns="0" tIns="0" rIns="0" bIns="0" rtlCol="0" anchor="t">
            <a:spAutoFit/>
          </a:bodyPr>
          <a:lstStyle/>
          <a:p>
            <a:pPr algn="ctr">
              <a:lnSpc>
                <a:spcPts val="2750"/>
              </a:lnSpc>
            </a:pPr>
            <a:r>
              <a:rPr lang="en-US" sz="2187" b="1">
                <a:solidFill>
                  <a:srgbClr val="272525"/>
                </a:solidFill>
                <a:latin typeface="Source Serif Pro Bold"/>
                <a:ea typeface="Source Serif Pro Bold"/>
                <a:cs typeface="Source Serif Pro Bold"/>
                <a:sym typeface="Source Serif Pro Bold"/>
              </a:rPr>
              <a:t>Detection Latency</a:t>
            </a:r>
          </a:p>
        </p:txBody>
      </p:sp>
      <p:sp>
        <p:nvSpPr>
          <p:cNvPr id="9" name="TextBox 9"/>
          <p:cNvSpPr txBox="1"/>
          <p:nvPr/>
        </p:nvSpPr>
        <p:spPr>
          <a:xfrm>
            <a:off x="2163070" y="4538958"/>
            <a:ext cx="3790950" cy="1262510"/>
          </a:xfrm>
          <a:prstGeom prst="rect">
            <a:avLst/>
          </a:prstGeom>
        </p:spPr>
        <p:txBody>
          <a:bodyPr lIns="0" tIns="0" rIns="0" bIns="0" rtlCol="0" anchor="t">
            <a:spAutoFit/>
          </a:bodyPr>
          <a:lstStyle/>
          <a:p>
            <a:pPr algn="ctr">
              <a:lnSpc>
                <a:spcPts val="3062"/>
              </a:lnSpc>
            </a:pPr>
            <a:r>
              <a:rPr lang="en-US" sz="1937">
                <a:solidFill>
                  <a:srgbClr val="272525"/>
                </a:solidFill>
                <a:latin typeface="Source Sans 3"/>
                <a:ea typeface="Source Sans 3"/>
                <a:cs typeface="Source Sans 3"/>
                <a:sym typeface="Source Sans 3"/>
              </a:rPr>
              <a:t>Real-time fraud detection enabling pre-settlement intervention and immediate transaction decisioning</a:t>
            </a:r>
          </a:p>
        </p:txBody>
      </p:sp>
      <p:sp>
        <p:nvSpPr>
          <p:cNvPr id="10" name="TextBox 10"/>
          <p:cNvSpPr txBox="1"/>
          <p:nvPr/>
        </p:nvSpPr>
        <p:spPr>
          <a:xfrm>
            <a:off x="7138835" y="3371374"/>
            <a:ext cx="3791102" cy="691906"/>
          </a:xfrm>
          <a:prstGeom prst="rect">
            <a:avLst/>
          </a:prstGeom>
        </p:spPr>
        <p:txBody>
          <a:bodyPr lIns="0" tIns="0" rIns="0" bIns="0" rtlCol="0" anchor="t">
            <a:spAutoFit/>
          </a:bodyPr>
          <a:lstStyle/>
          <a:p>
            <a:pPr algn="ctr">
              <a:lnSpc>
                <a:spcPts val="6374"/>
              </a:lnSpc>
            </a:pPr>
            <a:r>
              <a:rPr lang="en-US" sz="6374" b="1">
                <a:solidFill>
                  <a:srgbClr val="272525"/>
                </a:solidFill>
                <a:latin typeface="Source Serif Pro Bold"/>
                <a:ea typeface="Source Serif Pro Bold"/>
                <a:cs typeface="Source Serif Pro Bold"/>
                <a:sym typeface="Source Serif Pro Bold"/>
              </a:rPr>
              <a:t>60%</a:t>
            </a:r>
          </a:p>
        </p:txBody>
      </p:sp>
      <p:sp>
        <p:nvSpPr>
          <p:cNvPr id="11" name="TextBox 11"/>
          <p:cNvSpPr txBox="1"/>
          <p:nvPr/>
        </p:nvSpPr>
        <p:spPr>
          <a:xfrm>
            <a:off x="7379941" y="4057860"/>
            <a:ext cx="3318720" cy="364779"/>
          </a:xfrm>
          <a:prstGeom prst="rect">
            <a:avLst/>
          </a:prstGeom>
        </p:spPr>
        <p:txBody>
          <a:bodyPr lIns="0" tIns="0" rIns="0" bIns="0" rtlCol="0" anchor="t">
            <a:spAutoFit/>
          </a:bodyPr>
          <a:lstStyle/>
          <a:p>
            <a:pPr algn="ctr">
              <a:lnSpc>
                <a:spcPts val="2750"/>
              </a:lnSpc>
            </a:pPr>
            <a:r>
              <a:rPr lang="en-US" sz="2187" b="1">
                <a:solidFill>
                  <a:srgbClr val="272525"/>
                </a:solidFill>
                <a:latin typeface="Source Serif Pro Bold"/>
                <a:ea typeface="Source Serif Pro Bold"/>
                <a:cs typeface="Source Serif Pro Bold"/>
                <a:sym typeface="Source Serif Pro Bold"/>
              </a:rPr>
              <a:t>False Positive Reduction</a:t>
            </a:r>
          </a:p>
        </p:txBody>
      </p:sp>
      <p:sp>
        <p:nvSpPr>
          <p:cNvPr id="12" name="TextBox 12"/>
          <p:cNvSpPr txBox="1"/>
          <p:nvPr/>
        </p:nvSpPr>
        <p:spPr>
          <a:xfrm>
            <a:off x="7083476" y="4473654"/>
            <a:ext cx="3791102" cy="1657941"/>
          </a:xfrm>
          <a:prstGeom prst="rect">
            <a:avLst/>
          </a:prstGeom>
        </p:spPr>
        <p:txBody>
          <a:bodyPr lIns="0" tIns="0" rIns="0" bIns="0" rtlCol="0" anchor="t">
            <a:spAutoFit/>
          </a:bodyPr>
          <a:lstStyle/>
          <a:p>
            <a:pPr algn="ctr">
              <a:lnSpc>
                <a:spcPts val="3062"/>
              </a:lnSpc>
            </a:pPr>
            <a:r>
              <a:rPr lang="en-US" sz="1937">
                <a:solidFill>
                  <a:srgbClr val="272525"/>
                </a:solidFill>
                <a:latin typeface="Source Sans 3"/>
                <a:ea typeface="Source Sans 3"/>
                <a:cs typeface="Source Sans 3"/>
                <a:sym typeface="Source Sans 3"/>
              </a:rPr>
              <a:t>Significant decrease in legitimate transaction blocks improving customer experience and operational efficiency</a:t>
            </a:r>
          </a:p>
        </p:txBody>
      </p:sp>
      <p:sp>
        <p:nvSpPr>
          <p:cNvPr id="13" name="TextBox 13"/>
          <p:cNvSpPr txBox="1"/>
          <p:nvPr/>
        </p:nvSpPr>
        <p:spPr>
          <a:xfrm>
            <a:off x="12031713" y="3284677"/>
            <a:ext cx="3790950" cy="691906"/>
          </a:xfrm>
          <a:prstGeom prst="rect">
            <a:avLst/>
          </a:prstGeom>
        </p:spPr>
        <p:txBody>
          <a:bodyPr lIns="0" tIns="0" rIns="0" bIns="0" rtlCol="0" anchor="t">
            <a:spAutoFit/>
          </a:bodyPr>
          <a:lstStyle/>
          <a:p>
            <a:pPr algn="ctr">
              <a:lnSpc>
                <a:spcPts val="6374"/>
              </a:lnSpc>
            </a:pPr>
            <a:r>
              <a:rPr lang="en-US" sz="6374" b="1">
                <a:solidFill>
                  <a:srgbClr val="272525"/>
                </a:solidFill>
                <a:latin typeface="Source Serif Pro Bold"/>
                <a:ea typeface="Source Serif Pro Bold"/>
                <a:cs typeface="Source Serif Pro Bold"/>
                <a:sym typeface="Source Serif Pro Bold"/>
              </a:rPr>
              <a:t>94%</a:t>
            </a:r>
          </a:p>
        </p:txBody>
      </p:sp>
      <p:sp>
        <p:nvSpPr>
          <p:cNvPr id="14" name="TextBox 14"/>
          <p:cNvSpPr txBox="1"/>
          <p:nvPr/>
        </p:nvSpPr>
        <p:spPr>
          <a:xfrm>
            <a:off x="12505877" y="4042096"/>
            <a:ext cx="2842622" cy="364779"/>
          </a:xfrm>
          <a:prstGeom prst="rect">
            <a:avLst/>
          </a:prstGeom>
        </p:spPr>
        <p:txBody>
          <a:bodyPr lIns="0" tIns="0" rIns="0" bIns="0" rtlCol="0" anchor="t">
            <a:spAutoFit/>
          </a:bodyPr>
          <a:lstStyle/>
          <a:p>
            <a:pPr algn="ctr">
              <a:lnSpc>
                <a:spcPts val="2750"/>
              </a:lnSpc>
            </a:pPr>
            <a:r>
              <a:rPr lang="en-US" sz="2187" b="1">
                <a:solidFill>
                  <a:srgbClr val="272525"/>
                </a:solidFill>
                <a:latin typeface="Source Serif Pro Bold"/>
                <a:ea typeface="Source Serif Pro Bold"/>
                <a:cs typeface="Source Serif Pro Bold"/>
                <a:sym typeface="Source Serif Pro Bold"/>
              </a:rPr>
              <a:t>Fraud Recall Rate</a:t>
            </a:r>
          </a:p>
        </p:txBody>
      </p:sp>
      <p:sp>
        <p:nvSpPr>
          <p:cNvPr id="15" name="TextBox 15"/>
          <p:cNvSpPr txBox="1"/>
          <p:nvPr/>
        </p:nvSpPr>
        <p:spPr>
          <a:xfrm>
            <a:off x="12004034" y="4443917"/>
            <a:ext cx="3790950" cy="1657941"/>
          </a:xfrm>
          <a:prstGeom prst="rect">
            <a:avLst/>
          </a:prstGeom>
        </p:spPr>
        <p:txBody>
          <a:bodyPr lIns="0" tIns="0" rIns="0" bIns="0" rtlCol="0" anchor="t">
            <a:spAutoFit/>
          </a:bodyPr>
          <a:lstStyle/>
          <a:p>
            <a:pPr algn="ctr">
              <a:lnSpc>
                <a:spcPts val="3062"/>
              </a:lnSpc>
            </a:pPr>
            <a:r>
              <a:rPr lang="en-US" sz="1937">
                <a:solidFill>
                  <a:srgbClr val="272525"/>
                </a:solidFill>
                <a:latin typeface="Source Sans 3"/>
                <a:ea typeface="Source Sans 3"/>
                <a:cs typeface="Source Sans 3"/>
                <a:sym typeface="Source Sans 3"/>
              </a:rPr>
              <a:t>High-sensitivity fraud detection capturing sophisticated attack patterns missed by traditional systems</a:t>
            </a:r>
          </a:p>
        </p:txBody>
      </p:sp>
      <p:sp>
        <p:nvSpPr>
          <p:cNvPr id="16" name="TextBox 16"/>
          <p:cNvSpPr txBox="1"/>
          <p:nvPr/>
        </p:nvSpPr>
        <p:spPr>
          <a:xfrm>
            <a:off x="1098499" y="6715420"/>
            <a:ext cx="5505898" cy="445446"/>
          </a:xfrm>
          <a:prstGeom prst="rect">
            <a:avLst/>
          </a:prstGeom>
        </p:spPr>
        <p:txBody>
          <a:bodyPr lIns="0" tIns="0" rIns="0" bIns="0" rtlCol="0" anchor="t">
            <a:spAutoFit/>
          </a:bodyPr>
          <a:lstStyle/>
          <a:p>
            <a:pPr algn="l">
              <a:lnSpc>
                <a:spcPts val="3312"/>
              </a:lnSpc>
            </a:pPr>
            <a:r>
              <a:rPr lang="en-US" sz="2625" b="1">
                <a:solidFill>
                  <a:srgbClr val="000000"/>
                </a:solidFill>
                <a:latin typeface="Source Serif Pro Bold"/>
                <a:ea typeface="Source Serif Pro Bold"/>
                <a:cs typeface="Source Serif Pro Bold"/>
                <a:sym typeface="Source Serif Pro Bold"/>
              </a:rPr>
              <a:t>Real-World Application Scenarios</a:t>
            </a:r>
          </a:p>
        </p:txBody>
      </p:sp>
      <p:sp>
        <p:nvSpPr>
          <p:cNvPr id="17" name="TextBox 17"/>
          <p:cNvSpPr txBox="1"/>
          <p:nvPr/>
        </p:nvSpPr>
        <p:spPr>
          <a:xfrm>
            <a:off x="1098499" y="7831036"/>
            <a:ext cx="3146079" cy="364779"/>
          </a:xfrm>
          <a:prstGeom prst="rect">
            <a:avLst/>
          </a:prstGeom>
        </p:spPr>
        <p:txBody>
          <a:bodyPr lIns="0" tIns="0" rIns="0" bIns="0" rtlCol="0" anchor="t">
            <a:spAutoFit/>
          </a:bodyPr>
          <a:lstStyle/>
          <a:p>
            <a:pPr algn="l">
              <a:lnSpc>
                <a:spcPts val="2750"/>
              </a:lnSpc>
            </a:pPr>
            <a:r>
              <a:rPr lang="en-US" sz="2187" b="1">
                <a:solidFill>
                  <a:srgbClr val="272525"/>
                </a:solidFill>
                <a:latin typeface="Source Serif Pro Bold"/>
                <a:ea typeface="Source Serif Pro Bold"/>
                <a:cs typeface="Source Serif Pro Bold"/>
                <a:sym typeface="Source Serif Pro Bold"/>
              </a:rPr>
              <a:t>Live Customer Support</a:t>
            </a:r>
          </a:p>
        </p:txBody>
      </p:sp>
      <p:sp>
        <p:nvSpPr>
          <p:cNvPr id="18" name="TextBox 18"/>
          <p:cNvSpPr txBox="1"/>
          <p:nvPr/>
        </p:nvSpPr>
        <p:spPr>
          <a:xfrm>
            <a:off x="1098499" y="8267852"/>
            <a:ext cx="5157635" cy="1262510"/>
          </a:xfrm>
          <a:prstGeom prst="rect">
            <a:avLst/>
          </a:prstGeom>
        </p:spPr>
        <p:txBody>
          <a:bodyPr lIns="0" tIns="0" rIns="0" bIns="0" rtlCol="0" anchor="t">
            <a:spAutoFit/>
          </a:bodyPr>
          <a:lstStyle/>
          <a:p>
            <a:pPr algn="l">
              <a:lnSpc>
                <a:spcPts val="3062"/>
              </a:lnSpc>
            </a:pPr>
            <a:r>
              <a:rPr lang="en-US" sz="1937">
                <a:solidFill>
                  <a:srgbClr val="272525"/>
                </a:solidFill>
                <a:latin typeface="Source Sans 3"/>
                <a:ea typeface="Source Sans 3"/>
                <a:cs typeface="Source Sans 3"/>
                <a:sym typeface="Source Sans 3"/>
              </a:rPr>
              <a:t>Fraud analysts receive real-time risk scores during customer interactions, enabling immediate fraud verification and account protection</a:t>
            </a:r>
          </a:p>
        </p:txBody>
      </p:sp>
      <p:sp>
        <p:nvSpPr>
          <p:cNvPr id="19" name="TextBox 19"/>
          <p:cNvSpPr txBox="1"/>
          <p:nvPr/>
        </p:nvSpPr>
        <p:spPr>
          <a:xfrm>
            <a:off x="6565106" y="7831036"/>
            <a:ext cx="3268266" cy="364779"/>
          </a:xfrm>
          <a:prstGeom prst="rect">
            <a:avLst/>
          </a:prstGeom>
        </p:spPr>
        <p:txBody>
          <a:bodyPr lIns="0" tIns="0" rIns="0" bIns="0" rtlCol="0" anchor="t">
            <a:spAutoFit/>
          </a:bodyPr>
          <a:lstStyle/>
          <a:p>
            <a:pPr algn="l">
              <a:lnSpc>
                <a:spcPts val="2750"/>
              </a:lnSpc>
            </a:pPr>
            <a:r>
              <a:rPr lang="en-US" sz="2187" b="1">
                <a:solidFill>
                  <a:srgbClr val="272525"/>
                </a:solidFill>
                <a:latin typeface="Source Serif Pro Bold"/>
                <a:ea typeface="Source Serif Pro Bold"/>
                <a:cs typeface="Source Serif Pro Bold"/>
                <a:sym typeface="Source Serif Pro Bold"/>
              </a:rPr>
              <a:t>Transaction Monitoring</a:t>
            </a:r>
          </a:p>
        </p:txBody>
      </p:sp>
      <p:sp>
        <p:nvSpPr>
          <p:cNvPr id="20" name="TextBox 20"/>
          <p:cNvSpPr txBox="1"/>
          <p:nvPr/>
        </p:nvSpPr>
        <p:spPr>
          <a:xfrm>
            <a:off x="6565106" y="8267852"/>
            <a:ext cx="5157635" cy="1262510"/>
          </a:xfrm>
          <a:prstGeom prst="rect">
            <a:avLst/>
          </a:prstGeom>
        </p:spPr>
        <p:txBody>
          <a:bodyPr lIns="0" tIns="0" rIns="0" bIns="0" rtlCol="0" anchor="t">
            <a:spAutoFit/>
          </a:bodyPr>
          <a:lstStyle/>
          <a:p>
            <a:pPr algn="l">
              <a:lnSpc>
                <a:spcPts val="3062"/>
              </a:lnSpc>
            </a:pPr>
            <a:r>
              <a:rPr lang="en-US" sz="1937">
                <a:solidFill>
                  <a:srgbClr val="272525"/>
                </a:solidFill>
                <a:latin typeface="Source Sans 3"/>
                <a:ea typeface="Source Sans 3"/>
                <a:cs typeface="Source Sans 3"/>
                <a:sym typeface="Source Sans 3"/>
              </a:rPr>
              <a:t>Automated screening of high-velocity payment channels with instant alerts for suspicious activity patterns</a:t>
            </a:r>
          </a:p>
        </p:txBody>
      </p:sp>
      <p:sp>
        <p:nvSpPr>
          <p:cNvPr id="21" name="TextBox 21"/>
          <p:cNvSpPr txBox="1"/>
          <p:nvPr/>
        </p:nvSpPr>
        <p:spPr>
          <a:xfrm>
            <a:off x="12031713" y="7831036"/>
            <a:ext cx="3041752" cy="364779"/>
          </a:xfrm>
          <a:prstGeom prst="rect">
            <a:avLst/>
          </a:prstGeom>
        </p:spPr>
        <p:txBody>
          <a:bodyPr lIns="0" tIns="0" rIns="0" bIns="0" rtlCol="0" anchor="t">
            <a:spAutoFit/>
          </a:bodyPr>
          <a:lstStyle/>
          <a:p>
            <a:pPr algn="l">
              <a:lnSpc>
                <a:spcPts val="2750"/>
              </a:lnSpc>
            </a:pPr>
            <a:r>
              <a:rPr lang="en-US" sz="2187" b="1">
                <a:solidFill>
                  <a:srgbClr val="272525"/>
                </a:solidFill>
                <a:latin typeface="Source Serif Pro Bold"/>
                <a:ea typeface="Source Serif Pro Bold"/>
                <a:cs typeface="Source Serif Pro Bold"/>
                <a:sym typeface="Source Serif Pro Bold"/>
              </a:rPr>
              <a:t>Forensic Investigation</a:t>
            </a:r>
          </a:p>
        </p:txBody>
      </p:sp>
      <p:sp>
        <p:nvSpPr>
          <p:cNvPr id="22" name="TextBox 22"/>
          <p:cNvSpPr txBox="1"/>
          <p:nvPr/>
        </p:nvSpPr>
        <p:spPr>
          <a:xfrm>
            <a:off x="12031713" y="8267852"/>
            <a:ext cx="5157788" cy="1262510"/>
          </a:xfrm>
          <a:prstGeom prst="rect">
            <a:avLst/>
          </a:prstGeom>
        </p:spPr>
        <p:txBody>
          <a:bodyPr lIns="0" tIns="0" rIns="0" bIns="0" rtlCol="0" anchor="t">
            <a:spAutoFit/>
          </a:bodyPr>
          <a:lstStyle/>
          <a:p>
            <a:pPr algn="l">
              <a:lnSpc>
                <a:spcPts val="3062"/>
              </a:lnSpc>
            </a:pPr>
            <a:r>
              <a:rPr lang="en-US" sz="1937">
                <a:solidFill>
                  <a:srgbClr val="272525"/>
                </a:solidFill>
                <a:latin typeface="Source Sans 3"/>
                <a:ea typeface="Source Sans 3"/>
                <a:cs typeface="Source Sans 3"/>
                <a:sym typeface="Source Sans 3"/>
              </a:rPr>
              <a:t>Comprehensive audit trails support post-incident analysis, regulatory reporting, and law enforcement cooperation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a:ln w="12700">
              <a:solidFill>
                <a:srgbClr val="000000"/>
              </a:solidFill>
            </a:ln>
          </p:spPr>
        </p:sp>
      </p:grpSp>
      <p:sp>
        <p:nvSpPr>
          <p:cNvPr id="5" name="TextBox 5"/>
          <p:cNvSpPr txBox="1"/>
          <p:nvPr/>
        </p:nvSpPr>
        <p:spPr>
          <a:xfrm>
            <a:off x="710803" y="450504"/>
            <a:ext cx="3477968" cy="370132"/>
          </a:xfrm>
          <a:prstGeom prst="rect">
            <a:avLst/>
          </a:prstGeom>
        </p:spPr>
        <p:txBody>
          <a:bodyPr lIns="0" tIns="0" rIns="0" bIns="0" rtlCol="0" anchor="t">
            <a:spAutoFit/>
          </a:bodyPr>
          <a:lstStyle/>
          <a:p>
            <a:pPr algn="l">
              <a:lnSpc>
                <a:spcPts val="2562"/>
              </a:lnSpc>
            </a:pPr>
            <a:r>
              <a:rPr lang="en-US" sz="1750" b="1">
                <a:solidFill>
                  <a:srgbClr val="000000"/>
                </a:solidFill>
                <a:latin typeface="Source Serif Pro Bold"/>
                <a:ea typeface="Source Serif Pro Bold"/>
                <a:cs typeface="Source Serif Pro Bold"/>
                <a:sym typeface="Source Serif Pro Bold"/>
              </a:rPr>
              <a:t>Limitations &amp; Future Scope</a:t>
            </a:r>
          </a:p>
        </p:txBody>
      </p:sp>
      <p:sp>
        <p:nvSpPr>
          <p:cNvPr id="6" name="TextBox 6"/>
          <p:cNvSpPr txBox="1"/>
          <p:nvPr/>
        </p:nvSpPr>
        <p:spPr>
          <a:xfrm>
            <a:off x="710803" y="1166517"/>
            <a:ext cx="2279474" cy="221214"/>
          </a:xfrm>
          <a:prstGeom prst="rect">
            <a:avLst/>
          </a:prstGeom>
        </p:spPr>
        <p:txBody>
          <a:bodyPr wrap="square" lIns="0" tIns="0" rIns="0" bIns="0" rtlCol="0" anchor="t">
            <a:spAutoFit/>
          </a:bodyPr>
          <a:lstStyle/>
          <a:p>
            <a:pPr algn="l">
              <a:lnSpc>
                <a:spcPts val="1562"/>
              </a:lnSpc>
            </a:pPr>
            <a:r>
              <a:rPr lang="en-US" sz="1750" b="1" dirty="0">
                <a:solidFill>
                  <a:srgbClr val="000000"/>
                </a:solidFill>
                <a:latin typeface="Source Serif Pro Bold"/>
                <a:ea typeface="Source Serif Pro Bold"/>
                <a:cs typeface="Source Serif Pro Bold"/>
                <a:sym typeface="Source Serif Pro Bold"/>
              </a:rPr>
              <a:t>Current Limitations</a:t>
            </a:r>
          </a:p>
        </p:txBody>
      </p:sp>
      <p:sp>
        <p:nvSpPr>
          <p:cNvPr id="7" name="TextBox 7"/>
          <p:cNvSpPr txBox="1"/>
          <p:nvPr/>
        </p:nvSpPr>
        <p:spPr>
          <a:xfrm>
            <a:off x="710803" y="1481138"/>
            <a:ext cx="10549280" cy="312239"/>
          </a:xfrm>
          <a:prstGeom prst="rect">
            <a:avLst/>
          </a:prstGeom>
        </p:spPr>
        <p:txBody>
          <a:bodyPr lIns="0" tIns="0" rIns="0" bIns="0" rtlCol="0" anchor="t">
            <a:spAutoFit/>
          </a:bodyPr>
          <a:lstStyle/>
          <a:p>
            <a:pPr algn="l">
              <a:lnSpc>
                <a:spcPts val="1437"/>
              </a:lnSpc>
            </a:pPr>
            <a:r>
              <a:rPr lang="en-US" sz="1750" dirty="0">
                <a:solidFill>
                  <a:srgbClr val="272525"/>
                </a:solidFill>
                <a:latin typeface="Source Sans 3"/>
                <a:ea typeface="Source Sans 3"/>
                <a:cs typeface="Source Sans 3"/>
                <a:sym typeface="Source Sans 3"/>
              </a:rPr>
              <a:t>While Fraud Pulse demonstrates significant capabilities, several constraints exist in the current implementation that present opportunities for future enhancement and production deployment optimization.</a:t>
            </a:r>
          </a:p>
        </p:txBody>
      </p:sp>
      <p:grpSp>
        <p:nvGrpSpPr>
          <p:cNvPr id="8" name="Group 8"/>
          <p:cNvGrpSpPr/>
          <p:nvPr/>
        </p:nvGrpSpPr>
        <p:grpSpPr>
          <a:xfrm>
            <a:off x="710803" y="1984619"/>
            <a:ext cx="57741" cy="57741"/>
            <a:chOff x="0" y="0"/>
            <a:chExt cx="76987" cy="76987"/>
          </a:xfrm>
        </p:grpSpPr>
        <p:sp>
          <p:nvSpPr>
            <p:cNvPr id="9" name="Freeform 9"/>
            <p:cNvSpPr/>
            <p:nvPr/>
          </p:nvSpPr>
          <p:spPr>
            <a:xfrm>
              <a:off x="0" y="0"/>
              <a:ext cx="76962" cy="76962"/>
            </a:xfrm>
            <a:custGeom>
              <a:avLst/>
              <a:gdLst/>
              <a:ahLst/>
              <a:cxnLst/>
              <a:rect l="l" t="t" r="r" b="b"/>
              <a:pathLst>
                <a:path w="76962" h="76962">
                  <a:moveTo>
                    <a:pt x="0" y="38481"/>
                  </a:moveTo>
                  <a:cubicBezTo>
                    <a:pt x="0" y="17272"/>
                    <a:pt x="17272" y="0"/>
                    <a:pt x="38481" y="0"/>
                  </a:cubicBezTo>
                  <a:cubicBezTo>
                    <a:pt x="59690" y="0"/>
                    <a:pt x="76962" y="17272"/>
                    <a:pt x="76962" y="38481"/>
                  </a:cubicBezTo>
                  <a:cubicBezTo>
                    <a:pt x="76962" y="59690"/>
                    <a:pt x="59817" y="76962"/>
                    <a:pt x="38481" y="76962"/>
                  </a:cubicBezTo>
                  <a:cubicBezTo>
                    <a:pt x="17145" y="76962"/>
                    <a:pt x="0" y="59817"/>
                    <a:pt x="0" y="38481"/>
                  </a:cubicBezTo>
                  <a:close/>
                </a:path>
              </a:pathLst>
            </a:custGeom>
            <a:solidFill>
              <a:srgbClr val="BE49DF"/>
            </a:solidFill>
            <a:ln w="12700">
              <a:solidFill>
                <a:srgbClr val="000000"/>
              </a:solidFill>
            </a:ln>
          </p:spPr>
        </p:sp>
      </p:grpSp>
      <p:sp>
        <p:nvSpPr>
          <p:cNvPr id="10" name="TextBox 10"/>
          <p:cNvSpPr txBox="1"/>
          <p:nvPr/>
        </p:nvSpPr>
        <p:spPr>
          <a:xfrm>
            <a:off x="884034" y="2009031"/>
            <a:ext cx="2944444" cy="182742"/>
          </a:xfrm>
          <a:prstGeom prst="rect">
            <a:avLst/>
          </a:prstGeom>
        </p:spPr>
        <p:txBody>
          <a:bodyPr wrap="square" lIns="0" tIns="0" rIns="0" bIns="0" rtlCol="0" anchor="t">
            <a:spAutoFit/>
          </a:bodyPr>
          <a:lstStyle/>
          <a:p>
            <a:pPr algn="l">
              <a:lnSpc>
                <a:spcPts val="1249"/>
              </a:lnSpc>
            </a:pPr>
            <a:r>
              <a:rPr lang="en-US" sz="1750" b="1" dirty="0">
                <a:solidFill>
                  <a:srgbClr val="272525"/>
                </a:solidFill>
                <a:latin typeface="Source Serif Pro Bold"/>
                <a:ea typeface="Source Serif Pro Bold"/>
                <a:cs typeface="Source Serif Pro Bold"/>
                <a:sym typeface="Source Serif Pro Bold"/>
              </a:rPr>
              <a:t>Manual Model Retraining</a:t>
            </a:r>
          </a:p>
        </p:txBody>
      </p:sp>
      <p:sp>
        <p:nvSpPr>
          <p:cNvPr id="11" name="TextBox 11"/>
          <p:cNvSpPr txBox="1"/>
          <p:nvPr/>
        </p:nvSpPr>
        <p:spPr>
          <a:xfrm>
            <a:off x="884034" y="2262035"/>
            <a:ext cx="8119167" cy="127549"/>
          </a:xfrm>
          <a:prstGeom prst="rect">
            <a:avLst/>
          </a:prstGeom>
        </p:spPr>
        <p:txBody>
          <a:bodyPr lIns="0" tIns="0" rIns="0" bIns="0" rtlCol="0" anchor="t">
            <a:spAutoFit/>
          </a:bodyPr>
          <a:lstStyle/>
          <a:p>
            <a:pPr algn="l">
              <a:lnSpc>
                <a:spcPts val="1437"/>
              </a:lnSpc>
            </a:pPr>
            <a:r>
              <a:rPr lang="en-US" sz="1750" dirty="0">
                <a:solidFill>
                  <a:srgbClr val="272525"/>
                </a:solidFill>
                <a:latin typeface="Source Sans 3"/>
                <a:ea typeface="Source Sans 3"/>
                <a:cs typeface="Source Sans 3"/>
                <a:sym typeface="Source Sans 3"/>
              </a:rPr>
              <a:t>Absence of automated online learning requires periodic manual retraining to adapt to evolving fraud patterns</a:t>
            </a:r>
          </a:p>
        </p:txBody>
      </p:sp>
      <p:grpSp>
        <p:nvGrpSpPr>
          <p:cNvPr id="12" name="Group 12"/>
          <p:cNvGrpSpPr/>
          <p:nvPr/>
        </p:nvGrpSpPr>
        <p:grpSpPr>
          <a:xfrm>
            <a:off x="710803" y="2681878"/>
            <a:ext cx="57741" cy="57741"/>
            <a:chOff x="0" y="0"/>
            <a:chExt cx="76987" cy="76987"/>
          </a:xfrm>
        </p:grpSpPr>
        <p:sp>
          <p:nvSpPr>
            <p:cNvPr id="13" name="Freeform 13"/>
            <p:cNvSpPr/>
            <p:nvPr/>
          </p:nvSpPr>
          <p:spPr>
            <a:xfrm>
              <a:off x="0" y="0"/>
              <a:ext cx="76962" cy="76962"/>
            </a:xfrm>
            <a:custGeom>
              <a:avLst/>
              <a:gdLst/>
              <a:ahLst/>
              <a:cxnLst/>
              <a:rect l="l" t="t" r="r" b="b"/>
              <a:pathLst>
                <a:path w="76962" h="76962">
                  <a:moveTo>
                    <a:pt x="0" y="38481"/>
                  </a:moveTo>
                  <a:cubicBezTo>
                    <a:pt x="0" y="17272"/>
                    <a:pt x="17272" y="0"/>
                    <a:pt x="38481" y="0"/>
                  </a:cubicBezTo>
                  <a:cubicBezTo>
                    <a:pt x="59690" y="0"/>
                    <a:pt x="76962" y="17272"/>
                    <a:pt x="76962" y="38481"/>
                  </a:cubicBezTo>
                  <a:cubicBezTo>
                    <a:pt x="76962" y="59690"/>
                    <a:pt x="59817" y="76962"/>
                    <a:pt x="38481" y="76962"/>
                  </a:cubicBezTo>
                  <a:cubicBezTo>
                    <a:pt x="17145" y="76962"/>
                    <a:pt x="0" y="59817"/>
                    <a:pt x="0" y="38481"/>
                  </a:cubicBezTo>
                  <a:close/>
                </a:path>
              </a:pathLst>
            </a:custGeom>
            <a:solidFill>
              <a:srgbClr val="BE49DF"/>
            </a:solidFill>
            <a:ln w="12700">
              <a:solidFill>
                <a:srgbClr val="000000"/>
              </a:solidFill>
            </a:ln>
          </p:spPr>
        </p:sp>
      </p:grpSp>
      <p:sp>
        <p:nvSpPr>
          <p:cNvPr id="14" name="TextBox 14"/>
          <p:cNvSpPr txBox="1"/>
          <p:nvPr/>
        </p:nvSpPr>
        <p:spPr>
          <a:xfrm>
            <a:off x="884033" y="2706290"/>
            <a:ext cx="2329597" cy="182742"/>
          </a:xfrm>
          <a:prstGeom prst="rect">
            <a:avLst/>
          </a:prstGeom>
        </p:spPr>
        <p:txBody>
          <a:bodyPr wrap="square" lIns="0" tIns="0" rIns="0" bIns="0" rtlCol="0" anchor="t">
            <a:spAutoFit/>
          </a:bodyPr>
          <a:lstStyle/>
          <a:p>
            <a:pPr algn="l">
              <a:lnSpc>
                <a:spcPts val="1249"/>
              </a:lnSpc>
            </a:pPr>
            <a:r>
              <a:rPr lang="en-US" sz="1750" b="1" dirty="0">
                <a:solidFill>
                  <a:srgbClr val="272525"/>
                </a:solidFill>
                <a:latin typeface="Source Serif Pro Bold"/>
                <a:ea typeface="Source Serif Pro Bold"/>
                <a:cs typeface="Source Serif Pro Bold"/>
                <a:sym typeface="Source Serif Pro Bold"/>
              </a:rPr>
              <a:t>CBS Integration Gap</a:t>
            </a:r>
          </a:p>
        </p:txBody>
      </p:sp>
      <p:sp>
        <p:nvSpPr>
          <p:cNvPr id="15" name="TextBox 15"/>
          <p:cNvSpPr txBox="1"/>
          <p:nvPr/>
        </p:nvSpPr>
        <p:spPr>
          <a:xfrm>
            <a:off x="884034" y="2959303"/>
            <a:ext cx="8119167" cy="127549"/>
          </a:xfrm>
          <a:prstGeom prst="rect">
            <a:avLst/>
          </a:prstGeom>
        </p:spPr>
        <p:txBody>
          <a:bodyPr lIns="0" tIns="0" rIns="0" bIns="0" rtlCol="0" anchor="t">
            <a:spAutoFit/>
          </a:bodyPr>
          <a:lstStyle/>
          <a:p>
            <a:pPr algn="l">
              <a:lnSpc>
                <a:spcPts val="1437"/>
              </a:lnSpc>
            </a:pPr>
            <a:r>
              <a:rPr lang="en-US" sz="1750">
                <a:solidFill>
                  <a:srgbClr val="272525"/>
                </a:solidFill>
                <a:latin typeface="Source Sans 3"/>
                <a:ea typeface="Source Sans 3"/>
                <a:cs typeface="Source Sans 3"/>
                <a:sym typeface="Source Sans 3"/>
              </a:rPr>
              <a:t>Currently operates as standalone system without real-time integration to live Core Banking Systems</a:t>
            </a:r>
          </a:p>
        </p:txBody>
      </p:sp>
      <p:grpSp>
        <p:nvGrpSpPr>
          <p:cNvPr id="16" name="Group 16"/>
          <p:cNvGrpSpPr/>
          <p:nvPr/>
        </p:nvGrpSpPr>
        <p:grpSpPr>
          <a:xfrm>
            <a:off x="710803" y="3379146"/>
            <a:ext cx="57741" cy="57741"/>
            <a:chOff x="0" y="0"/>
            <a:chExt cx="76987" cy="76987"/>
          </a:xfrm>
        </p:grpSpPr>
        <p:sp>
          <p:nvSpPr>
            <p:cNvPr id="17" name="Freeform 17"/>
            <p:cNvSpPr/>
            <p:nvPr/>
          </p:nvSpPr>
          <p:spPr>
            <a:xfrm>
              <a:off x="0" y="0"/>
              <a:ext cx="76962" cy="76962"/>
            </a:xfrm>
            <a:custGeom>
              <a:avLst/>
              <a:gdLst/>
              <a:ahLst/>
              <a:cxnLst/>
              <a:rect l="l" t="t" r="r" b="b"/>
              <a:pathLst>
                <a:path w="76962" h="76962">
                  <a:moveTo>
                    <a:pt x="0" y="38481"/>
                  </a:moveTo>
                  <a:cubicBezTo>
                    <a:pt x="0" y="17272"/>
                    <a:pt x="17272" y="0"/>
                    <a:pt x="38481" y="0"/>
                  </a:cubicBezTo>
                  <a:cubicBezTo>
                    <a:pt x="59690" y="0"/>
                    <a:pt x="76962" y="17272"/>
                    <a:pt x="76962" y="38481"/>
                  </a:cubicBezTo>
                  <a:cubicBezTo>
                    <a:pt x="76962" y="59690"/>
                    <a:pt x="59817" y="76962"/>
                    <a:pt x="38481" y="76962"/>
                  </a:cubicBezTo>
                  <a:cubicBezTo>
                    <a:pt x="17145" y="76962"/>
                    <a:pt x="0" y="59817"/>
                    <a:pt x="0" y="38481"/>
                  </a:cubicBezTo>
                  <a:close/>
                </a:path>
              </a:pathLst>
            </a:custGeom>
            <a:solidFill>
              <a:srgbClr val="BE49DF"/>
            </a:solidFill>
            <a:ln w="12700">
              <a:solidFill>
                <a:srgbClr val="000000"/>
              </a:solidFill>
            </a:ln>
          </p:spPr>
        </p:sp>
      </p:grpSp>
      <p:sp>
        <p:nvSpPr>
          <p:cNvPr id="18" name="TextBox 18"/>
          <p:cNvSpPr txBox="1"/>
          <p:nvPr/>
        </p:nvSpPr>
        <p:spPr>
          <a:xfrm>
            <a:off x="870588" y="3557255"/>
            <a:ext cx="2621166" cy="182742"/>
          </a:xfrm>
          <a:prstGeom prst="rect">
            <a:avLst/>
          </a:prstGeom>
        </p:spPr>
        <p:txBody>
          <a:bodyPr wrap="square" lIns="0" tIns="0" rIns="0" bIns="0" rtlCol="0" anchor="t">
            <a:spAutoFit/>
          </a:bodyPr>
          <a:lstStyle/>
          <a:p>
            <a:pPr algn="l">
              <a:lnSpc>
                <a:spcPts val="1249"/>
              </a:lnSpc>
            </a:pPr>
            <a:r>
              <a:rPr lang="en-US" sz="1750" b="1" dirty="0">
                <a:solidFill>
                  <a:srgbClr val="272525"/>
                </a:solidFill>
                <a:latin typeface="Source Serif Pro Bold"/>
                <a:ea typeface="Source Serif Pro Bold"/>
                <a:cs typeface="Source Serif Pro Bold"/>
                <a:sym typeface="Source Serif Pro Bold"/>
              </a:rPr>
              <a:t>Scalability Constraints</a:t>
            </a:r>
          </a:p>
        </p:txBody>
      </p:sp>
      <p:sp>
        <p:nvSpPr>
          <p:cNvPr id="19" name="TextBox 19"/>
          <p:cNvSpPr txBox="1"/>
          <p:nvPr/>
        </p:nvSpPr>
        <p:spPr>
          <a:xfrm>
            <a:off x="858543" y="3792926"/>
            <a:ext cx="8119167" cy="127549"/>
          </a:xfrm>
          <a:prstGeom prst="rect">
            <a:avLst/>
          </a:prstGeom>
        </p:spPr>
        <p:txBody>
          <a:bodyPr lIns="0" tIns="0" rIns="0" bIns="0" rtlCol="0" anchor="t">
            <a:spAutoFit/>
          </a:bodyPr>
          <a:lstStyle/>
          <a:p>
            <a:pPr algn="l">
              <a:lnSpc>
                <a:spcPts val="1437"/>
              </a:lnSpc>
            </a:pPr>
            <a:r>
              <a:rPr lang="en-US" sz="1750" dirty="0" err="1">
                <a:solidFill>
                  <a:srgbClr val="272525"/>
                </a:solidFill>
                <a:latin typeface="Source Sans 3"/>
                <a:ea typeface="Source Sans 3"/>
                <a:cs typeface="Source Sans 3"/>
                <a:sym typeface="Source Sans 3"/>
              </a:rPr>
              <a:t>Streamlit</a:t>
            </a:r>
            <a:r>
              <a:rPr lang="en-US" sz="1750" dirty="0">
                <a:solidFill>
                  <a:srgbClr val="272525"/>
                </a:solidFill>
                <a:latin typeface="Source Sans 3"/>
                <a:ea typeface="Source Sans 3"/>
                <a:cs typeface="Source Sans 3"/>
                <a:sym typeface="Source Sans 3"/>
              </a:rPr>
              <a:t> framework imposes limitations on concurrent user capacity and enterprise-scale deployment</a:t>
            </a:r>
          </a:p>
        </p:txBody>
      </p:sp>
      <p:grpSp>
        <p:nvGrpSpPr>
          <p:cNvPr id="20" name="Group 20"/>
          <p:cNvGrpSpPr/>
          <p:nvPr/>
        </p:nvGrpSpPr>
        <p:grpSpPr>
          <a:xfrm>
            <a:off x="710803" y="4257803"/>
            <a:ext cx="57741" cy="57741"/>
            <a:chOff x="0" y="0"/>
            <a:chExt cx="76987" cy="76987"/>
          </a:xfrm>
        </p:grpSpPr>
        <p:sp>
          <p:nvSpPr>
            <p:cNvPr id="21" name="Freeform 21"/>
            <p:cNvSpPr/>
            <p:nvPr/>
          </p:nvSpPr>
          <p:spPr>
            <a:xfrm>
              <a:off x="0" y="0"/>
              <a:ext cx="76962" cy="76962"/>
            </a:xfrm>
            <a:custGeom>
              <a:avLst/>
              <a:gdLst/>
              <a:ahLst/>
              <a:cxnLst/>
              <a:rect l="l" t="t" r="r" b="b"/>
              <a:pathLst>
                <a:path w="76962" h="76962">
                  <a:moveTo>
                    <a:pt x="0" y="38481"/>
                  </a:moveTo>
                  <a:cubicBezTo>
                    <a:pt x="0" y="17272"/>
                    <a:pt x="17272" y="0"/>
                    <a:pt x="38481" y="0"/>
                  </a:cubicBezTo>
                  <a:cubicBezTo>
                    <a:pt x="59690" y="0"/>
                    <a:pt x="76962" y="17272"/>
                    <a:pt x="76962" y="38481"/>
                  </a:cubicBezTo>
                  <a:cubicBezTo>
                    <a:pt x="76962" y="59690"/>
                    <a:pt x="59817" y="76962"/>
                    <a:pt x="38481" y="76962"/>
                  </a:cubicBezTo>
                  <a:cubicBezTo>
                    <a:pt x="17145" y="76962"/>
                    <a:pt x="0" y="59817"/>
                    <a:pt x="0" y="38481"/>
                  </a:cubicBezTo>
                  <a:close/>
                </a:path>
              </a:pathLst>
            </a:custGeom>
            <a:solidFill>
              <a:srgbClr val="BE49DF"/>
            </a:solidFill>
            <a:ln w="12700">
              <a:solidFill>
                <a:srgbClr val="000000"/>
              </a:solidFill>
            </a:ln>
          </p:spPr>
        </p:sp>
      </p:grpSp>
      <p:sp>
        <p:nvSpPr>
          <p:cNvPr id="22" name="TextBox 22"/>
          <p:cNvSpPr txBox="1"/>
          <p:nvPr/>
        </p:nvSpPr>
        <p:spPr>
          <a:xfrm>
            <a:off x="849806" y="4254634"/>
            <a:ext cx="3199962" cy="182742"/>
          </a:xfrm>
          <a:prstGeom prst="rect">
            <a:avLst/>
          </a:prstGeom>
        </p:spPr>
        <p:txBody>
          <a:bodyPr wrap="square" lIns="0" tIns="0" rIns="0" bIns="0" rtlCol="0" anchor="t">
            <a:spAutoFit/>
          </a:bodyPr>
          <a:lstStyle/>
          <a:p>
            <a:pPr algn="l">
              <a:lnSpc>
                <a:spcPts val="1249"/>
              </a:lnSpc>
            </a:pPr>
            <a:r>
              <a:rPr lang="en-US" sz="1750" b="1" dirty="0">
                <a:solidFill>
                  <a:srgbClr val="272525"/>
                </a:solidFill>
                <a:latin typeface="Source Serif Pro Bold"/>
                <a:ea typeface="Source Serif Pro Bold"/>
                <a:cs typeface="Source Serif Pro Bold"/>
                <a:sym typeface="Source Serif Pro Bold"/>
              </a:rPr>
              <a:t>Single-Factor Authentication</a:t>
            </a:r>
          </a:p>
        </p:txBody>
      </p:sp>
      <p:sp>
        <p:nvSpPr>
          <p:cNvPr id="23" name="TextBox 23"/>
          <p:cNvSpPr txBox="1"/>
          <p:nvPr/>
        </p:nvSpPr>
        <p:spPr>
          <a:xfrm>
            <a:off x="824494" y="4602980"/>
            <a:ext cx="8119167" cy="127549"/>
          </a:xfrm>
          <a:prstGeom prst="rect">
            <a:avLst/>
          </a:prstGeom>
        </p:spPr>
        <p:txBody>
          <a:bodyPr lIns="0" tIns="0" rIns="0" bIns="0" rtlCol="0" anchor="t">
            <a:spAutoFit/>
          </a:bodyPr>
          <a:lstStyle/>
          <a:p>
            <a:pPr algn="l">
              <a:lnSpc>
                <a:spcPts val="1437"/>
              </a:lnSpc>
            </a:pPr>
            <a:r>
              <a:rPr lang="en-US" sz="1750" dirty="0">
                <a:solidFill>
                  <a:srgbClr val="272525"/>
                </a:solidFill>
                <a:latin typeface="Source Sans 3"/>
                <a:ea typeface="Source Sans 3"/>
                <a:cs typeface="Source Sans 3"/>
                <a:sym typeface="Source Sans 3"/>
              </a:rPr>
              <a:t>Basic authentication mechanism lacks multi-factor security protocols for high-security environments</a:t>
            </a:r>
          </a:p>
        </p:txBody>
      </p:sp>
      <p:sp>
        <p:nvSpPr>
          <p:cNvPr id="24" name="Freeform 24" descr="preencoded.png"/>
          <p:cNvSpPr/>
          <p:nvPr/>
        </p:nvSpPr>
        <p:spPr>
          <a:xfrm>
            <a:off x="12532814" y="551450"/>
            <a:ext cx="4448899" cy="4448899"/>
          </a:xfrm>
          <a:custGeom>
            <a:avLst/>
            <a:gdLst/>
            <a:ahLst/>
            <a:cxnLst/>
            <a:rect l="l" t="t" r="r" b="b"/>
            <a:pathLst>
              <a:path w="4448899" h="4448899">
                <a:moveTo>
                  <a:pt x="0" y="0"/>
                </a:moveTo>
                <a:lnTo>
                  <a:pt x="4448899" y="0"/>
                </a:lnTo>
                <a:lnTo>
                  <a:pt x="4448899" y="4448899"/>
                </a:lnTo>
                <a:lnTo>
                  <a:pt x="0" y="4448899"/>
                </a:lnTo>
                <a:lnTo>
                  <a:pt x="0" y="0"/>
                </a:lnTo>
                <a:close/>
              </a:path>
            </a:pathLst>
          </a:custGeom>
          <a:blipFill>
            <a:blip r:embed="rId4"/>
            <a:stretch>
              <a:fillRect/>
            </a:stretch>
          </a:blipFill>
        </p:spPr>
      </p:sp>
      <p:sp>
        <p:nvSpPr>
          <p:cNvPr id="25" name="TextBox 25"/>
          <p:cNvSpPr txBox="1"/>
          <p:nvPr/>
        </p:nvSpPr>
        <p:spPr>
          <a:xfrm>
            <a:off x="824494" y="4997872"/>
            <a:ext cx="2389137" cy="141980"/>
          </a:xfrm>
          <a:prstGeom prst="rect">
            <a:avLst/>
          </a:prstGeom>
        </p:spPr>
        <p:txBody>
          <a:bodyPr lIns="0" tIns="0" rIns="0" bIns="0" rtlCol="0" anchor="t">
            <a:spAutoFit/>
          </a:bodyPr>
          <a:lstStyle/>
          <a:p>
            <a:pPr algn="l">
              <a:lnSpc>
                <a:spcPts val="1562"/>
              </a:lnSpc>
            </a:pPr>
            <a:r>
              <a:rPr lang="en-US" sz="1750" b="1">
                <a:solidFill>
                  <a:srgbClr val="000000"/>
                </a:solidFill>
                <a:latin typeface="Source Serif Pro Bold"/>
                <a:ea typeface="Source Serif Pro Bold"/>
                <a:cs typeface="Source Serif Pro Bold"/>
                <a:sym typeface="Source Serif Pro Bold"/>
              </a:rPr>
              <a:t>Future Enhancement Roadmap</a:t>
            </a:r>
          </a:p>
        </p:txBody>
      </p:sp>
      <p:grpSp>
        <p:nvGrpSpPr>
          <p:cNvPr id="26" name="Group 26"/>
          <p:cNvGrpSpPr/>
          <p:nvPr/>
        </p:nvGrpSpPr>
        <p:grpSpPr>
          <a:xfrm>
            <a:off x="888806" y="6779333"/>
            <a:ext cx="16866394" cy="19050"/>
            <a:chOff x="0" y="0"/>
            <a:chExt cx="22488525" cy="25400"/>
          </a:xfrm>
        </p:grpSpPr>
        <p:sp>
          <p:nvSpPr>
            <p:cNvPr id="27" name="Freeform 27"/>
            <p:cNvSpPr/>
            <p:nvPr/>
          </p:nvSpPr>
          <p:spPr>
            <a:xfrm>
              <a:off x="0" y="0"/>
              <a:ext cx="22488525" cy="25400"/>
            </a:xfrm>
            <a:custGeom>
              <a:avLst/>
              <a:gdLst/>
              <a:ahLst/>
              <a:cxnLst/>
              <a:rect l="l" t="t" r="r" b="b"/>
              <a:pathLst>
                <a:path w="22488525" h="25400">
                  <a:moveTo>
                    <a:pt x="0" y="12700"/>
                  </a:moveTo>
                  <a:cubicBezTo>
                    <a:pt x="0" y="5715"/>
                    <a:pt x="5715" y="0"/>
                    <a:pt x="12700" y="0"/>
                  </a:cubicBezTo>
                  <a:lnTo>
                    <a:pt x="22475825" y="0"/>
                  </a:lnTo>
                  <a:cubicBezTo>
                    <a:pt x="22482811" y="0"/>
                    <a:pt x="22488525" y="5715"/>
                    <a:pt x="22488525" y="12700"/>
                  </a:cubicBezTo>
                  <a:cubicBezTo>
                    <a:pt x="22488525" y="19685"/>
                    <a:pt x="22482811" y="25400"/>
                    <a:pt x="22475825" y="25400"/>
                  </a:cubicBezTo>
                  <a:lnTo>
                    <a:pt x="12700" y="25400"/>
                  </a:lnTo>
                  <a:cubicBezTo>
                    <a:pt x="5715" y="25400"/>
                    <a:pt x="0" y="19685"/>
                    <a:pt x="0" y="12700"/>
                  </a:cubicBezTo>
                  <a:close/>
                </a:path>
              </a:pathLst>
            </a:custGeom>
            <a:solidFill>
              <a:srgbClr val="D6BADD"/>
            </a:solidFill>
            <a:ln w="12700">
              <a:solidFill>
                <a:srgbClr val="000000"/>
              </a:solidFill>
            </a:ln>
          </p:spPr>
        </p:sp>
      </p:grpSp>
      <p:grpSp>
        <p:nvGrpSpPr>
          <p:cNvPr id="28" name="Group 28"/>
          <p:cNvGrpSpPr/>
          <p:nvPr/>
        </p:nvGrpSpPr>
        <p:grpSpPr>
          <a:xfrm>
            <a:off x="4209155" y="6432861"/>
            <a:ext cx="19050" cy="346472"/>
            <a:chOff x="0" y="0"/>
            <a:chExt cx="25400" cy="461962"/>
          </a:xfrm>
        </p:grpSpPr>
        <p:sp>
          <p:nvSpPr>
            <p:cNvPr id="29" name="Freeform 29"/>
            <p:cNvSpPr/>
            <p:nvPr/>
          </p:nvSpPr>
          <p:spPr>
            <a:xfrm>
              <a:off x="0" y="0"/>
              <a:ext cx="25400" cy="462026"/>
            </a:xfrm>
            <a:custGeom>
              <a:avLst/>
              <a:gdLst/>
              <a:ahLst/>
              <a:cxnLst/>
              <a:rect l="l" t="t" r="r" b="b"/>
              <a:pathLst>
                <a:path w="25400" h="462026">
                  <a:moveTo>
                    <a:pt x="0" y="12700"/>
                  </a:moveTo>
                  <a:cubicBezTo>
                    <a:pt x="0" y="5715"/>
                    <a:pt x="5715" y="0"/>
                    <a:pt x="12700" y="0"/>
                  </a:cubicBezTo>
                  <a:cubicBezTo>
                    <a:pt x="19685" y="0"/>
                    <a:pt x="25400" y="5715"/>
                    <a:pt x="25400" y="12700"/>
                  </a:cubicBezTo>
                  <a:lnTo>
                    <a:pt x="25400" y="449326"/>
                  </a:lnTo>
                  <a:cubicBezTo>
                    <a:pt x="25400" y="456311"/>
                    <a:pt x="19685" y="462026"/>
                    <a:pt x="12700" y="462026"/>
                  </a:cubicBezTo>
                  <a:cubicBezTo>
                    <a:pt x="5715" y="462026"/>
                    <a:pt x="0" y="456311"/>
                    <a:pt x="0" y="449326"/>
                  </a:cubicBezTo>
                  <a:close/>
                </a:path>
              </a:pathLst>
            </a:custGeom>
            <a:solidFill>
              <a:srgbClr val="D6BADD"/>
            </a:solidFill>
            <a:ln w="12700">
              <a:solidFill>
                <a:srgbClr val="000000"/>
              </a:solidFill>
            </a:ln>
          </p:spPr>
        </p:sp>
      </p:grpSp>
      <p:grpSp>
        <p:nvGrpSpPr>
          <p:cNvPr id="30" name="Group 30"/>
          <p:cNvGrpSpPr/>
          <p:nvPr/>
        </p:nvGrpSpPr>
        <p:grpSpPr>
          <a:xfrm>
            <a:off x="4083996" y="6644650"/>
            <a:ext cx="269377" cy="269377"/>
            <a:chOff x="0" y="0"/>
            <a:chExt cx="359169" cy="359169"/>
          </a:xfrm>
        </p:grpSpPr>
        <p:sp>
          <p:nvSpPr>
            <p:cNvPr id="31" name="Freeform 31"/>
            <p:cNvSpPr/>
            <p:nvPr/>
          </p:nvSpPr>
          <p:spPr>
            <a:xfrm>
              <a:off x="6350" y="6350"/>
              <a:ext cx="346456" cy="346456"/>
            </a:xfrm>
            <a:custGeom>
              <a:avLst/>
              <a:gdLst/>
              <a:ahLst/>
              <a:cxnLst/>
              <a:rect l="l" t="t" r="r" b="b"/>
              <a:pathLst>
                <a:path w="346456" h="346456">
                  <a:moveTo>
                    <a:pt x="0" y="64643"/>
                  </a:moveTo>
                  <a:cubicBezTo>
                    <a:pt x="0" y="28956"/>
                    <a:pt x="28956" y="0"/>
                    <a:pt x="64643" y="0"/>
                  </a:cubicBezTo>
                  <a:lnTo>
                    <a:pt x="281813" y="0"/>
                  </a:lnTo>
                  <a:cubicBezTo>
                    <a:pt x="317500" y="0"/>
                    <a:pt x="346456" y="28956"/>
                    <a:pt x="346456" y="64643"/>
                  </a:cubicBezTo>
                  <a:lnTo>
                    <a:pt x="346456" y="281813"/>
                  </a:lnTo>
                  <a:cubicBezTo>
                    <a:pt x="346456" y="317500"/>
                    <a:pt x="317500" y="346456"/>
                    <a:pt x="281813" y="346456"/>
                  </a:cubicBezTo>
                  <a:lnTo>
                    <a:pt x="64643" y="346456"/>
                  </a:lnTo>
                  <a:cubicBezTo>
                    <a:pt x="28956" y="346456"/>
                    <a:pt x="0" y="317500"/>
                    <a:pt x="0" y="281813"/>
                  </a:cubicBezTo>
                  <a:close/>
                </a:path>
              </a:pathLst>
            </a:custGeom>
            <a:solidFill>
              <a:srgbClr val="F0D4F7"/>
            </a:solidFill>
            <a:ln w="12700">
              <a:solidFill>
                <a:srgbClr val="000000"/>
              </a:solidFill>
            </a:ln>
          </p:spPr>
        </p:sp>
        <p:sp>
          <p:nvSpPr>
            <p:cNvPr id="32" name="Freeform 32"/>
            <p:cNvSpPr/>
            <p:nvPr/>
          </p:nvSpPr>
          <p:spPr>
            <a:xfrm>
              <a:off x="0" y="0"/>
              <a:ext cx="359156" cy="359156"/>
            </a:xfrm>
            <a:custGeom>
              <a:avLst/>
              <a:gdLst/>
              <a:ahLst/>
              <a:cxnLst/>
              <a:rect l="l" t="t" r="r" b="b"/>
              <a:pathLst>
                <a:path w="359156" h="359156">
                  <a:moveTo>
                    <a:pt x="0" y="70993"/>
                  </a:moveTo>
                  <a:cubicBezTo>
                    <a:pt x="0" y="31750"/>
                    <a:pt x="31750" y="0"/>
                    <a:pt x="70993" y="0"/>
                  </a:cubicBezTo>
                  <a:lnTo>
                    <a:pt x="288163" y="0"/>
                  </a:lnTo>
                  <a:lnTo>
                    <a:pt x="288163" y="6350"/>
                  </a:lnTo>
                  <a:lnTo>
                    <a:pt x="288163" y="0"/>
                  </a:lnTo>
                  <a:cubicBezTo>
                    <a:pt x="327406" y="0"/>
                    <a:pt x="359156" y="31750"/>
                    <a:pt x="359156" y="70993"/>
                  </a:cubicBezTo>
                  <a:lnTo>
                    <a:pt x="352806" y="70993"/>
                  </a:lnTo>
                  <a:lnTo>
                    <a:pt x="359156" y="70993"/>
                  </a:lnTo>
                  <a:lnTo>
                    <a:pt x="359156" y="288163"/>
                  </a:lnTo>
                  <a:lnTo>
                    <a:pt x="352806" y="288163"/>
                  </a:lnTo>
                  <a:lnTo>
                    <a:pt x="359156" y="288163"/>
                  </a:lnTo>
                  <a:cubicBezTo>
                    <a:pt x="359156" y="327406"/>
                    <a:pt x="327406" y="359156"/>
                    <a:pt x="288163" y="359156"/>
                  </a:cubicBezTo>
                  <a:lnTo>
                    <a:pt x="288163" y="352806"/>
                  </a:lnTo>
                  <a:lnTo>
                    <a:pt x="288163" y="359156"/>
                  </a:lnTo>
                  <a:lnTo>
                    <a:pt x="70993" y="359156"/>
                  </a:lnTo>
                  <a:lnTo>
                    <a:pt x="70993" y="352806"/>
                  </a:lnTo>
                  <a:lnTo>
                    <a:pt x="70993" y="359156"/>
                  </a:lnTo>
                  <a:cubicBezTo>
                    <a:pt x="31750" y="359156"/>
                    <a:pt x="0" y="327406"/>
                    <a:pt x="0" y="288163"/>
                  </a:cubicBezTo>
                  <a:lnTo>
                    <a:pt x="0" y="70993"/>
                  </a:lnTo>
                  <a:lnTo>
                    <a:pt x="6350" y="70993"/>
                  </a:lnTo>
                  <a:lnTo>
                    <a:pt x="0" y="70993"/>
                  </a:lnTo>
                  <a:moveTo>
                    <a:pt x="12700" y="70993"/>
                  </a:moveTo>
                  <a:lnTo>
                    <a:pt x="12700" y="288163"/>
                  </a:lnTo>
                  <a:lnTo>
                    <a:pt x="6350" y="288163"/>
                  </a:lnTo>
                  <a:lnTo>
                    <a:pt x="12700" y="288163"/>
                  </a:lnTo>
                  <a:cubicBezTo>
                    <a:pt x="12700" y="320421"/>
                    <a:pt x="38862" y="346456"/>
                    <a:pt x="70993" y="346456"/>
                  </a:cubicBezTo>
                  <a:lnTo>
                    <a:pt x="288163" y="346456"/>
                  </a:lnTo>
                  <a:cubicBezTo>
                    <a:pt x="320421" y="346456"/>
                    <a:pt x="346456" y="320294"/>
                    <a:pt x="346456" y="288163"/>
                  </a:cubicBezTo>
                  <a:lnTo>
                    <a:pt x="346456" y="70993"/>
                  </a:lnTo>
                  <a:cubicBezTo>
                    <a:pt x="346456" y="38862"/>
                    <a:pt x="320294" y="12700"/>
                    <a:pt x="288163" y="12700"/>
                  </a:cubicBezTo>
                  <a:lnTo>
                    <a:pt x="70993" y="12700"/>
                  </a:lnTo>
                  <a:lnTo>
                    <a:pt x="70993" y="6350"/>
                  </a:lnTo>
                  <a:lnTo>
                    <a:pt x="70993" y="12700"/>
                  </a:lnTo>
                  <a:cubicBezTo>
                    <a:pt x="38862" y="12700"/>
                    <a:pt x="12700" y="38862"/>
                    <a:pt x="12700" y="70993"/>
                  </a:cubicBezTo>
                  <a:close/>
                </a:path>
              </a:pathLst>
            </a:custGeom>
            <a:solidFill>
              <a:srgbClr val="D6BADD"/>
            </a:solidFill>
            <a:ln w="12700">
              <a:solidFill>
                <a:srgbClr val="000000"/>
              </a:solidFill>
            </a:ln>
          </p:spPr>
        </p:sp>
      </p:grpSp>
      <p:sp>
        <p:nvSpPr>
          <p:cNvPr id="33" name="TextBox 33"/>
          <p:cNvSpPr txBox="1"/>
          <p:nvPr/>
        </p:nvSpPr>
        <p:spPr>
          <a:xfrm>
            <a:off x="4138984" y="6765493"/>
            <a:ext cx="159391" cy="113405"/>
          </a:xfrm>
          <a:prstGeom prst="rect">
            <a:avLst/>
          </a:prstGeom>
        </p:spPr>
        <p:txBody>
          <a:bodyPr lIns="0" tIns="0" rIns="0" bIns="0" rtlCol="0" anchor="t">
            <a:spAutoFit/>
          </a:bodyPr>
          <a:lstStyle/>
          <a:p>
            <a:pPr algn="ctr">
              <a:lnSpc>
                <a:spcPts val="1249"/>
              </a:lnSpc>
            </a:pPr>
            <a:r>
              <a:rPr lang="en-US" sz="1750" b="1">
                <a:solidFill>
                  <a:srgbClr val="272525"/>
                </a:solidFill>
                <a:latin typeface="Source Serif Pro Bold"/>
                <a:ea typeface="Source Serif Pro Bold"/>
                <a:cs typeface="Source Serif Pro Bold"/>
                <a:sym typeface="Source Serif Pro Bold"/>
              </a:rPr>
              <a:t>1</a:t>
            </a:r>
          </a:p>
        </p:txBody>
      </p:sp>
      <p:sp>
        <p:nvSpPr>
          <p:cNvPr id="34" name="TextBox 34"/>
          <p:cNvSpPr txBox="1"/>
          <p:nvPr/>
        </p:nvSpPr>
        <p:spPr>
          <a:xfrm>
            <a:off x="1004297" y="5648096"/>
            <a:ext cx="6428927" cy="211931"/>
          </a:xfrm>
          <a:prstGeom prst="rect">
            <a:avLst/>
          </a:prstGeom>
        </p:spPr>
        <p:txBody>
          <a:bodyPr lIns="0" tIns="0" rIns="0" bIns="0" rtlCol="0" anchor="t">
            <a:spAutoFit/>
          </a:bodyPr>
          <a:lstStyle/>
          <a:p>
            <a:pPr algn="ctr">
              <a:lnSpc>
                <a:spcPts val="1812"/>
              </a:lnSpc>
            </a:pPr>
            <a:r>
              <a:rPr lang="en-US" sz="1750">
                <a:solidFill>
                  <a:srgbClr val="272525"/>
                </a:solidFill>
                <a:latin typeface="Source Sans 3"/>
                <a:ea typeface="Source Sans 3"/>
                <a:cs typeface="Source Sans 3"/>
                <a:sym typeface="Source Sans 3"/>
              </a:rPr>
              <a:t>Q1 2026: Online Learning</a:t>
            </a:r>
          </a:p>
        </p:txBody>
      </p:sp>
      <p:sp>
        <p:nvSpPr>
          <p:cNvPr id="35" name="TextBox 35"/>
          <p:cNvSpPr txBox="1"/>
          <p:nvPr/>
        </p:nvSpPr>
        <p:spPr>
          <a:xfrm>
            <a:off x="1004297" y="5972575"/>
            <a:ext cx="6428927" cy="211931"/>
          </a:xfrm>
          <a:prstGeom prst="rect">
            <a:avLst/>
          </a:prstGeom>
        </p:spPr>
        <p:txBody>
          <a:bodyPr lIns="0" tIns="0" rIns="0" bIns="0" rtlCol="0" anchor="t">
            <a:spAutoFit/>
          </a:bodyPr>
          <a:lstStyle/>
          <a:p>
            <a:pPr algn="ctr">
              <a:lnSpc>
                <a:spcPts val="1812"/>
              </a:lnSpc>
            </a:pPr>
            <a:r>
              <a:rPr lang="en-US" sz="1750">
                <a:solidFill>
                  <a:srgbClr val="272525"/>
                </a:solidFill>
                <a:latin typeface="Source Sans 3"/>
                <a:ea typeface="Source Sans 3"/>
                <a:cs typeface="Source Sans 3"/>
                <a:sym typeface="Source Sans 3"/>
              </a:rPr>
              <a:t>Implement continuous model adaptation with </a:t>
            </a:r>
          </a:p>
          <a:p>
            <a:pPr algn="ctr">
              <a:lnSpc>
                <a:spcPts val="1812"/>
              </a:lnSpc>
            </a:pPr>
            <a:r>
              <a:rPr lang="en-US" sz="1750">
                <a:solidFill>
                  <a:srgbClr val="272525"/>
                </a:solidFill>
                <a:latin typeface="Source Sans 3"/>
                <a:ea typeface="Source Sans 3"/>
                <a:cs typeface="Source Sans 3"/>
                <a:sym typeface="Source Sans 3"/>
              </a:rPr>
              <a:t>automated retraining pipelines and concept drift detection</a:t>
            </a:r>
          </a:p>
        </p:txBody>
      </p:sp>
      <p:grpSp>
        <p:nvGrpSpPr>
          <p:cNvPr id="36" name="Group 36"/>
          <p:cNvGrpSpPr/>
          <p:nvPr/>
        </p:nvGrpSpPr>
        <p:grpSpPr>
          <a:xfrm>
            <a:off x="7611218" y="6779333"/>
            <a:ext cx="19050" cy="346472"/>
            <a:chOff x="0" y="0"/>
            <a:chExt cx="25400" cy="461962"/>
          </a:xfrm>
        </p:grpSpPr>
        <p:sp>
          <p:nvSpPr>
            <p:cNvPr id="37" name="Freeform 37"/>
            <p:cNvSpPr/>
            <p:nvPr/>
          </p:nvSpPr>
          <p:spPr>
            <a:xfrm>
              <a:off x="0" y="0"/>
              <a:ext cx="25400" cy="462026"/>
            </a:xfrm>
            <a:custGeom>
              <a:avLst/>
              <a:gdLst/>
              <a:ahLst/>
              <a:cxnLst/>
              <a:rect l="l" t="t" r="r" b="b"/>
              <a:pathLst>
                <a:path w="25400" h="462026">
                  <a:moveTo>
                    <a:pt x="0" y="12700"/>
                  </a:moveTo>
                  <a:cubicBezTo>
                    <a:pt x="0" y="5715"/>
                    <a:pt x="5715" y="0"/>
                    <a:pt x="12700" y="0"/>
                  </a:cubicBezTo>
                  <a:cubicBezTo>
                    <a:pt x="19685" y="0"/>
                    <a:pt x="25400" y="5715"/>
                    <a:pt x="25400" y="12700"/>
                  </a:cubicBezTo>
                  <a:lnTo>
                    <a:pt x="25400" y="449326"/>
                  </a:lnTo>
                  <a:cubicBezTo>
                    <a:pt x="25400" y="456311"/>
                    <a:pt x="19685" y="462026"/>
                    <a:pt x="12700" y="462026"/>
                  </a:cubicBezTo>
                  <a:cubicBezTo>
                    <a:pt x="5715" y="462026"/>
                    <a:pt x="0" y="456311"/>
                    <a:pt x="0" y="449326"/>
                  </a:cubicBezTo>
                  <a:close/>
                </a:path>
              </a:pathLst>
            </a:custGeom>
            <a:solidFill>
              <a:srgbClr val="D6BADD"/>
            </a:solidFill>
            <a:ln w="12700">
              <a:solidFill>
                <a:srgbClr val="000000"/>
              </a:solidFill>
            </a:ln>
          </p:spPr>
        </p:sp>
      </p:grpSp>
      <p:grpSp>
        <p:nvGrpSpPr>
          <p:cNvPr id="38" name="Group 38"/>
          <p:cNvGrpSpPr/>
          <p:nvPr/>
        </p:nvGrpSpPr>
        <p:grpSpPr>
          <a:xfrm>
            <a:off x="7486059" y="6644650"/>
            <a:ext cx="269377" cy="269377"/>
            <a:chOff x="0" y="0"/>
            <a:chExt cx="359169" cy="359169"/>
          </a:xfrm>
        </p:grpSpPr>
        <p:sp>
          <p:nvSpPr>
            <p:cNvPr id="39" name="Freeform 39"/>
            <p:cNvSpPr/>
            <p:nvPr/>
          </p:nvSpPr>
          <p:spPr>
            <a:xfrm>
              <a:off x="6350" y="6350"/>
              <a:ext cx="346456" cy="346456"/>
            </a:xfrm>
            <a:custGeom>
              <a:avLst/>
              <a:gdLst/>
              <a:ahLst/>
              <a:cxnLst/>
              <a:rect l="l" t="t" r="r" b="b"/>
              <a:pathLst>
                <a:path w="346456" h="346456">
                  <a:moveTo>
                    <a:pt x="0" y="64643"/>
                  </a:moveTo>
                  <a:cubicBezTo>
                    <a:pt x="0" y="28956"/>
                    <a:pt x="28956" y="0"/>
                    <a:pt x="64643" y="0"/>
                  </a:cubicBezTo>
                  <a:lnTo>
                    <a:pt x="281813" y="0"/>
                  </a:lnTo>
                  <a:cubicBezTo>
                    <a:pt x="317500" y="0"/>
                    <a:pt x="346456" y="28956"/>
                    <a:pt x="346456" y="64643"/>
                  </a:cubicBezTo>
                  <a:lnTo>
                    <a:pt x="346456" y="281813"/>
                  </a:lnTo>
                  <a:cubicBezTo>
                    <a:pt x="346456" y="317500"/>
                    <a:pt x="317500" y="346456"/>
                    <a:pt x="281813" y="346456"/>
                  </a:cubicBezTo>
                  <a:lnTo>
                    <a:pt x="64643" y="346456"/>
                  </a:lnTo>
                  <a:cubicBezTo>
                    <a:pt x="28956" y="346456"/>
                    <a:pt x="0" y="317500"/>
                    <a:pt x="0" y="281813"/>
                  </a:cubicBezTo>
                  <a:close/>
                </a:path>
              </a:pathLst>
            </a:custGeom>
            <a:solidFill>
              <a:srgbClr val="F0D4F7"/>
            </a:solidFill>
            <a:ln w="12700">
              <a:solidFill>
                <a:srgbClr val="000000"/>
              </a:solidFill>
            </a:ln>
          </p:spPr>
        </p:sp>
        <p:sp>
          <p:nvSpPr>
            <p:cNvPr id="40" name="Freeform 40"/>
            <p:cNvSpPr/>
            <p:nvPr/>
          </p:nvSpPr>
          <p:spPr>
            <a:xfrm>
              <a:off x="0" y="0"/>
              <a:ext cx="359156" cy="359156"/>
            </a:xfrm>
            <a:custGeom>
              <a:avLst/>
              <a:gdLst/>
              <a:ahLst/>
              <a:cxnLst/>
              <a:rect l="l" t="t" r="r" b="b"/>
              <a:pathLst>
                <a:path w="359156" h="359156">
                  <a:moveTo>
                    <a:pt x="0" y="70993"/>
                  </a:moveTo>
                  <a:cubicBezTo>
                    <a:pt x="0" y="31750"/>
                    <a:pt x="31750" y="0"/>
                    <a:pt x="70993" y="0"/>
                  </a:cubicBezTo>
                  <a:lnTo>
                    <a:pt x="288163" y="0"/>
                  </a:lnTo>
                  <a:lnTo>
                    <a:pt x="288163" y="6350"/>
                  </a:lnTo>
                  <a:lnTo>
                    <a:pt x="288163" y="0"/>
                  </a:lnTo>
                  <a:cubicBezTo>
                    <a:pt x="327406" y="0"/>
                    <a:pt x="359156" y="31750"/>
                    <a:pt x="359156" y="70993"/>
                  </a:cubicBezTo>
                  <a:lnTo>
                    <a:pt x="352806" y="70993"/>
                  </a:lnTo>
                  <a:lnTo>
                    <a:pt x="359156" y="70993"/>
                  </a:lnTo>
                  <a:lnTo>
                    <a:pt x="359156" y="288163"/>
                  </a:lnTo>
                  <a:lnTo>
                    <a:pt x="352806" y="288163"/>
                  </a:lnTo>
                  <a:lnTo>
                    <a:pt x="359156" y="288163"/>
                  </a:lnTo>
                  <a:cubicBezTo>
                    <a:pt x="359156" y="327406"/>
                    <a:pt x="327406" y="359156"/>
                    <a:pt x="288163" y="359156"/>
                  </a:cubicBezTo>
                  <a:lnTo>
                    <a:pt x="288163" y="352806"/>
                  </a:lnTo>
                  <a:lnTo>
                    <a:pt x="288163" y="359156"/>
                  </a:lnTo>
                  <a:lnTo>
                    <a:pt x="70993" y="359156"/>
                  </a:lnTo>
                  <a:lnTo>
                    <a:pt x="70993" y="352806"/>
                  </a:lnTo>
                  <a:lnTo>
                    <a:pt x="70993" y="359156"/>
                  </a:lnTo>
                  <a:cubicBezTo>
                    <a:pt x="31750" y="359156"/>
                    <a:pt x="0" y="327406"/>
                    <a:pt x="0" y="288163"/>
                  </a:cubicBezTo>
                  <a:lnTo>
                    <a:pt x="0" y="70993"/>
                  </a:lnTo>
                  <a:lnTo>
                    <a:pt x="6350" y="70993"/>
                  </a:lnTo>
                  <a:lnTo>
                    <a:pt x="0" y="70993"/>
                  </a:lnTo>
                  <a:moveTo>
                    <a:pt x="12700" y="70993"/>
                  </a:moveTo>
                  <a:lnTo>
                    <a:pt x="12700" y="288163"/>
                  </a:lnTo>
                  <a:lnTo>
                    <a:pt x="6350" y="288163"/>
                  </a:lnTo>
                  <a:lnTo>
                    <a:pt x="12700" y="288163"/>
                  </a:lnTo>
                  <a:cubicBezTo>
                    <a:pt x="12700" y="320421"/>
                    <a:pt x="38862" y="346456"/>
                    <a:pt x="70993" y="346456"/>
                  </a:cubicBezTo>
                  <a:lnTo>
                    <a:pt x="288163" y="346456"/>
                  </a:lnTo>
                  <a:cubicBezTo>
                    <a:pt x="320421" y="346456"/>
                    <a:pt x="346456" y="320294"/>
                    <a:pt x="346456" y="288163"/>
                  </a:cubicBezTo>
                  <a:lnTo>
                    <a:pt x="346456" y="70993"/>
                  </a:lnTo>
                  <a:cubicBezTo>
                    <a:pt x="346456" y="38862"/>
                    <a:pt x="320294" y="12700"/>
                    <a:pt x="288163" y="12700"/>
                  </a:cubicBezTo>
                  <a:lnTo>
                    <a:pt x="70993" y="12700"/>
                  </a:lnTo>
                  <a:lnTo>
                    <a:pt x="70993" y="6350"/>
                  </a:lnTo>
                  <a:lnTo>
                    <a:pt x="70993" y="12700"/>
                  </a:lnTo>
                  <a:cubicBezTo>
                    <a:pt x="38862" y="12700"/>
                    <a:pt x="12700" y="38862"/>
                    <a:pt x="12700" y="70993"/>
                  </a:cubicBezTo>
                  <a:close/>
                </a:path>
              </a:pathLst>
            </a:custGeom>
            <a:solidFill>
              <a:srgbClr val="D6BADD"/>
            </a:solidFill>
            <a:ln w="12700">
              <a:solidFill>
                <a:srgbClr val="000000"/>
              </a:solidFill>
            </a:ln>
          </p:spPr>
        </p:sp>
      </p:grpSp>
      <p:sp>
        <p:nvSpPr>
          <p:cNvPr id="41" name="TextBox 41"/>
          <p:cNvSpPr txBox="1"/>
          <p:nvPr/>
        </p:nvSpPr>
        <p:spPr>
          <a:xfrm>
            <a:off x="7541047" y="6765493"/>
            <a:ext cx="159391" cy="113405"/>
          </a:xfrm>
          <a:prstGeom prst="rect">
            <a:avLst/>
          </a:prstGeom>
        </p:spPr>
        <p:txBody>
          <a:bodyPr lIns="0" tIns="0" rIns="0" bIns="0" rtlCol="0" anchor="t">
            <a:spAutoFit/>
          </a:bodyPr>
          <a:lstStyle/>
          <a:p>
            <a:pPr algn="ctr">
              <a:lnSpc>
                <a:spcPts val="1249"/>
              </a:lnSpc>
            </a:pPr>
            <a:r>
              <a:rPr lang="en-US" sz="1750" b="1">
                <a:solidFill>
                  <a:srgbClr val="272525"/>
                </a:solidFill>
                <a:latin typeface="Source Serif Pro Bold"/>
                <a:ea typeface="Source Serif Pro Bold"/>
                <a:cs typeface="Source Serif Pro Bold"/>
                <a:sym typeface="Source Serif Pro Bold"/>
              </a:rPr>
              <a:t>2</a:t>
            </a:r>
          </a:p>
        </p:txBody>
      </p:sp>
      <p:sp>
        <p:nvSpPr>
          <p:cNvPr id="42" name="TextBox 42"/>
          <p:cNvSpPr txBox="1"/>
          <p:nvPr/>
        </p:nvSpPr>
        <p:spPr>
          <a:xfrm>
            <a:off x="4406351" y="7260346"/>
            <a:ext cx="6428927" cy="211931"/>
          </a:xfrm>
          <a:prstGeom prst="rect">
            <a:avLst/>
          </a:prstGeom>
        </p:spPr>
        <p:txBody>
          <a:bodyPr lIns="0" tIns="0" rIns="0" bIns="0" rtlCol="0" anchor="t">
            <a:spAutoFit/>
          </a:bodyPr>
          <a:lstStyle/>
          <a:p>
            <a:pPr algn="ctr">
              <a:lnSpc>
                <a:spcPts val="1812"/>
              </a:lnSpc>
            </a:pPr>
            <a:r>
              <a:rPr lang="en-US" sz="1750">
                <a:solidFill>
                  <a:srgbClr val="272525"/>
                </a:solidFill>
                <a:latin typeface="Source Sans 3"/>
                <a:ea typeface="Source Sans 3"/>
                <a:cs typeface="Source Sans 3"/>
                <a:sym typeface="Source Sans 3"/>
              </a:rPr>
              <a:t>Q2 2026: CBS Integration</a:t>
            </a:r>
          </a:p>
        </p:txBody>
      </p:sp>
      <p:sp>
        <p:nvSpPr>
          <p:cNvPr id="43" name="TextBox 43"/>
          <p:cNvSpPr txBox="1"/>
          <p:nvPr/>
        </p:nvSpPr>
        <p:spPr>
          <a:xfrm>
            <a:off x="4406351" y="7560535"/>
            <a:ext cx="6428927" cy="211931"/>
          </a:xfrm>
          <a:prstGeom prst="rect">
            <a:avLst/>
          </a:prstGeom>
        </p:spPr>
        <p:txBody>
          <a:bodyPr lIns="0" tIns="0" rIns="0" bIns="0" rtlCol="0" anchor="t">
            <a:spAutoFit/>
          </a:bodyPr>
          <a:lstStyle/>
          <a:p>
            <a:pPr algn="ctr">
              <a:lnSpc>
                <a:spcPts val="1812"/>
              </a:lnSpc>
            </a:pPr>
            <a:r>
              <a:rPr lang="en-US" sz="1750">
                <a:solidFill>
                  <a:srgbClr val="272525"/>
                </a:solidFill>
                <a:latin typeface="Source Sans 3"/>
                <a:ea typeface="Source Sans 3"/>
                <a:cs typeface="Source Sans 3"/>
                <a:sym typeface="Source Sans 3"/>
              </a:rPr>
              <a:t>Real-time API integration with major Core Banking </a:t>
            </a:r>
          </a:p>
          <a:p>
            <a:pPr algn="ctr">
              <a:lnSpc>
                <a:spcPts val="1812"/>
              </a:lnSpc>
            </a:pPr>
            <a:r>
              <a:rPr lang="en-US" sz="1750">
                <a:solidFill>
                  <a:srgbClr val="272525"/>
                </a:solidFill>
                <a:latin typeface="Source Sans 3"/>
                <a:ea typeface="Source Sans 3"/>
                <a:cs typeface="Source Sans 3"/>
                <a:sym typeface="Source Sans 3"/>
              </a:rPr>
              <a:t>Systems for production-grade deployment</a:t>
            </a:r>
          </a:p>
        </p:txBody>
      </p:sp>
      <p:grpSp>
        <p:nvGrpSpPr>
          <p:cNvPr id="44" name="Group 44"/>
          <p:cNvGrpSpPr/>
          <p:nvPr/>
        </p:nvGrpSpPr>
        <p:grpSpPr>
          <a:xfrm>
            <a:off x="11013434" y="6432861"/>
            <a:ext cx="19050" cy="346472"/>
            <a:chOff x="0" y="0"/>
            <a:chExt cx="25400" cy="461962"/>
          </a:xfrm>
        </p:grpSpPr>
        <p:sp>
          <p:nvSpPr>
            <p:cNvPr id="45" name="Freeform 45"/>
            <p:cNvSpPr/>
            <p:nvPr/>
          </p:nvSpPr>
          <p:spPr>
            <a:xfrm>
              <a:off x="0" y="0"/>
              <a:ext cx="25400" cy="462026"/>
            </a:xfrm>
            <a:custGeom>
              <a:avLst/>
              <a:gdLst/>
              <a:ahLst/>
              <a:cxnLst/>
              <a:rect l="l" t="t" r="r" b="b"/>
              <a:pathLst>
                <a:path w="25400" h="462026">
                  <a:moveTo>
                    <a:pt x="0" y="12700"/>
                  </a:moveTo>
                  <a:cubicBezTo>
                    <a:pt x="0" y="5715"/>
                    <a:pt x="5715" y="0"/>
                    <a:pt x="12700" y="0"/>
                  </a:cubicBezTo>
                  <a:cubicBezTo>
                    <a:pt x="19685" y="0"/>
                    <a:pt x="25400" y="5715"/>
                    <a:pt x="25400" y="12700"/>
                  </a:cubicBezTo>
                  <a:lnTo>
                    <a:pt x="25400" y="449326"/>
                  </a:lnTo>
                  <a:cubicBezTo>
                    <a:pt x="25400" y="456311"/>
                    <a:pt x="19685" y="462026"/>
                    <a:pt x="12700" y="462026"/>
                  </a:cubicBezTo>
                  <a:cubicBezTo>
                    <a:pt x="5715" y="462026"/>
                    <a:pt x="0" y="456311"/>
                    <a:pt x="0" y="449326"/>
                  </a:cubicBezTo>
                  <a:close/>
                </a:path>
              </a:pathLst>
            </a:custGeom>
            <a:solidFill>
              <a:srgbClr val="D6BADD"/>
            </a:solidFill>
            <a:ln w="12700">
              <a:solidFill>
                <a:srgbClr val="000000"/>
              </a:solidFill>
            </a:ln>
          </p:spPr>
        </p:sp>
      </p:grpSp>
      <p:grpSp>
        <p:nvGrpSpPr>
          <p:cNvPr id="46" name="Group 46"/>
          <p:cNvGrpSpPr/>
          <p:nvPr/>
        </p:nvGrpSpPr>
        <p:grpSpPr>
          <a:xfrm>
            <a:off x="10888266" y="6644650"/>
            <a:ext cx="269377" cy="269377"/>
            <a:chOff x="0" y="0"/>
            <a:chExt cx="359169" cy="359169"/>
          </a:xfrm>
        </p:grpSpPr>
        <p:sp>
          <p:nvSpPr>
            <p:cNvPr id="47" name="Freeform 47"/>
            <p:cNvSpPr/>
            <p:nvPr/>
          </p:nvSpPr>
          <p:spPr>
            <a:xfrm>
              <a:off x="6350" y="6350"/>
              <a:ext cx="346456" cy="346456"/>
            </a:xfrm>
            <a:custGeom>
              <a:avLst/>
              <a:gdLst/>
              <a:ahLst/>
              <a:cxnLst/>
              <a:rect l="l" t="t" r="r" b="b"/>
              <a:pathLst>
                <a:path w="346456" h="346456">
                  <a:moveTo>
                    <a:pt x="0" y="64643"/>
                  </a:moveTo>
                  <a:cubicBezTo>
                    <a:pt x="0" y="28956"/>
                    <a:pt x="28956" y="0"/>
                    <a:pt x="64643" y="0"/>
                  </a:cubicBezTo>
                  <a:lnTo>
                    <a:pt x="281813" y="0"/>
                  </a:lnTo>
                  <a:cubicBezTo>
                    <a:pt x="317500" y="0"/>
                    <a:pt x="346456" y="28956"/>
                    <a:pt x="346456" y="64643"/>
                  </a:cubicBezTo>
                  <a:lnTo>
                    <a:pt x="346456" y="281813"/>
                  </a:lnTo>
                  <a:cubicBezTo>
                    <a:pt x="346456" y="317500"/>
                    <a:pt x="317500" y="346456"/>
                    <a:pt x="281813" y="346456"/>
                  </a:cubicBezTo>
                  <a:lnTo>
                    <a:pt x="64643" y="346456"/>
                  </a:lnTo>
                  <a:cubicBezTo>
                    <a:pt x="28956" y="346456"/>
                    <a:pt x="0" y="317500"/>
                    <a:pt x="0" y="281813"/>
                  </a:cubicBezTo>
                  <a:close/>
                </a:path>
              </a:pathLst>
            </a:custGeom>
            <a:solidFill>
              <a:srgbClr val="F0D4F7"/>
            </a:solidFill>
            <a:ln w="12700">
              <a:solidFill>
                <a:srgbClr val="000000"/>
              </a:solidFill>
            </a:ln>
          </p:spPr>
        </p:sp>
        <p:sp>
          <p:nvSpPr>
            <p:cNvPr id="48" name="Freeform 48"/>
            <p:cNvSpPr/>
            <p:nvPr/>
          </p:nvSpPr>
          <p:spPr>
            <a:xfrm>
              <a:off x="0" y="0"/>
              <a:ext cx="359156" cy="359156"/>
            </a:xfrm>
            <a:custGeom>
              <a:avLst/>
              <a:gdLst/>
              <a:ahLst/>
              <a:cxnLst/>
              <a:rect l="l" t="t" r="r" b="b"/>
              <a:pathLst>
                <a:path w="359156" h="359156">
                  <a:moveTo>
                    <a:pt x="0" y="70993"/>
                  </a:moveTo>
                  <a:cubicBezTo>
                    <a:pt x="0" y="31750"/>
                    <a:pt x="31750" y="0"/>
                    <a:pt x="70993" y="0"/>
                  </a:cubicBezTo>
                  <a:lnTo>
                    <a:pt x="288163" y="0"/>
                  </a:lnTo>
                  <a:lnTo>
                    <a:pt x="288163" y="6350"/>
                  </a:lnTo>
                  <a:lnTo>
                    <a:pt x="288163" y="0"/>
                  </a:lnTo>
                  <a:cubicBezTo>
                    <a:pt x="327406" y="0"/>
                    <a:pt x="359156" y="31750"/>
                    <a:pt x="359156" y="70993"/>
                  </a:cubicBezTo>
                  <a:lnTo>
                    <a:pt x="352806" y="70993"/>
                  </a:lnTo>
                  <a:lnTo>
                    <a:pt x="359156" y="70993"/>
                  </a:lnTo>
                  <a:lnTo>
                    <a:pt x="359156" y="288163"/>
                  </a:lnTo>
                  <a:lnTo>
                    <a:pt x="352806" y="288163"/>
                  </a:lnTo>
                  <a:lnTo>
                    <a:pt x="359156" y="288163"/>
                  </a:lnTo>
                  <a:cubicBezTo>
                    <a:pt x="359156" y="327406"/>
                    <a:pt x="327406" y="359156"/>
                    <a:pt x="288163" y="359156"/>
                  </a:cubicBezTo>
                  <a:lnTo>
                    <a:pt x="288163" y="352806"/>
                  </a:lnTo>
                  <a:lnTo>
                    <a:pt x="288163" y="359156"/>
                  </a:lnTo>
                  <a:lnTo>
                    <a:pt x="70993" y="359156"/>
                  </a:lnTo>
                  <a:lnTo>
                    <a:pt x="70993" y="352806"/>
                  </a:lnTo>
                  <a:lnTo>
                    <a:pt x="70993" y="359156"/>
                  </a:lnTo>
                  <a:cubicBezTo>
                    <a:pt x="31750" y="359156"/>
                    <a:pt x="0" y="327406"/>
                    <a:pt x="0" y="288163"/>
                  </a:cubicBezTo>
                  <a:lnTo>
                    <a:pt x="0" y="70993"/>
                  </a:lnTo>
                  <a:lnTo>
                    <a:pt x="6350" y="70993"/>
                  </a:lnTo>
                  <a:lnTo>
                    <a:pt x="0" y="70993"/>
                  </a:lnTo>
                  <a:moveTo>
                    <a:pt x="12700" y="70993"/>
                  </a:moveTo>
                  <a:lnTo>
                    <a:pt x="12700" y="288163"/>
                  </a:lnTo>
                  <a:lnTo>
                    <a:pt x="6350" y="288163"/>
                  </a:lnTo>
                  <a:lnTo>
                    <a:pt x="12700" y="288163"/>
                  </a:lnTo>
                  <a:cubicBezTo>
                    <a:pt x="12700" y="320421"/>
                    <a:pt x="38862" y="346456"/>
                    <a:pt x="70993" y="346456"/>
                  </a:cubicBezTo>
                  <a:lnTo>
                    <a:pt x="288163" y="346456"/>
                  </a:lnTo>
                  <a:cubicBezTo>
                    <a:pt x="320421" y="346456"/>
                    <a:pt x="346456" y="320294"/>
                    <a:pt x="346456" y="288163"/>
                  </a:cubicBezTo>
                  <a:lnTo>
                    <a:pt x="346456" y="70993"/>
                  </a:lnTo>
                  <a:cubicBezTo>
                    <a:pt x="346456" y="38862"/>
                    <a:pt x="320294" y="12700"/>
                    <a:pt x="288163" y="12700"/>
                  </a:cubicBezTo>
                  <a:lnTo>
                    <a:pt x="70993" y="12700"/>
                  </a:lnTo>
                  <a:lnTo>
                    <a:pt x="70993" y="6350"/>
                  </a:lnTo>
                  <a:lnTo>
                    <a:pt x="70993" y="12700"/>
                  </a:lnTo>
                  <a:cubicBezTo>
                    <a:pt x="38862" y="12700"/>
                    <a:pt x="12700" y="38862"/>
                    <a:pt x="12700" y="70993"/>
                  </a:cubicBezTo>
                  <a:close/>
                </a:path>
              </a:pathLst>
            </a:custGeom>
            <a:solidFill>
              <a:srgbClr val="D6BADD"/>
            </a:solidFill>
            <a:ln w="12700">
              <a:solidFill>
                <a:srgbClr val="000000"/>
              </a:solidFill>
            </a:ln>
          </p:spPr>
        </p:sp>
      </p:grpSp>
      <p:sp>
        <p:nvSpPr>
          <p:cNvPr id="49" name="TextBox 49"/>
          <p:cNvSpPr txBox="1"/>
          <p:nvPr/>
        </p:nvSpPr>
        <p:spPr>
          <a:xfrm>
            <a:off x="10943253" y="6765493"/>
            <a:ext cx="159391" cy="113405"/>
          </a:xfrm>
          <a:prstGeom prst="rect">
            <a:avLst/>
          </a:prstGeom>
        </p:spPr>
        <p:txBody>
          <a:bodyPr lIns="0" tIns="0" rIns="0" bIns="0" rtlCol="0" anchor="t">
            <a:spAutoFit/>
          </a:bodyPr>
          <a:lstStyle/>
          <a:p>
            <a:pPr algn="ctr">
              <a:lnSpc>
                <a:spcPts val="1249"/>
              </a:lnSpc>
            </a:pPr>
            <a:r>
              <a:rPr lang="en-US" sz="1750" b="1">
                <a:solidFill>
                  <a:srgbClr val="272525"/>
                </a:solidFill>
                <a:latin typeface="Source Serif Pro Bold"/>
                <a:ea typeface="Source Serif Pro Bold"/>
                <a:cs typeface="Source Serif Pro Bold"/>
                <a:sym typeface="Source Serif Pro Bold"/>
              </a:rPr>
              <a:t>3</a:t>
            </a:r>
          </a:p>
        </p:txBody>
      </p:sp>
      <p:sp>
        <p:nvSpPr>
          <p:cNvPr id="50" name="TextBox 50"/>
          <p:cNvSpPr txBox="1"/>
          <p:nvPr/>
        </p:nvSpPr>
        <p:spPr>
          <a:xfrm>
            <a:off x="7798965" y="5650440"/>
            <a:ext cx="6428927" cy="211931"/>
          </a:xfrm>
          <a:prstGeom prst="rect">
            <a:avLst/>
          </a:prstGeom>
        </p:spPr>
        <p:txBody>
          <a:bodyPr lIns="0" tIns="0" rIns="0" bIns="0" rtlCol="0" anchor="t">
            <a:spAutoFit/>
          </a:bodyPr>
          <a:lstStyle/>
          <a:p>
            <a:pPr algn="ctr">
              <a:lnSpc>
                <a:spcPts val="1812"/>
              </a:lnSpc>
            </a:pPr>
            <a:r>
              <a:rPr lang="en-US" sz="1750" dirty="0">
                <a:solidFill>
                  <a:srgbClr val="272525"/>
                </a:solidFill>
                <a:latin typeface="Source Sans 3"/>
                <a:ea typeface="Source Sans 3"/>
                <a:cs typeface="Source Sans 3"/>
                <a:sym typeface="Source Sans 3"/>
              </a:rPr>
              <a:t>Q3 2026: Security Enhancement</a:t>
            </a:r>
          </a:p>
        </p:txBody>
      </p:sp>
      <p:sp>
        <p:nvSpPr>
          <p:cNvPr id="51" name="TextBox 51"/>
          <p:cNvSpPr txBox="1"/>
          <p:nvPr/>
        </p:nvSpPr>
        <p:spPr>
          <a:xfrm>
            <a:off x="7798965" y="5947420"/>
            <a:ext cx="6428927" cy="211931"/>
          </a:xfrm>
          <a:prstGeom prst="rect">
            <a:avLst/>
          </a:prstGeom>
        </p:spPr>
        <p:txBody>
          <a:bodyPr lIns="0" tIns="0" rIns="0" bIns="0" rtlCol="0" anchor="t">
            <a:spAutoFit/>
          </a:bodyPr>
          <a:lstStyle/>
          <a:p>
            <a:pPr algn="ctr">
              <a:lnSpc>
                <a:spcPts val="1812"/>
              </a:lnSpc>
            </a:pPr>
            <a:r>
              <a:rPr lang="en-US" sz="1750">
                <a:solidFill>
                  <a:srgbClr val="272525"/>
                </a:solidFill>
                <a:latin typeface="Source Sans 3"/>
                <a:ea typeface="Source Sans 3"/>
                <a:cs typeface="Source Sans 3"/>
                <a:sym typeface="Source Sans 3"/>
              </a:rPr>
              <a:t>Multi-factor authentication, </a:t>
            </a:r>
          </a:p>
          <a:p>
            <a:pPr algn="ctr">
              <a:lnSpc>
                <a:spcPts val="1812"/>
              </a:lnSpc>
            </a:pPr>
            <a:r>
              <a:rPr lang="en-US" sz="1750">
                <a:solidFill>
                  <a:srgbClr val="272525"/>
                </a:solidFill>
                <a:latin typeface="Source Sans 3"/>
                <a:ea typeface="Source Sans 3"/>
                <a:cs typeface="Source Sans 3"/>
                <a:sym typeface="Source Sans 3"/>
              </a:rPr>
              <a:t>biometric verification, and advanced session management protocols</a:t>
            </a:r>
          </a:p>
        </p:txBody>
      </p:sp>
      <p:grpSp>
        <p:nvGrpSpPr>
          <p:cNvPr id="52" name="Group 52"/>
          <p:cNvGrpSpPr/>
          <p:nvPr/>
        </p:nvGrpSpPr>
        <p:grpSpPr>
          <a:xfrm>
            <a:off x="14415497" y="6779333"/>
            <a:ext cx="19050" cy="346472"/>
            <a:chOff x="0" y="0"/>
            <a:chExt cx="25400" cy="461962"/>
          </a:xfrm>
        </p:grpSpPr>
        <p:sp>
          <p:nvSpPr>
            <p:cNvPr id="53" name="Freeform 53"/>
            <p:cNvSpPr/>
            <p:nvPr/>
          </p:nvSpPr>
          <p:spPr>
            <a:xfrm>
              <a:off x="0" y="0"/>
              <a:ext cx="25400" cy="462026"/>
            </a:xfrm>
            <a:custGeom>
              <a:avLst/>
              <a:gdLst/>
              <a:ahLst/>
              <a:cxnLst/>
              <a:rect l="l" t="t" r="r" b="b"/>
              <a:pathLst>
                <a:path w="25400" h="462026">
                  <a:moveTo>
                    <a:pt x="0" y="12700"/>
                  </a:moveTo>
                  <a:cubicBezTo>
                    <a:pt x="0" y="5715"/>
                    <a:pt x="5715" y="0"/>
                    <a:pt x="12700" y="0"/>
                  </a:cubicBezTo>
                  <a:cubicBezTo>
                    <a:pt x="19685" y="0"/>
                    <a:pt x="25400" y="5715"/>
                    <a:pt x="25400" y="12700"/>
                  </a:cubicBezTo>
                  <a:lnTo>
                    <a:pt x="25400" y="449326"/>
                  </a:lnTo>
                  <a:cubicBezTo>
                    <a:pt x="25400" y="456311"/>
                    <a:pt x="19685" y="462026"/>
                    <a:pt x="12700" y="462026"/>
                  </a:cubicBezTo>
                  <a:cubicBezTo>
                    <a:pt x="5715" y="462026"/>
                    <a:pt x="0" y="456311"/>
                    <a:pt x="0" y="449326"/>
                  </a:cubicBezTo>
                  <a:close/>
                </a:path>
              </a:pathLst>
            </a:custGeom>
            <a:solidFill>
              <a:srgbClr val="D6BADD"/>
            </a:solidFill>
            <a:ln w="12700">
              <a:solidFill>
                <a:srgbClr val="000000"/>
              </a:solidFill>
            </a:ln>
          </p:spPr>
        </p:sp>
      </p:grpSp>
      <p:grpSp>
        <p:nvGrpSpPr>
          <p:cNvPr id="54" name="Group 54"/>
          <p:cNvGrpSpPr/>
          <p:nvPr/>
        </p:nvGrpSpPr>
        <p:grpSpPr>
          <a:xfrm>
            <a:off x="14290329" y="6644650"/>
            <a:ext cx="269377" cy="269377"/>
            <a:chOff x="0" y="0"/>
            <a:chExt cx="359169" cy="359169"/>
          </a:xfrm>
        </p:grpSpPr>
        <p:sp>
          <p:nvSpPr>
            <p:cNvPr id="55" name="Freeform 55"/>
            <p:cNvSpPr/>
            <p:nvPr/>
          </p:nvSpPr>
          <p:spPr>
            <a:xfrm>
              <a:off x="6350" y="6350"/>
              <a:ext cx="346456" cy="346456"/>
            </a:xfrm>
            <a:custGeom>
              <a:avLst/>
              <a:gdLst/>
              <a:ahLst/>
              <a:cxnLst/>
              <a:rect l="l" t="t" r="r" b="b"/>
              <a:pathLst>
                <a:path w="346456" h="346456">
                  <a:moveTo>
                    <a:pt x="0" y="64643"/>
                  </a:moveTo>
                  <a:cubicBezTo>
                    <a:pt x="0" y="28956"/>
                    <a:pt x="28956" y="0"/>
                    <a:pt x="64643" y="0"/>
                  </a:cubicBezTo>
                  <a:lnTo>
                    <a:pt x="281813" y="0"/>
                  </a:lnTo>
                  <a:cubicBezTo>
                    <a:pt x="317500" y="0"/>
                    <a:pt x="346456" y="28956"/>
                    <a:pt x="346456" y="64643"/>
                  </a:cubicBezTo>
                  <a:lnTo>
                    <a:pt x="346456" y="281813"/>
                  </a:lnTo>
                  <a:cubicBezTo>
                    <a:pt x="346456" y="317500"/>
                    <a:pt x="317500" y="346456"/>
                    <a:pt x="281813" y="346456"/>
                  </a:cubicBezTo>
                  <a:lnTo>
                    <a:pt x="64643" y="346456"/>
                  </a:lnTo>
                  <a:cubicBezTo>
                    <a:pt x="28956" y="346456"/>
                    <a:pt x="0" y="317500"/>
                    <a:pt x="0" y="281813"/>
                  </a:cubicBezTo>
                  <a:close/>
                </a:path>
              </a:pathLst>
            </a:custGeom>
            <a:solidFill>
              <a:srgbClr val="F0D4F7"/>
            </a:solidFill>
            <a:ln w="12700">
              <a:solidFill>
                <a:srgbClr val="000000"/>
              </a:solidFill>
            </a:ln>
          </p:spPr>
        </p:sp>
        <p:sp>
          <p:nvSpPr>
            <p:cNvPr id="56" name="Freeform 56"/>
            <p:cNvSpPr/>
            <p:nvPr/>
          </p:nvSpPr>
          <p:spPr>
            <a:xfrm>
              <a:off x="0" y="0"/>
              <a:ext cx="359156" cy="359156"/>
            </a:xfrm>
            <a:custGeom>
              <a:avLst/>
              <a:gdLst/>
              <a:ahLst/>
              <a:cxnLst/>
              <a:rect l="l" t="t" r="r" b="b"/>
              <a:pathLst>
                <a:path w="359156" h="359156">
                  <a:moveTo>
                    <a:pt x="0" y="70993"/>
                  </a:moveTo>
                  <a:cubicBezTo>
                    <a:pt x="0" y="31750"/>
                    <a:pt x="31750" y="0"/>
                    <a:pt x="70993" y="0"/>
                  </a:cubicBezTo>
                  <a:lnTo>
                    <a:pt x="288163" y="0"/>
                  </a:lnTo>
                  <a:lnTo>
                    <a:pt x="288163" y="6350"/>
                  </a:lnTo>
                  <a:lnTo>
                    <a:pt x="288163" y="0"/>
                  </a:lnTo>
                  <a:cubicBezTo>
                    <a:pt x="327406" y="0"/>
                    <a:pt x="359156" y="31750"/>
                    <a:pt x="359156" y="70993"/>
                  </a:cubicBezTo>
                  <a:lnTo>
                    <a:pt x="352806" y="70993"/>
                  </a:lnTo>
                  <a:lnTo>
                    <a:pt x="359156" y="70993"/>
                  </a:lnTo>
                  <a:lnTo>
                    <a:pt x="359156" y="288163"/>
                  </a:lnTo>
                  <a:lnTo>
                    <a:pt x="352806" y="288163"/>
                  </a:lnTo>
                  <a:lnTo>
                    <a:pt x="359156" y="288163"/>
                  </a:lnTo>
                  <a:cubicBezTo>
                    <a:pt x="359156" y="327406"/>
                    <a:pt x="327406" y="359156"/>
                    <a:pt x="288163" y="359156"/>
                  </a:cubicBezTo>
                  <a:lnTo>
                    <a:pt x="288163" y="352806"/>
                  </a:lnTo>
                  <a:lnTo>
                    <a:pt x="288163" y="359156"/>
                  </a:lnTo>
                  <a:lnTo>
                    <a:pt x="70993" y="359156"/>
                  </a:lnTo>
                  <a:lnTo>
                    <a:pt x="70993" y="352806"/>
                  </a:lnTo>
                  <a:lnTo>
                    <a:pt x="70993" y="359156"/>
                  </a:lnTo>
                  <a:cubicBezTo>
                    <a:pt x="31750" y="359156"/>
                    <a:pt x="0" y="327406"/>
                    <a:pt x="0" y="288163"/>
                  </a:cubicBezTo>
                  <a:lnTo>
                    <a:pt x="0" y="70993"/>
                  </a:lnTo>
                  <a:lnTo>
                    <a:pt x="6350" y="70993"/>
                  </a:lnTo>
                  <a:lnTo>
                    <a:pt x="0" y="70993"/>
                  </a:lnTo>
                  <a:moveTo>
                    <a:pt x="12700" y="70993"/>
                  </a:moveTo>
                  <a:lnTo>
                    <a:pt x="12700" y="288163"/>
                  </a:lnTo>
                  <a:lnTo>
                    <a:pt x="6350" y="288163"/>
                  </a:lnTo>
                  <a:lnTo>
                    <a:pt x="12700" y="288163"/>
                  </a:lnTo>
                  <a:cubicBezTo>
                    <a:pt x="12700" y="320421"/>
                    <a:pt x="38862" y="346456"/>
                    <a:pt x="70993" y="346456"/>
                  </a:cubicBezTo>
                  <a:lnTo>
                    <a:pt x="288163" y="346456"/>
                  </a:lnTo>
                  <a:cubicBezTo>
                    <a:pt x="320421" y="346456"/>
                    <a:pt x="346456" y="320294"/>
                    <a:pt x="346456" y="288163"/>
                  </a:cubicBezTo>
                  <a:lnTo>
                    <a:pt x="346456" y="70993"/>
                  </a:lnTo>
                  <a:cubicBezTo>
                    <a:pt x="346456" y="38862"/>
                    <a:pt x="320294" y="12700"/>
                    <a:pt x="288163" y="12700"/>
                  </a:cubicBezTo>
                  <a:lnTo>
                    <a:pt x="70993" y="12700"/>
                  </a:lnTo>
                  <a:lnTo>
                    <a:pt x="70993" y="6350"/>
                  </a:lnTo>
                  <a:lnTo>
                    <a:pt x="70993" y="12700"/>
                  </a:lnTo>
                  <a:cubicBezTo>
                    <a:pt x="38862" y="12700"/>
                    <a:pt x="12700" y="38862"/>
                    <a:pt x="12700" y="70993"/>
                  </a:cubicBezTo>
                  <a:close/>
                </a:path>
              </a:pathLst>
            </a:custGeom>
            <a:solidFill>
              <a:srgbClr val="D6BADD"/>
            </a:solidFill>
            <a:ln w="12700">
              <a:solidFill>
                <a:srgbClr val="000000"/>
              </a:solidFill>
            </a:ln>
          </p:spPr>
        </p:sp>
      </p:grpSp>
      <p:sp>
        <p:nvSpPr>
          <p:cNvPr id="57" name="TextBox 57"/>
          <p:cNvSpPr txBox="1"/>
          <p:nvPr/>
        </p:nvSpPr>
        <p:spPr>
          <a:xfrm>
            <a:off x="14345317" y="6765493"/>
            <a:ext cx="159391" cy="113405"/>
          </a:xfrm>
          <a:prstGeom prst="rect">
            <a:avLst/>
          </a:prstGeom>
        </p:spPr>
        <p:txBody>
          <a:bodyPr lIns="0" tIns="0" rIns="0" bIns="0" rtlCol="0" anchor="t">
            <a:spAutoFit/>
          </a:bodyPr>
          <a:lstStyle/>
          <a:p>
            <a:pPr algn="ctr">
              <a:lnSpc>
                <a:spcPts val="1249"/>
              </a:lnSpc>
            </a:pPr>
            <a:r>
              <a:rPr lang="en-US" sz="1750" b="1">
                <a:solidFill>
                  <a:srgbClr val="272525"/>
                </a:solidFill>
                <a:latin typeface="Source Serif Pro Bold"/>
                <a:ea typeface="Source Serif Pro Bold"/>
                <a:cs typeface="Source Serif Pro Bold"/>
                <a:sym typeface="Source Serif Pro Bold"/>
              </a:rPr>
              <a:t>4</a:t>
            </a:r>
          </a:p>
        </p:txBody>
      </p:sp>
      <p:sp>
        <p:nvSpPr>
          <p:cNvPr id="58" name="TextBox 58"/>
          <p:cNvSpPr txBox="1"/>
          <p:nvPr/>
        </p:nvSpPr>
        <p:spPr>
          <a:xfrm>
            <a:off x="11210630" y="7260346"/>
            <a:ext cx="6428927" cy="211931"/>
          </a:xfrm>
          <a:prstGeom prst="rect">
            <a:avLst/>
          </a:prstGeom>
        </p:spPr>
        <p:txBody>
          <a:bodyPr lIns="0" tIns="0" rIns="0" bIns="0" rtlCol="0" anchor="t">
            <a:spAutoFit/>
          </a:bodyPr>
          <a:lstStyle/>
          <a:p>
            <a:pPr algn="ctr">
              <a:lnSpc>
                <a:spcPts val="1812"/>
              </a:lnSpc>
            </a:pPr>
            <a:r>
              <a:rPr lang="en-US" sz="1750">
                <a:solidFill>
                  <a:srgbClr val="272525"/>
                </a:solidFill>
                <a:latin typeface="Source Sans 3"/>
                <a:ea typeface="Source Sans 3"/>
                <a:cs typeface="Source Sans 3"/>
                <a:sym typeface="Source Sans 3"/>
              </a:rPr>
              <a:t>Q4 2026: Model Governance</a:t>
            </a:r>
          </a:p>
        </p:txBody>
      </p:sp>
      <p:sp>
        <p:nvSpPr>
          <p:cNvPr id="59" name="TextBox 59"/>
          <p:cNvSpPr txBox="1"/>
          <p:nvPr/>
        </p:nvSpPr>
        <p:spPr>
          <a:xfrm>
            <a:off x="11210630" y="7560535"/>
            <a:ext cx="6428927" cy="211931"/>
          </a:xfrm>
          <a:prstGeom prst="rect">
            <a:avLst/>
          </a:prstGeom>
        </p:spPr>
        <p:txBody>
          <a:bodyPr lIns="0" tIns="0" rIns="0" bIns="0" rtlCol="0" anchor="t">
            <a:spAutoFit/>
          </a:bodyPr>
          <a:lstStyle/>
          <a:p>
            <a:pPr algn="ctr">
              <a:lnSpc>
                <a:spcPts val="1812"/>
              </a:lnSpc>
            </a:pPr>
            <a:r>
              <a:rPr lang="en-US" sz="1750">
                <a:solidFill>
                  <a:srgbClr val="272525"/>
                </a:solidFill>
                <a:latin typeface="Source Sans 3"/>
                <a:ea typeface="Source Sans 3"/>
                <a:cs typeface="Source Sans 3"/>
                <a:sym typeface="Source Sans 3"/>
              </a:rPr>
              <a:t>Advanced drift detection,</a:t>
            </a:r>
          </a:p>
          <a:p>
            <a:pPr algn="ctr">
              <a:lnSpc>
                <a:spcPts val="1812"/>
              </a:lnSpc>
            </a:pPr>
            <a:r>
              <a:rPr lang="en-US" sz="1750">
                <a:solidFill>
                  <a:srgbClr val="272525"/>
                </a:solidFill>
                <a:latin typeface="Source Sans 3"/>
                <a:ea typeface="Source Sans 3"/>
                <a:cs typeface="Source Sans 3"/>
                <a:sym typeface="Source Sans 3"/>
              </a:rPr>
              <a:t> A/B testing framework, and automated model performance monitoring</a:t>
            </a:r>
          </a:p>
        </p:txBody>
      </p:sp>
      <p:grpSp>
        <p:nvGrpSpPr>
          <p:cNvPr id="60" name="Group 60"/>
          <p:cNvGrpSpPr/>
          <p:nvPr/>
        </p:nvGrpSpPr>
        <p:grpSpPr>
          <a:xfrm>
            <a:off x="888806" y="8219837"/>
            <a:ext cx="16866394" cy="1193959"/>
            <a:chOff x="0" y="0"/>
            <a:chExt cx="22488525" cy="1591945"/>
          </a:xfrm>
        </p:grpSpPr>
        <p:sp>
          <p:nvSpPr>
            <p:cNvPr id="61" name="Freeform 61"/>
            <p:cNvSpPr/>
            <p:nvPr/>
          </p:nvSpPr>
          <p:spPr>
            <a:xfrm>
              <a:off x="0" y="0"/>
              <a:ext cx="22488652" cy="1592072"/>
            </a:xfrm>
            <a:custGeom>
              <a:avLst/>
              <a:gdLst/>
              <a:ahLst/>
              <a:cxnLst/>
              <a:rect l="l" t="t" r="r" b="b"/>
              <a:pathLst>
                <a:path w="22488652" h="1592072">
                  <a:moveTo>
                    <a:pt x="0" y="88646"/>
                  </a:moveTo>
                  <a:cubicBezTo>
                    <a:pt x="0" y="39624"/>
                    <a:pt x="39624" y="0"/>
                    <a:pt x="88646" y="0"/>
                  </a:cubicBezTo>
                  <a:lnTo>
                    <a:pt x="22400006" y="0"/>
                  </a:lnTo>
                  <a:cubicBezTo>
                    <a:pt x="22448901" y="0"/>
                    <a:pt x="22488652" y="39624"/>
                    <a:pt x="22488652" y="88646"/>
                  </a:cubicBezTo>
                  <a:lnTo>
                    <a:pt x="22488652" y="1503426"/>
                  </a:lnTo>
                  <a:cubicBezTo>
                    <a:pt x="22488652" y="1552321"/>
                    <a:pt x="22449028" y="1592072"/>
                    <a:pt x="22400006" y="1592072"/>
                  </a:cubicBezTo>
                  <a:lnTo>
                    <a:pt x="88646" y="1592072"/>
                  </a:lnTo>
                  <a:cubicBezTo>
                    <a:pt x="39751" y="1592072"/>
                    <a:pt x="0" y="1552448"/>
                    <a:pt x="0" y="1503426"/>
                  </a:cubicBezTo>
                  <a:close/>
                </a:path>
              </a:pathLst>
            </a:custGeom>
            <a:solidFill>
              <a:srgbClr val="E8BEF4"/>
            </a:solidFill>
            <a:ln w="12700">
              <a:solidFill>
                <a:srgbClr val="000000"/>
              </a:solidFill>
            </a:ln>
          </p:spPr>
        </p:sp>
      </p:grpSp>
      <p:sp>
        <p:nvSpPr>
          <p:cNvPr id="62" name="Freeform 62" descr="preencoded.png"/>
          <p:cNvSpPr/>
          <p:nvPr/>
        </p:nvSpPr>
        <p:spPr>
          <a:xfrm>
            <a:off x="1004297" y="8476469"/>
            <a:ext cx="180384" cy="144361"/>
          </a:xfrm>
          <a:custGeom>
            <a:avLst/>
            <a:gdLst/>
            <a:ahLst/>
            <a:cxnLst/>
            <a:rect l="l" t="t" r="r" b="b"/>
            <a:pathLst>
              <a:path w="180384" h="144361">
                <a:moveTo>
                  <a:pt x="0" y="0"/>
                </a:moveTo>
                <a:lnTo>
                  <a:pt x="180384" y="0"/>
                </a:lnTo>
                <a:lnTo>
                  <a:pt x="180384" y="144361"/>
                </a:lnTo>
                <a:lnTo>
                  <a:pt x="0" y="144361"/>
                </a:lnTo>
                <a:lnTo>
                  <a:pt x="0" y="0"/>
                </a:lnTo>
                <a:close/>
              </a:path>
            </a:pathLst>
          </a:custGeom>
          <a:blipFill>
            <a:blip r:embed="rId5"/>
            <a:stretch>
              <a:fillRect l="-686" r="-686"/>
            </a:stretch>
          </a:blipFill>
        </p:spPr>
      </p:sp>
      <p:sp>
        <p:nvSpPr>
          <p:cNvPr id="63" name="TextBox 63"/>
          <p:cNvSpPr txBox="1"/>
          <p:nvPr/>
        </p:nvSpPr>
        <p:spPr>
          <a:xfrm>
            <a:off x="1300162" y="8485251"/>
            <a:ext cx="16339547" cy="211931"/>
          </a:xfrm>
          <a:prstGeom prst="rect">
            <a:avLst/>
          </a:prstGeom>
        </p:spPr>
        <p:txBody>
          <a:bodyPr lIns="0" tIns="0" rIns="0" bIns="0" rtlCol="0" anchor="t">
            <a:spAutoFit/>
          </a:bodyPr>
          <a:lstStyle/>
          <a:p>
            <a:pPr algn="l">
              <a:lnSpc>
                <a:spcPts val="1812"/>
              </a:lnSpc>
            </a:pPr>
            <a:r>
              <a:rPr lang="en-US" sz="1750">
                <a:solidFill>
                  <a:srgbClr val="000000"/>
                </a:solidFill>
                <a:latin typeface="Source Sans 3"/>
                <a:ea typeface="Source Sans 3"/>
                <a:cs typeface="Source Sans 3"/>
                <a:sym typeface="Source Sans 3"/>
              </a:rPr>
              <a:t>Strategic Vision</a:t>
            </a:r>
          </a:p>
        </p:txBody>
      </p:sp>
      <p:sp>
        <p:nvSpPr>
          <p:cNvPr id="64" name="TextBox 64"/>
          <p:cNvSpPr txBox="1"/>
          <p:nvPr/>
        </p:nvSpPr>
        <p:spPr>
          <a:xfrm>
            <a:off x="1059656" y="8769296"/>
            <a:ext cx="16339547" cy="211931"/>
          </a:xfrm>
          <a:prstGeom prst="rect">
            <a:avLst/>
          </a:prstGeom>
        </p:spPr>
        <p:txBody>
          <a:bodyPr lIns="0" tIns="0" rIns="0" bIns="0" rtlCol="0" anchor="t">
            <a:spAutoFit/>
          </a:bodyPr>
          <a:lstStyle/>
          <a:p>
            <a:pPr algn="l">
              <a:lnSpc>
                <a:spcPts val="1812"/>
              </a:lnSpc>
            </a:pPr>
            <a:r>
              <a:rPr lang="en-US" sz="1750">
                <a:solidFill>
                  <a:srgbClr val="000000"/>
                </a:solidFill>
                <a:latin typeface="Source Sans 3"/>
                <a:ea typeface="Source Sans 3"/>
                <a:cs typeface="Source Sans 3"/>
                <a:sym typeface="Source Sans 3"/>
              </a:rPr>
              <a:t>The roadmap positions Fraud Pulse for enterprise adoption while maintaining research flexibility.</a:t>
            </a:r>
          </a:p>
          <a:p>
            <a:pPr algn="l">
              <a:lnSpc>
                <a:spcPts val="1812"/>
              </a:lnSpc>
            </a:pPr>
            <a:r>
              <a:rPr lang="en-US" sz="1750">
                <a:solidFill>
                  <a:srgbClr val="000000"/>
                </a:solidFill>
                <a:latin typeface="Source Sans 3"/>
                <a:ea typeface="Source Sans 3"/>
                <a:cs typeface="Source Sans 3"/>
                <a:sym typeface="Source Sans 3"/>
              </a:rPr>
              <a:t> Future iterations will emphasize production hardening, regulatory certification, and deployment at scale across diverse financial institution environments.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1604</Words>
  <Application>Microsoft Office PowerPoint</Application>
  <PresentationFormat>Custom</PresentationFormat>
  <Paragraphs>201</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Source Serif Pro</vt:lpstr>
      <vt:lpstr>Arial</vt:lpstr>
      <vt:lpstr>Source Serif Pro Bold</vt:lpstr>
      <vt:lpstr>Source Sans 3</vt:lpstr>
      <vt:lpstr>Source Sans 3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Fraud-Pulse-AI-Driven-Fraud-Intelligence-Platform.pptx</dc:title>
  <dc:creator>idris shah</dc:creator>
  <cp:lastModifiedBy>idris shah</cp:lastModifiedBy>
  <cp:revision>2</cp:revision>
  <dcterms:created xsi:type="dcterms:W3CDTF">2006-08-16T00:00:00Z</dcterms:created>
  <dcterms:modified xsi:type="dcterms:W3CDTF">2025-12-20T07:51:27Z</dcterms:modified>
  <dc:identifier>DAG7_CQmCOg</dc:identifier>
</cp:coreProperties>
</file>